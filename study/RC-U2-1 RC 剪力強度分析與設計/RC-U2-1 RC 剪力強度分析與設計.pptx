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image" Target="../media/image-26-13.png"/><Relationship Id="rId14" Type="http://schemas.openxmlformats.org/officeDocument/2006/relationships/image" Target="../media/image-26-14.png"/><Relationship Id="rId15" Type="http://schemas.openxmlformats.org/officeDocument/2006/relationships/image" Target="../media/image-2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png"/><Relationship Id="rId13" Type="http://schemas.openxmlformats.org/officeDocument/2006/relationships/image" Target="../media/image-27-13.png"/><Relationship Id="rId14" Type="http://schemas.openxmlformats.org/officeDocument/2006/relationships/image" Target="../media/image-27-14.png"/><Relationship Id="rId15" Type="http://schemas.openxmlformats.org/officeDocument/2006/relationships/image" Target="../media/image-27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RC－U2－1　觀念講義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RC 剪力強度分析與設計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混凝土沒有「抗剪強度」—— 所謂剪力破壞，是斜向主拉應力把它拉裂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3621024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理解導向｜11 張向量圖解｜4 題微型例題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觀念講義影片系列　｜　RC-U2-1 RC 剪力強度分析與設計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本單元地圖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一個底層邏輯，三大機制，四道關卡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底層邏輯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剪應力 τ 在 45° 方向製造主拉應力 σ₁ = τ。混凝土抗拉只有抗壓的 6%，所以先被拉裂。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這解釋了為什麼 Vc ∝ √f'c、為什麼軸拉這麼傷、為什麼耐震塑鉸區 Vc = 0。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三大傳力機制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桁架類比（B 區，a/d &gt; 2.5）、壓拉桿模式 STM（D 區，a/d ≤ 2）、剪力摩擦（既有滑動面）。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第一件事是認出機制 —— 認錯機制，公式必錯。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一般梁四道關卡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臨界斷面 Vu（d 偏移能不能用）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混凝土 Vc（四張臉擇一）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Vs 與斷面尺寸檢核（2Vc／4Vc）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間距 s 的四取小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兩個邊界主題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深梁與 STM：壓桿 βs、拉桿、節點 βn。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剪力摩擦：Vn = μ Avf fy，鋼筋提供的是夾緊力不是抗剪力。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附帶：扭力何時可忽略。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底層邏輯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混凝土沒有「抗剪強度」這回事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h/svg/d1 剪力破壞的本質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純剪狀態的莫爾圓圓心在原點、半徑 = τ：主拉與主壓等值，方位差 45°。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混凝土怕拉不怕壓 —— 主壓遠達不到 f'c，主拉卻先追上 ft。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ft 的經驗式正比於 √f'c，所以 Vc 才會是 0.53√f'c 而不是 0.53 f'c。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提高混凝土等級對 Vc 的幫助是開根號的，加大斷面往往更有效。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公式群 F1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從剪應力到開裂剪力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梁內剪應力</a:t>
            </a:r>
            <a:endParaRPr lang="en-US" sz="1300" dirty="0"/>
          </a:p>
        </p:txBody>
      </p:sp>
      <p:pic>
        <p:nvPicPr>
          <p:cNvPr id="7" name="Image 0" descr="/home/claude/sh/formula_imgs/f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6609" y="1773936"/>
            <a:ext cx="991501" cy="6949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純剪的主應力</a:t>
            </a:r>
            <a:endParaRPr lang="en-US" sz="1300" dirty="0"/>
          </a:p>
        </p:txBody>
      </p:sp>
      <p:pic>
        <p:nvPicPr>
          <p:cNvPr id="11" name="Image 1" descr="/home/claude/sh/formula_imgs/f1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511" y="2889504"/>
            <a:ext cx="4593698" cy="6949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開裂剪應力（兩種單位制）</a:t>
            </a:r>
            <a:endParaRPr lang="en-US" sz="1300" dirty="0"/>
          </a:p>
        </p:txBody>
      </p:sp>
      <p:pic>
        <p:nvPicPr>
          <p:cNvPr id="15" name="Image 2" descr="/home/claude/sh/formula_imgs/f1_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481" y="4005072"/>
            <a:ext cx="7123757" cy="6949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混凝土剪力強度</a:t>
            </a:r>
            <a:endParaRPr lang="en-US" sz="1300" dirty="0"/>
          </a:p>
        </p:txBody>
      </p:sp>
      <p:pic>
        <p:nvPicPr>
          <p:cNvPr id="19" name="Image 3" descr="/home/claude/sh/formula_imgs/f1_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374" y="5120640"/>
            <a:ext cx="3383971" cy="6949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為什麼是 √ 不是一次方：ft 的經驗式正比於 √f'c。kgf/cm² 制的 0.53 與 psi 制的 2 是同一個係數；√型係數換算乘 1/√14.223 = 0.2653，直接應力型（如 175ρw）換算乘 1/14.223 = 0.0703，兩者不可混用。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解題第一步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認出傳力機制 —— 認錯機制，公式必錯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h/svg/d2 三大傳力機制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a/d &gt; 2.5 用桁架類比 Vn = Vc + Vs；a/d ≤ 2 用 STM；有滑動面用剪力摩擦。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題目出現「深梁、托架、牛腿、接頭」就是 STM 的信號。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題目出現「新舊混凝土、施工縫、既有裂縫面」就是剪力摩擦。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同一根構材可以同時有 B 區與 D 區：端部是 D 區，中段是 B 區。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解題流程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路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從題目到箍筋間距的一條路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先分機制，再走四道關卡；每一關都問「哪一條在控制」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RC-U2-1 RC 剪力強度分析與設計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讀題：a/d？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有沒有滑動面？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2706" y="1481328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1" name="Text 9"/>
          <p:cNvSpPr/>
          <p:nvPr/>
        </p:nvSpPr>
        <p:spPr>
          <a:xfrm>
            <a:off x="3472434" y="1481328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a/d ≤ 2 → STM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62706" y="1933956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13" name="Text 11"/>
          <p:cNvSpPr/>
          <p:nvPr/>
        </p:nvSpPr>
        <p:spPr>
          <a:xfrm>
            <a:off x="3472434" y="1933956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有滑動面 → 剪力摩擦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2492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6350508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1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臨界斷面 Vu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（d 偏移能不能用）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82278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7" name="Text 15"/>
          <p:cNvSpPr/>
          <p:nvPr/>
        </p:nvSpPr>
        <p:spPr>
          <a:xfrm>
            <a:off x="9210294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2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 Vc 的四張臉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82278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9210294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3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Vs = Vu/φ − Vc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22492" y="2779776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21" name="Text 19"/>
          <p:cNvSpPr/>
          <p:nvPr/>
        </p:nvSpPr>
        <p:spPr>
          <a:xfrm>
            <a:off x="6332220" y="2779776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Vs ≤ 2Vc → smax = d/2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22492" y="3232404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6332220" y="3232404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2Vc &lt; Vs ≤ 4Vc → d/4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62706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5" name="Text 23"/>
          <p:cNvSpPr/>
          <p:nvPr/>
        </p:nvSpPr>
        <p:spPr>
          <a:xfrm>
            <a:off x="3490722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Vs &gt; 4Vc？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必須加大斷面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4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間距四取小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106674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106674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966460" y="1675638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966460" y="2128266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8262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384155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082278" y="3200400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082278" y="3200400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222492" y="2974086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222492" y="3426714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3627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80479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02920" y="4032504"/>
            <a:ext cx="2603754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" y="4032504"/>
            <a:ext cx="23477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決定 s 與配箍分區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3380994" y="4032504"/>
            <a:ext cx="8305038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63874" y="4032504"/>
            <a:ext cx="79392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最常漏的一步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算完強度需求的 s 就交卷，忘了 smax 與 Av,min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四取小的四個候選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7" name="Text 45"/>
          <p:cNvSpPr/>
          <p:nvPr/>
        </p:nvSpPr>
        <p:spPr>
          <a:xfrm>
            <a:off x="950976" y="630936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強度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Av fyt d / Vs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41299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9" name="Text 47"/>
          <p:cNvSpPr/>
          <p:nvPr/>
        </p:nvSpPr>
        <p:spPr>
          <a:xfrm>
            <a:off x="3632454" y="630936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smax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d/2 或 d/4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094476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1" name="Text 49"/>
          <p:cNvSpPr/>
          <p:nvPr/>
        </p:nvSpPr>
        <p:spPr>
          <a:xfrm>
            <a:off x="6313932" y="630936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Av,min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反算間距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77595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3" name="Text 51"/>
          <p:cNvSpPr/>
          <p:nvPr/>
        </p:nvSpPr>
        <p:spPr>
          <a:xfrm>
            <a:off x="8995410" y="630936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構造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實務最小配筋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桁架類比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Vc 與 Vs 的物理分工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h/svg/d3 桁架類比與Vc四來源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Vc 是開裂「瞬間」的剪力，來自未裂壓力區、骨材互鎖、銷栓作用、拱作用四項。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Vs 是開裂「之後」箍筋把裂縫縫住的能力。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Vc 是抗拉的故事；Vs 的天花板（4Vc）是抗壓的故事 —— 斜壓桿被壓碎。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耐震塑鉸區四項同時歸零，所以規範直接令 Vc = 0。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公式群 F2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桁架類比的骨架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設計不等式</a:t>
            </a:r>
            <a:endParaRPr lang="en-US" sz="1300" dirty="0"/>
          </a:p>
        </p:txBody>
      </p:sp>
      <p:pic>
        <p:nvPicPr>
          <p:cNvPr id="7" name="Image 0" descr="/home/claude/sh/formula_imgs/f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8993" y="1773936"/>
            <a:ext cx="7146733" cy="6949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Vs 是數出來的</a:t>
            </a:r>
            <a:endParaRPr lang="en-US" sz="1300" dirty="0"/>
          </a:p>
        </p:txBody>
      </p:sp>
      <p:pic>
        <p:nvPicPr>
          <p:cNvPr id="11" name="Image 1" descr="/home/claude/sh/formula_imgs/f2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489" y="2889504"/>
            <a:ext cx="4303743" cy="6949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反算所需 Vs</a:t>
            </a:r>
            <a:endParaRPr lang="en-US" sz="1300" dirty="0"/>
          </a:p>
        </p:txBody>
      </p:sp>
      <p:pic>
        <p:nvPicPr>
          <p:cNvPr id="15" name="Image 2" descr="/home/claude/sh/formula_imgs/f2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539" y="4005072"/>
            <a:ext cx="1589642" cy="6949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斜壓桿壓碎上限</a:t>
            </a:r>
            <a:endParaRPr lang="en-US" sz="1300" dirty="0"/>
          </a:p>
        </p:txBody>
      </p:sp>
      <p:pic>
        <p:nvPicPr>
          <p:cNvPr id="19" name="Image 3" descr="/home/claude/sh/formula_imgs/f2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5061" y="5120640"/>
            <a:ext cx="6834598" cy="6949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Vs ≤ 4Vc 翻成設計語言就是 Vu ≤ 5φVc（斷面尺寸檢核）。φ = 0.75 是剪力的強度折減係數（不是彎矩的 0.90）。Vs 的上限不是為了保守，而是為了把破壞模式鎖在「箍筋先降伏」的延性側。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推導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Vs 與 smax 都是「數箍筋」數出來的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h/svg/d4 Vs的推導與smax由來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45° 斜裂縫的水平投影恰好是 d，所以跨越它的箍筋數 n = d/s。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每支箍筋貢獻 Av·fyt，總和就是 Vs = Av·fyt·d / s。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 s &gt; d，會存在完全沒跨到任何箍筋的裂縫 —— 這就是 smax ≤ d/2 的由來。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Av 是「一組箍筋跨過裂縫的總斷面積」：雙肢箍 D13 ⇒ Av = 2.534 cm²。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臨界斷面：d 偏移不是無條件的優惠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h/svg/d5 臨界斷面d偏移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三個前提同時成立才准用：端區受壓、載重在頂面、d 內無集中載重。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懸吊式支承（梁掛在另一支梁側面）與倒 T 梁底板吊掛，都要取支承面。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本講義例①可用（42.00 → 34.44 t，省 18.0%），例③不可用（只能取 63.00 t）。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差這一步，端部箍筋量可以差 20% 以上。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公式群 F3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Vc 的四張臉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簡化式</a:t>
            </a:r>
            <a:endParaRPr lang="en-US" sz="1300" dirty="0"/>
          </a:p>
        </p:txBody>
      </p:sp>
      <p:pic>
        <p:nvPicPr>
          <p:cNvPr id="7" name="Image 0" descr="/home/claude/sh/formula_imgs/f3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374" y="1773936"/>
            <a:ext cx="3383971" cy="6949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詳細式</a:t>
            </a:r>
            <a:endParaRPr lang="en-US" sz="1300" dirty="0"/>
          </a:p>
        </p:txBody>
      </p:sp>
      <p:pic>
        <p:nvPicPr>
          <p:cNvPr id="11" name="Image 1" descr="/home/claude/sh/formula_imgs/f3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938" y="2889504"/>
            <a:ext cx="4228844" cy="6949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軸壓修正</a:t>
            </a:r>
            <a:endParaRPr lang="en-US" sz="1300" dirty="0"/>
          </a:p>
        </p:txBody>
      </p:sp>
      <p:pic>
        <p:nvPicPr>
          <p:cNvPr id="15" name="Image 2" descr="/home/claude/sh/formula_imgs/f3_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254" y="4005072"/>
            <a:ext cx="4968212" cy="6949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軸拉修正</a:t>
            </a:r>
            <a:endParaRPr lang="en-US" sz="1300" dirty="0"/>
          </a:p>
        </p:txBody>
      </p:sp>
      <p:pic>
        <p:nvPicPr>
          <p:cNvPr id="19" name="Image 3" descr="/home/claude/sh/formula_imgs/f3_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427" y="5120640"/>
            <a:ext cx="5267867" cy="6949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詳細式有兩個限制：Vu·d/Mu ≤ 1.0，且 Vc ≤ 0.93√f'c bw d。軸拉的分母 35Ag 是軸壓 140Ag 的四分之一 ⇒ 同樣大小的軸力，拉的傷害是壓的幫助的 4 倍。第五張臉是耐震塑鉸區的 Vc = 0。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微型例題 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一般梁剪力設計的完整流程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512064"/>
          </a:xfrm>
          <a:prstGeom prst="roundRect">
            <a:avLst>
              <a:gd name="adj" fmla="val 12500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81328"/>
            <a:ext cx="82296" cy="51206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48132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　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簡支梁 35×70（d = 63），f'c = 280、fyt = 4200，淨跨 7.0 m，wu = 12 t/m（含自重），頂面載重，採 D13 雙肢箍（Av = 2.534 cm²）。求端部箍筋間距。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2140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21408"/>
            <a:ext cx="5522976" cy="5486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322576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33856" y="23042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臨界斷面（關卡 1）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" y="2706624"/>
            <a:ext cx="50840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Vu(支承面) = 12 × 7.0 / 2 = 42.00 t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三前提成立 ⇒ 可用 d 偏移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Vu@d = 42.00 − 12 × 0.63 = 34.44 t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設計剪力取 34.44 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0216" y="212140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0216" y="2121408"/>
            <a:ext cx="5522976" cy="5486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83096" y="2322576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6483096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85432" y="23042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混凝土 Vc（關卡 2）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19672" y="2706624"/>
            <a:ext cx="50840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題目未提軸力 ⇒ 用簡化式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Vc = 0.53 × 16.733 × 35 × 63 = 19.56 t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Vu / φ = 34.44 / 0.75 = 45.92 t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Vc = 19.56 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4223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142232"/>
            <a:ext cx="5522976" cy="5486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343400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33856" y="43251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Vs 與區間（關卡 3）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8096" y="4727448"/>
            <a:ext cx="50840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Vs = 45.92 − 19.56 = 26.36 t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2Vc = 39.11 t ⇒ Vs ≤ 2Vc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smax = min(d/2, 60) = min(31.5, 60) = 31.5 cm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Vu = 34.44 ≤ 5φVc = 73.33 t ⇒ 斷面 OK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落在第一區間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0216" y="414223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0216" y="4142232"/>
            <a:ext cx="5522976" cy="5486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7" name="Shape 25"/>
          <p:cNvSpPr/>
          <p:nvPr/>
        </p:nvSpPr>
        <p:spPr>
          <a:xfrm>
            <a:off x="6483096" y="4343400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8" name="Text 26"/>
          <p:cNvSpPr/>
          <p:nvPr/>
        </p:nvSpPr>
        <p:spPr>
          <a:xfrm>
            <a:off x="6483096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85432" y="43251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間距四取小（關卡 4）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19672" y="4727448"/>
            <a:ext cx="50840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強度：2.534×4200×63 / 26 360 = 25.43 cm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smax = 31.50 cm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Av,min 反算：s ≤ 86.88 cm（3.5bw/fyt 控制）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取整、便於施工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強度控制，採 D13@25 cm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6035040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1E8449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" y="603504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　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D13@25 cm（雙肢）。覆核 φVn = 0.75 × (19.56 + 26.82) = 34.78 t ≥ Vu = 34.44 t，使用率 99.0%。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同一個斷面，Vc 可以差 4 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h/svg/d6 Vc的四張臉與軸力修正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簡化式 19.56、詳細式 23.24、軸壓 +60t 22.98、軸拉 −60t 5.87、耐震 0。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軸壓 +60 t 只加 17.5%；軸拉 −60 t 卻砍掉 70.0%。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軸拉到 −85.8 t（= 35Ag）時 Vc 歸零，再拉下去取 0 不取負。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選錯一張臉，箍筋量差好幾倍 —— 這是本單元最容易失分的地方。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公式群 F4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詳細式的細節、單位與耐震特例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含軸力的修正彎矩</a:t>
            </a:r>
            <a:endParaRPr lang="en-US" sz="1300" dirty="0"/>
          </a:p>
        </p:txBody>
      </p:sp>
      <p:pic>
        <p:nvPicPr>
          <p:cNvPr id="7" name="Image 0" descr="/home/claude/sh/formula_imgs/f4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781883"/>
            <a:ext cx="7772400" cy="6790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√ 型係數換算</a:t>
            </a:r>
            <a:endParaRPr lang="en-US" sz="1300" dirty="0"/>
          </a:p>
        </p:txBody>
      </p:sp>
      <p:pic>
        <p:nvPicPr>
          <p:cNvPr id="11" name="Image 1" descr="/home/claude/sh/formula_imgs/f4_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007" y="2889504"/>
            <a:ext cx="6598705" cy="6949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應力型係數換算</a:t>
            </a:r>
            <a:endParaRPr lang="en-US" sz="1300" dirty="0"/>
          </a:p>
        </p:txBody>
      </p:sp>
      <p:pic>
        <p:nvPicPr>
          <p:cNvPr id="15" name="Image 2" descr="/home/claude/sh/formula_imgs/f4_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243" y="4005072"/>
            <a:ext cx="4516233" cy="6949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耐震塑鉸區</a:t>
            </a:r>
            <a:endParaRPr lang="en-US" sz="1300" dirty="0"/>
          </a:p>
        </p:txBody>
      </p:sp>
      <p:pic>
        <p:nvPicPr>
          <p:cNvPr id="19" name="Image 3" descr="/home/claude/sh/formula_imgs/f4_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734" y="5120640"/>
            <a:ext cx="5151252" cy="6949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ρw = As /(bw d) 只算受拉主筋。Mm ≤ 0 代表軸壓造成的等效反向彎矩已蓋過外力彎矩、斷面幾乎全壓，此時直接取上限 0.93√f'c bw d，不要再代入計算。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微型例題 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詳細式與軸力修正：同一個斷面的四個答案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512064"/>
          </a:xfrm>
          <a:prstGeom prst="roundRect">
            <a:avLst>
              <a:gd name="adj" fmla="val 12500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81328"/>
            <a:ext cx="82296" cy="51206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48132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　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沿用例①的斷面（35×70、d = 63、f'c = 280），受拉筋 6-D25（As = 30.40 cm²）。臨界斷面 Vu = 34.44 t、Mu = 24.08 t-m。分別求：詳細式 Vc、軸壓 +60 t、軸拉 −60 t 的 Vc。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2140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21408"/>
            <a:ext cx="5522976" cy="5486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322576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33856" y="23042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先檢核詳細式的前提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" y="2706624"/>
            <a:ext cx="50840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ρw = 30.40 / (35×63) = 0.013787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Vu·d / Mu = 34 440 × 63 / 2 407 860 = 0.9011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0.9011 ≤ 1.0 ✓（超過 1.0 時取 1.0）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可以用詳細式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0216" y="212140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0216" y="2121408"/>
            <a:ext cx="5522976" cy="5486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83096" y="2322576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6483096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85432" y="23042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詳細式 Vc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19672" y="2706624"/>
            <a:ext cx="50840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Vc = (0.50×16.733 + 175×0.013787×0.9011) × 2205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 = (8.367 + 2.174) × 2205 = 23.24 t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上限 0.93√f'c bw d = 34.31 t ✓ 未超過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23.24 t，比簡化式高 18.9%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4223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142232"/>
            <a:ext cx="5522976" cy="5486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343400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33856" y="43251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軸壓 Nu = +60 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8096" y="4727448"/>
            <a:ext cx="50840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 = 35 × 70 = 2450 cm²，140 Ag = 343 000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係數 = 1 + 60 000 / 343 000 = 1.1749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Vc = 19.56 × 1.1749 = 22.98 t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只提高 17.5%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0216" y="414223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0216" y="4142232"/>
            <a:ext cx="5522976" cy="5486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7" name="Shape 25"/>
          <p:cNvSpPr/>
          <p:nvPr/>
        </p:nvSpPr>
        <p:spPr>
          <a:xfrm>
            <a:off x="6483096" y="4343400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8" name="Text 26"/>
          <p:cNvSpPr/>
          <p:nvPr/>
        </p:nvSpPr>
        <p:spPr>
          <a:xfrm>
            <a:off x="6483096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85432" y="43251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軸拉 Nu = −60 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19672" y="4727448"/>
            <a:ext cx="50840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35 Ag = 85 750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係數 = 1 − 60 000 / 85 750 = 0.3003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Vc = 19.56 × 0.3003 = 5.87 t（降 70.0%）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Nu = −85.8 t 時係數為 0 ⇒ Vc = 0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軸拉的殺傷力是軸壓的 4 倍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6035040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1E8449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" y="603504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　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詳細式 23.24 t／軸壓 22.98 t／軸拉 5.87 t。題目沒特別說就用簡化式 19.56 t —— 但看到「詳細計算」「最大 Vc」「有軸力」就要換臉。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用 Vc 當尺量 Vs：smax 與斷面尺寸一起決定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h/svg/d7 Vs三區間與斷面檢核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Vs ≤ 2Vc：smax = min(d/2, 60 cm)。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2Vc &lt; Vs ≤ 4Vc：裂縫變密，smax 砍半成 min(d/4, 30 cm)。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Vs &gt; 4Vc：破壞機制換成斜壓桿壓碎，加箍筋無效，只能加大斷面。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設計版的同一句話：Vu ≤ 5φVc（本斷面 73.33 t）。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公式群 F5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間距 s 的四取小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強度需求</a:t>
            </a:r>
            <a:endParaRPr lang="en-US" sz="1300" dirty="0"/>
          </a:p>
        </p:txBody>
      </p:sp>
      <p:pic>
        <p:nvPicPr>
          <p:cNvPr id="7" name="Image 0" descr="/home/claude/sh/formula_imgs/f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3203" y="1773936"/>
            <a:ext cx="1278314" cy="6949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smax（第一區間）</a:t>
            </a:r>
            <a:endParaRPr lang="en-US" sz="1300" dirty="0"/>
          </a:p>
        </p:txBody>
      </p:sp>
      <p:pic>
        <p:nvPicPr>
          <p:cNvPr id="11" name="Image 1" descr="/home/claude/sh/formula_imgs/f5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820" y="2889504"/>
            <a:ext cx="4757081" cy="6949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smax（第二區間）</a:t>
            </a:r>
            <a:endParaRPr lang="en-US" sz="1300" dirty="0"/>
          </a:p>
        </p:txBody>
      </p:sp>
      <p:pic>
        <p:nvPicPr>
          <p:cNvPr id="15" name="Image 2" descr="/home/claude/sh/formula_imgs/f5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721" y="4005072"/>
            <a:ext cx="5597278" cy="6949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最小箍筋量</a:t>
            </a:r>
            <a:endParaRPr lang="en-US" sz="1300" dirty="0"/>
          </a:p>
        </p:txBody>
      </p:sp>
      <p:pic>
        <p:nvPicPr>
          <p:cNvPr id="19" name="Image 3" descr="/home/claude/sh/formula_imgs/f5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630" y="5120640"/>
            <a:ext cx="4333461" cy="6949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 Vu &gt; 0.5φVc 才需要最小箍筋。Av,min 的兩式取大者：f'c ≤ 306 kgf/cm² 時由 3.5 bw s / fyt 控制。第四個候選是構造與施工（取整、與彎矩筋配合），考試通常只要寫前三個。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把四取小沿著梁長走一遍：分區配箍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h/svg/d8 分區配箍階梯圖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剪力圖是三角形，箍筋需求沿跨度遞減，所以要分區。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三條水平判準線：3φVc（Vs = 2Vc 的界線）、φVc、0.5φVc。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本例分四區：D13@10 → @15 → @30 → 理論可免（實務仍配）。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題目問「箍筋最少要配到哪裡」，答案就是 Vu = 0.5φVc 的位置。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微型例題 ③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吊掛載重不可用 d 偏移 + 分區配箍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512064"/>
          </a:xfrm>
          <a:prstGeom prst="roundRect">
            <a:avLst>
              <a:gd name="adj" fmla="val 12500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81328"/>
            <a:ext cx="82296" cy="51206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48132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　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同一斷面 35×70（d = 63、f'c = 280），淨跨 7.0 m，wu = 18 t/m，但載重由小梁吊掛於腹版下緣（拉力側加載）。求端部間距與分區配置。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2140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21408"/>
            <a:ext cx="5522976" cy="5486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322576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33856" y="23042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臨界斷面（關卡 1）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" y="2706624"/>
            <a:ext cx="50840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載重不在壓力側 ⇒ 不可用 d 偏移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Vu = 18 × 7.0 / 2 = 63.00 t（取支承面）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比可用 d 偏移時多了 11.34 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0216" y="212140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0216" y="2121408"/>
            <a:ext cx="5522976" cy="5486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83096" y="2322576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6483096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85432" y="23042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Vs 與斷面檢核（關卡 3）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19672" y="2706624"/>
            <a:ext cx="50840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Vu / φ = 63.00 / 0.75 = 84.00 t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Vs = 84.00 − 19.56 = 64.44 t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2Vc = 39.11 &lt; 64.44 ≤ 4Vc = 78.22 ⇒ 第二區間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Vu,max = 5φVc = 73.33 t ≥ 63.00 t ✓（85.9%）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smax = min(d/4, 30) = 15.75 cm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4223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142232"/>
            <a:ext cx="5522976" cy="5486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343400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33856" y="43251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端部間距（關卡 4）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8096" y="4727448"/>
            <a:ext cx="50840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強度：2.534×4200×63 / 64 440 = 10.40 cm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smax = 15.75 cm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Av,min 反算：s ≤ 86.88 cm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強度控制，端部採 D13@10 cm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0216" y="414223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0216" y="4142232"/>
            <a:ext cx="5522976" cy="5486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7" name="Shape 25"/>
          <p:cNvSpPr/>
          <p:nvPr/>
        </p:nvSpPr>
        <p:spPr>
          <a:xfrm>
            <a:off x="6483096" y="4343400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8" name="Text 26"/>
          <p:cNvSpPr/>
          <p:nvPr/>
        </p:nvSpPr>
        <p:spPr>
          <a:xfrm>
            <a:off x="6483096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85432" y="43251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分區（把四取小走完全跨）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19672" y="4727448"/>
            <a:ext cx="50840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= 0 ~ 1.06 m：Vu 63.00 → 44.00　D13@10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= 1.06 ~ 2.69 m：Vu → 14.67　D13@15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= 2.69 ~ 3.09 m：僅需最小箍筋　D13@30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&gt; 3.09 m：Vu ≤ 0.5φVc，可免（實務仍配）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三段配箍，另一半對稱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6035040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1E8449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" y="603504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　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端部 D13@10 cm，1.06 m 後 D13@15 cm，2.69 m 後 D13@30 cm。若誤用 d 偏移，Vs 會少算 15 t，端部間距會鬆到 13 cm 而不安全。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邊界主題 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深梁與壓拉桿模式 STM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h/svg/d9 深梁與壓拉桿模式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a/d 越小，壓桿越陡、力臂越短 ⇒ 強度反而越高（拱作用）。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用桁架類比算深梁會低估 2 ~ 4 倍；用 STM 算細長梁會高估且不安全。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STM 只驗三種東西：壓桿（βs）、拉桿（fy）、節點（βn）。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 區＝離集中載重、支承或斷面變化一個構材深度 d 以內的範圍。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公式群 F6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壓拉桿模式 STM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壓桿</a:t>
            </a:r>
            <a:endParaRPr lang="en-US" sz="1300" dirty="0"/>
          </a:p>
        </p:txBody>
      </p:sp>
      <p:pic>
        <p:nvPicPr>
          <p:cNvPr id="7" name="Image 0" descr="/home/claude/sh/formula_imgs/f6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9782" y="1773936"/>
            <a:ext cx="7205155" cy="6949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拉桿</a:t>
            </a:r>
            <a:endParaRPr lang="en-US" sz="1300" dirty="0"/>
          </a:p>
        </p:txBody>
      </p:sp>
      <p:pic>
        <p:nvPicPr>
          <p:cNvPr id="11" name="Image 1" descr="/home/claude/sh/formula_imgs/f6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185" y="2889504"/>
            <a:ext cx="5408351" cy="6949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</a:t>
            </a:r>
            <a:endParaRPr lang="en-US" sz="1300" dirty="0"/>
          </a:p>
        </p:txBody>
      </p:sp>
      <p:pic>
        <p:nvPicPr>
          <p:cNvPr id="15" name="Image 2" descr="/home/claude/sh/formula_imgs/f6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068" y="4005072"/>
            <a:ext cx="7358585" cy="6949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深梁總上限</a:t>
            </a:r>
            <a:endParaRPr lang="en-US" sz="1300" dirty="0"/>
          </a:p>
        </p:txBody>
      </p:sp>
      <p:pic>
        <p:nvPicPr>
          <p:cNvPr id="19" name="Image 3" descr="/home/claude/sh/formula_imgs/f6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5425" y="5120640"/>
            <a:ext cx="5733869" cy="6949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a/d ≤ 2 用 STM、a/d &gt; 2.5 用 Vn = Vc + Vs。βs：1.0 稜柱形／0.75 瓶形含橫向鋼筋／0.60 瓶形無／0.40 拉力構材。βn：1.0 CCC／0.80 CCT／0.60 CTT。φ 一律 0.75。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邊界主題 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剪力摩擦：鋼筋提供的是夾緊力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h/svg/d10 剪力摩擦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粗糙介面滑動必然伴隨張開（dilatancy），把垂直介面的鋼筋拉長至降伏。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降伏的鋼筋產生夾緊力 Avf·fy，再乘摩擦係數 μ 得到 Vn。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μ 不是真實摩擦係數，是規範的等效值：1.4λ／1.0λ／0.6λ／0.7λ。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Avf 是「垂直穿過介面」的鋼筋，不可與梁的箍筋 Av 混用。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公式群 F7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剪力摩擦與扭力的忽略門檻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含永久壓力</a:t>
            </a:r>
            <a:endParaRPr lang="en-US" sz="1300" dirty="0"/>
          </a:p>
        </p:txBody>
      </p:sp>
      <p:pic>
        <p:nvPicPr>
          <p:cNvPr id="7" name="Image 0" descr="/home/claude/sh/formula_imgs/f7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8224" y="1773936"/>
            <a:ext cx="3968272" cy="6949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反算所需鋼筋</a:t>
            </a:r>
            <a:endParaRPr lang="en-US" sz="1300" dirty="0"/>
          </a:p>
        </p:txBody>
      </p:sp>
      <p:pic>
        <p:nvPicPr>
          <p:cNvPr id="11" name="Image 1" descr="/home/claude/sh/formula_imgs/f7_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452" y="2889504"/>
            <a:ext cx="1437815" cy="6949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Vn 的上限</a:t>
            </a:r>
            <a:endParaRPr lang="en-US" sz="1300" dirty="0"/>
          </a:p>
        </p:txBody>
      </p:sp>
      <p:pic>
        <p:nvPicPr>
          <p:cNvPr id="15" name="Image 2" descr="/home/claude/sh/formula_imgs/f7_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031589"/>
            <a:ext cx="7772400" cy="64191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扭力可忽略的門檻</a:t>
            </a:r>
            <a:endParaRPr lang="en-US" sz="1300" dirty="0"/>
          </a:p>
        </p:txBody>
      </p:sp>
      <p:pic>
        <p:nvPicPr>
          <p:cNvPr id="19" name="Image 3" descr="/home/claude/sh/formula_imgs/f7_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6815" y="5120640"/>
            <a:ext cx="4951090" cy="6949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沒有永久壓力時 Pc = 0，即 Vn = μ Avf fy。扭力門檻用「斷面全外緣」面積 Acp 與周長 pcp；只有在實際設計扭力鋼筋時才改用閉合箍中心線圍成的 Aoh 與 Ao。本講義基準斷面的門檻為 0.951 t-m。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微型例題 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剪力摩擦：粗糙化與否差 67% 的鋼筋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512064"/>
          </a:xfrm>
          <a:prstGeom prst="roundRect">
            <a:avLst>
              <a:gd name="adj" fmla="val 12500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81328"/>
            <a:ext cx="82296" cy="51206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48132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　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預鑄梁擱置於柱牛腿，新舊混凝土介面 35 × 60 cm（Ac = 2100 cm²），Vu = 45 t，f'c = 280、fy = 4200、常重混凝土（λ = 1.0）、φ = 0.75。介面已刻意粗糙化至 6 mm 以上。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2140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21408"/>
            <a:ext cx="5522976" cy="5486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322576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33856" y="23042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選 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" y="2706624"/>
            <a:ext cx="50840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置於粗糙化（≥ 6 mm）的硬固混凝土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μ = 1.0 λ = 1.0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（單體澆置 1.4λ／未粗糙 0.6λ／鋼板 0.7λ）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μ = 1.0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0216" y="212140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0216" y="2121408"/>
            <a:ext cx="5522976" cy="5486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83096" y="2322576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6483096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85432" y="23042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反算 Avf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19672" y="2706624"/>
            <a:ext cx="50840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Avf = Vu / (φ μ fy)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 = 45 000 / (0.75 × 1.0 × 4200) = 14.29 cm²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採 5-D19 = 5 × 2.865 = 14.33 cm² ✓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5-D19 垂直穿過介面並充分錨定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4223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142232"/>
            <a:ext cx="5522976" cy="5486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343400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33856" y="43251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上限檢核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8096" y="4727448"/>
            <a:ext cx="50840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0.2 f'c = 56.0；34 + 0.08 f'c = 56.4；112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取最小 ⇒ 56.0 kgf/cm²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φVn,max = 0.75 × 56.0 × 2100 = 88.20 t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88.20 ≥ 45.00 ✓ 使用率 51.0%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上限有餘裕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0216" y="414223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0216" y="4142232"/>
            <a:ext cx="5522976" cy="5486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7" name="Shape 25"/>
          <p:cNvSpPr/>
          <p:nvPr/>
        </p:nvSpPr>
        <p:spPr>
          <a:xfrm>
            <a:off x="6483096" y="4343400"/>
            <a:ext cx="310896" cy="310896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8" name="Text 26"/>
          <p:cNvSpPr/>
          <p:nvPr/>
        </p:nvSpPr>
        <p:spPr>
          <a:xfrm>
            <a:off x="6483096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85432" y="43251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若介面沒有粗糙化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19672" y="4727448"/>
            <a:ext cx="50840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μ = 0.6：Avf = 45 000 / (0.75×0.6×4200)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 = 23.81 cm²，比粗糙面多 66.7%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上限同時下降，設計圖務必註明介面處理</a:t>
            </a:r>
            <a:endParaRPr lang="en-US" sz="1150" dirty="0"/>
          </a:p>
          <a:p>
            <a:pPr indent="0" marL="0">
              <a:lnSpc>
                <a:spcPct val="114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「粗糙化」三個字值 67% 的鋼筋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6035040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1E8449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" y="603504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　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5-D19（14.33 cm² ≥ 14.29 cm²）垂直穿過介面，φVn,max = 88.20 t ≥ 45.00 t。務必在圖上註明介面粗糙度要求。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一張圖記住 RC 剪力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h/svg/d11 全景圖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認機制 → 走四關卡 → 每一步都問「哪一條在控制」。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順序不可換：先定 Vu 的位置，再定 Vc，再判 Vs 區間，最後才是間距。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本講義基準斷面：Vc = 19.56、2Vc = 39.11、4Vc = 78.22、5φVc = 73.33 t。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所有數字由同一份計算腳本覆算，圖、例題與速查頁一致。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考前速查 1／2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剪力破壞、桁架類比、Vc 四張臉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梁內剪應力</a:t>
            </a:r>
            <a:endParaRPr lang="en-US" sz="1050" dirty="0"/>
          </a:p>
        </p:txBody>
      </p:sp>
      <p:pic>
        <p:nvPicPr>
          <p:cNvPr id="7" name="Image 0" descr="/home/claude/sh/formula_imgs/f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4842" y="1938528"/>
            <a:ext cx="560981" cy="3931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純剪主應力</a:t>
            </a:r>
            <a:endParaRPr lang="en-US" sz="1050" dirty="0"/>
          </a:p>
        </p:txBody>
      </p:sp>
      <p:pic>
        <p:nvPicPr>
          <p:cNvPr id="11" name="Image 1" descr="/home/claude/sh/formula_imgs/f1_2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424" y="1938528"/>
            <a:ext cx="1952103" cy="3931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為什麼是 √f'c</a:t>
            </a:r>
            <a:endParaRPr lang="en-US" sz="1050" dirty="0"/>
          </a:p>
        </p:txBody>
      </p:sp>
      <p:pic>
        <p:nvPicPr>
          <p:cNvPr id="15" name="Image 2" descr="/home/claude/sh/formula_imgs/f1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886" y="1938528"/>
            <a:ext cx="2837468" cy="3931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開裂剪應力</a:t>
            </a:r>
            <a:endParaRPr lang="en-US" sz="1050" dirty="0"/>
          </a:p>
        </p:txBody>
      </p:sp>
      <p:pic>
        <p:nvPicPr>
          <p:cNvPr id="19" name="Image 3" descr="/home/claude/sh/formula_imgs/f1_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024" y="2971800"/>
            <a:ext cx="1914615" cy="3931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設計不等式（φ = 0.75）</a:t>
            </a:r>
            <a:endParaRPr lang="en-US" sz="1050" dirty="0"/>
          </a:p>
        </p:txBody>
      </p:sp>
      <p:pic>
        <p:nvPicPr>
          <p:cNvPr id="23" name="Image 4" descr="/home/claude/sh/formula_imgs/f2_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072" y="3002272"/>
            <a:ext cx="3416808" cy="33224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Vs（數箍筋）</a:t>
            </a:r>
            <a:endParaRPr lang="en-US" sz="1050" dirty="0"/>
          </a:p>
        </p:txBody>
      </p:sp>
      <p:pic>
        <p:nvPicPr>
          <p:cNvPr id="27" name="Image 5" descr="/home/claude/sh/formula_imgs/f2_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6114" y="2971800"/>
            <a:ext cx="2435012" cy="39319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反算所需 Vs</a:t>
            </a:r>
            <a:endParaRPr lang="en-US" sz="1050" dirty="0"/>
          </a:p>
        </p:txBody>
      </p:sp>
      <p:pic>
        <p:nvPicPr>
          <p:cNvPr id="31" name="Image 6" descr="/home/claude/sh/formula_imgs/f2_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5631" y="4005072"/>
            <a:ext cx="899403" cy="393192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斜壓桿壓碎上限</a:t>
            </a:r>
            <a:endParaRPr lang="en-US" sz="1050" dirty="0"/>
          </a:p>
        </p:txBody>
      </p:sp>
      <p:pic>
        <p:nvPicPr>
          <p:cNvPr id="35" name="Image 7" descr="/home/claude/sh/formula_imgs/f2_4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4134" y="4005072"/>
            <a:ext cx="1120684" cy="393192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斷面最大 Vu</a:t>
            </a:r>
            <a:endParaRPr lang="en-US" sz="1050" dirty="0"/>
          </a:p>
        </p:txBody>
      </p:sp>
      <p:pic>
        <p:nvPicPr>
          <p:cNvPr id="39" name="Image 8" descr="/home/claude/sh/formula_imgs/f2_5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39020" y="4005072"/>
            <a:ext cx="1749200" cy="393192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457200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457200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566928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Vc 簡化式</a:t>
            </a:r>
            <a:endParaRPr lang="en-US" sz="1050" dirty="0"/>
          </a:p>
        </p:txBody>
      </p:sp>
      <p:pic>
        <p:nvPicPr>
          <p:cNvPr id="43" name="Image 9" descr="/home/claude/sh/formula_imgs/f3_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8024" y="5038344"/>
            <a:ext cx="1914615" cy="39319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4276344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4276344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4386072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Vc 詳細式</a:t>
            </a:r>
            <a:endParaRPr lang="en-US" sz="1050" dirty="0"/>
          </a:p>
        </p:txBody>
      </p:sp>
      <p:pic>
        <p:nvPicPr>
          <p:cNvPr id="47" name="Image 10" descr="/home/claude/sh/formula_imgs/f3_2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9206" y="5038344"/>
            <a:ext cx="2710539" cy="393192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8095488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8095488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8205216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詳細式的限制</a:t>
            </a:r>
            <a:endParaRPr lang="en-US" sz="1050" dirty="0"/>
          </a:p>
        </p:txBody>
      </p:sp>
      <p:pic>
        <p:nvPicPr>
          <p:cNvPr id="51" name="Image 11" descr="/home/claude/sh/formula_imgs/f3_3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61028" y="5038344"/>
            <a:ext cx="2305184" cy="393192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軸壓修正（乘在簡化式）</a:t>
            </a:r>
            <a:endParaRPr lang="en-US" sz="1050" dirty="0"/>
          </a:p>
        </p:txBody>
      </p:sp>
      <p:pic>
        <p:nvPicPr>
          <p:cNvPr id="55" name="Image 12" descr="/home/claude/sh/formula_imgs/f3_4s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69864" y="6071616"/>
            <a:ext cx="1010936" cy="393192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4276344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4276344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4386072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軸拉修正（Nu 取負）</a:t>
            </a:r>
            <a:endParaRPr lang="en-US" sz="1050" dirty="0"/>
          </a:p>
        </p:txBody>
      </p:sp>
      <p:pic>
        <p:nvPicPr>
          <p:cNvPr id="59" name="Image 13" descr="/home/claude/sh/formula_imgs/f3_5s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26433" y="6071616"/>
            <a:ext cx="936086" cy="393192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8095488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8095488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8205216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耐震塑鉸區</a:t>
            </a:r>
            <a:endParaRPr lang="en-US" sz="1050" dirty="0"/>
          </a:p>
        </p:txBody>
      </p:sp>
      <p:pic>
        <p:nvPicPr>
          <p:cNvPr id="63" name="Image 14" descr="/home/claude/sh/formula_imgs/f4_5s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08256" y="6071616"/>
            <a:ext cx="2610728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考前速查 2／2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間距四取小、STM、剪力摩擦、扭力門檻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配筋比</a:t>
            </a:r>
            <a:endParaRPr lang="en-US" sz="1050" dirty="0"/>
          </a:p>
        </p:txBody>
      </p:sp>
      <p:pic>
        <p:nvPicPr>
          <p:cNvPr id="7" name="Image 0" descr="/home/claude/sh/formula_imgs/f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9571" y="1938528"/>
            <a:ext cx="651521" cy="3931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含軸力的修正彎矩</a:t>
            </a:r>
            <a:endParaRPr lang="en-US" sz="1050" dirty="0"/>
          </a:p>
        </p:txBody>
      </p:sp>
      <p:pic>
        <p:nvPicPr>
          <p:cNvPr id="11" name="Image 1" descr="/home/claude/sh/formula_imgs/f4_2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244" y="1938528"/>
            <a:ext cx="1800464" cy="3931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√ 型係數換算</a:t>
            </a:r>
            <a:endParaRPr lang="en-US" sz="1050" dirty="0"/>
          </a:p>
        </p:txBody>
      </p:sp>
      <p:pic>
        <p:nvPicPr>
          <p:cNvPr id="15" name="Image 2" descr="/home/claude/sh/formula_imgs/f4_3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174" y="1938528"/>
            <a:ext cx="1882891" cy="3931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強度需求</a:t>
            </a:r>
            <a:endParaRPr lang="en-US" sz="1050" dirty="0"/>
          </a:p>
        </p:txBody>
      </p:sp>
      <p:pic>
        <p:nvPicPr>
          <p:cNvPr id="19" name="Image 3" descr="/home/claude/sh/formula_imgs/f5_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3704" y="2971800"/>
            <a:ext cx="723257" cy="3931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smax（Vs ≤ 2Vc）</a:t>
            </a:r>
            <a:endParaRPr lang="en-US" sz="1050" dirty="0"/>
          </a:p>
        </p:txBody>
      </p:sp>
      <p:pic>
        <p:nvPicPr>
          <p:cNvPr id="23" name="Image 4" descr="/home/claude/sh/formula_imgs/f5_2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261" y="2971800"/>
            <a:ext cx="2512430" cy="39319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smax（2Vc &lt; Vs ≤ 4Vc）</a:t>
            </a:r>
            <a:endParaRPr lang="en-US" sz="1050" dirty="0"/>
          </a:p>
        </p:txBody>
      </p:sp>
      <p:pic>
        <p:nvPicPr>
          <p:cNvPr id="27" name="Image 5" descr="/home/claude/sh/formula_imgs/f5_3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7405" y="2971800"/>
            <a:ext cx="2512430" cy="39319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最小箍筋量</a:t>
            </a:r>
            <a:endParaRPr lang="en-US" sz="1050" dirty="0"/>
          </a:p>
        </p:txBody>
      </p:sp>
      <p:pic>
        <p:nvPicPr>
          <p:cNvPr id="31" name="Image 6" descr="/home/claude/sh/formula_imgs/f5_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419" y="4005072"/>
            <a:ext cx="2451827" cy="393192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觸發門檻</a:t>
            </a:r>
            <a:endParaRPr lang="en-US" sz="1050" dirty="0"/>
          </a:p>
        </p:txBody>
      </p:sp>
      <p:pic>
        <p:nvPicPr>
          <p:cNvPr id="35" name="Image 7" descr="/home/claude/sh/formula_imgs/f5_5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6279" y="4005072"/>
            <a:ext cx="1536393" cy="393192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STM 壓桿</a:t>
            </a:r>
            <a:endParaRPr lang="en-US" sz="1050" dirty="0"/>
          </a:p>
        </p:txBody>
      </p:sp>
      <p:pic>
        <p:nvPicPr>
          <p:cNvPr id="39" name="Image 8" descr="/home/claude/sh/formula_imgs/f6_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5216" y="4036891"/>
            <a:ext cx="3416808" cy="329554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457200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457200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566928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STM 拉桿</a:t>
            </a:r>
            <a:endParaRPr lang="en-US" sz="1050" dirty="0"/>
          </a:p>
        </p:txBody>
      </p:sp>
      <p:pic>
        <p:nvPicPr>
          <p:cNvPr id="43" name="Image 9" descr="/home/claude/sh/formula_imgs/f6_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338" y="5038344"/>
            <a:ext cx="3059988" cy="39319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4276344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4276344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4386072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STM 節點</a:t>
            </a:r>
            <a:endParaRPr lang="en-US" sz="1050" dirty="0"/>
          </a:p>
        </p:txBody>
      </p:sp>
      <p:pic>
        <p:nvPicPr>
          <p:cNvPr id="47" name="Image 10" descr="/home/claude/sh/formula_imgs/f6_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6072" y="5073598"/>
            <a:ext cx="3416808" cy="322683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8095488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8095488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8205216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深梁上限</a:t>
            </a:r>
            <a:endParaRPr lang="en-US" sz="1050" dirty="0"/>
          </a:p>
        </p:txBody>
      </p:sp>
      <p:pic>
        <p:nvPicPr>
          <p:cNvPr id="51" name="Image 11" descr="/home/claude/sh/formula_imgs/f6_4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1539" y="5038344"/>
            <a:ext cx="3244163" cy="393192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剪力摩擦</a:t>
            </a:r>
            <a:endParaRPr lang="en-US" sz="1050" dirty="0"/>
          </a:p>
        </p:txBody>
      </p:sp>
      <p:pic>
        <p:nvPicPr>
          <p:cNvPr id="55" name="Image 12" descr="/home/claude/sh/formula_imgs/f7_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2729" y="6071616"/>
            <a:ext cx="2245207" cy="393192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4276344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4276344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4386072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反算 Avf</a:t>
            </a:r>
            <a:endParaRPr lang="en-US" sz="1050" dirty="0"/>
          </a:p>
        </p:txBody>
      </p:sp>
      <p:pic>
        <p:nvPicPr>
          <p:cNvPr id="59" name="Image 13" descr="/home/claude/sh/formula_imgs/f7_3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87726" y="6071616"/>
            <a:ext cx="813501" cy="393192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8095488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8095488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8205216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扭力可忽略門檻</a:t>
            </a:r>
            <a:endParaRPr lang="en-US" sz="1050" dirty="0"/>
          </a:p>
        </p:txBody>
      </p:sp>
      <p:pic>
        <p:nvPicPr>
          <p:cNvPr id="63" name="Image 14" descr="/home/claude/sh/formula_imgs/f7_5s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00195" y="6071616"/>
            <a:ext cx="1426850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高頻失分點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考場最常扣分的六個陷阱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單位制換算混用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√型係數（2 → 0.53）乘 1/√14.223 = 0.2653；直接應力型（2500ρw → 175ρw）乘 1/14.223 = 0.0703。兩者不可互換。看到 √f'c 就先確認題目是 kgf/cm²、psi 還是 MPa。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亂用 d 偏移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懸吊式支承、倒 T 梁底板吊掛、d 以內有集中載重 —— 任何一項不成立就要取支承面。三個前提要同時成立才准用，這一步錯，後面全錯。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間距只算強度就交卷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四取小只算了第①項。smax（d/2 或 d/4）與 Av,min 反算的間距都要寫出來再取小，否則會損失過程分，甚至答案偏不安全。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忘了斷面尺寸檢核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Vs &gt; 4Vc（等價於 Vu &gt; 5φVc）時，加再多箍筋都沒用，必須加大斷面。很多人一路算到間距，卻沒發現斷面根本不夠。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⑤ 詳細式的 Mm ≤ 0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代表軸壓造成的等效反向彎矩已蓋過外力彎矩、斷面幾乎全壓。此時直接取上限 0.93√f'c bw d，不可繼續代入計算得到更大的值。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⑥ 扭力用錯面積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判斷扭力能否忽略時用斷面全外緣的 Acp 與 pcp；只有實際設計扭力鋼筋時才改用閉合箍中心線圍成的 Aoh 與 Ao。兩者差一層保護層，結果差很多。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RC 剪力：五句話帶走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79853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798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混凝土沒有「抗剪強度」—— 剪應力在 45° 方向製造主拉應力，是拉裂不是剪斷。所以 Vc ∝ √f'c。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14919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34304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430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14919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先認機制：a/d &gt; 2.5 桁架類比、a/d ≤ 2 用 STM、有滑動面用剪力摩擦。認錯機制，公式必錯。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12387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206240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012387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Vc 有四張臉（簡化／詳細／軸力修正／耐震 0），差距可達 4 倍。軸拉的傷害是軸壓幫助的 4 倍。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875581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06943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0694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875581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Vs 落在哪一段由 Vc 當尺量：2Vc 換 smax、4Vc 換破壞機制（此時只能加大斷面）。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73877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5932627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9326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573877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間距永遠四取小：強度、smax、Av,min、構造。沿著梁長走一遍就得到分區配箍。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RC 剪力強度分析與設計</dc:creator>
  <cp:lastModifiedBy>RC 剪力強度分析與設計</cp:lastModifiedBy>
  <cp:revision>1</cp:revision>
  <dcterms:created xsi:type="dcterms:W3CDTF">2026-09-16T04:11:39Z</dcterms:created>
  <dcterms:modified xsi:type="dcterms:W3CDTF">2026-09-16T04:11:39Z</dcterms:modified>
</cp:coreProperties>
</file>