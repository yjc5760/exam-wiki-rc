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　預力梁斷面應力分析｜觀念講義・拼圖四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從檢核到設計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彈性語言講到開裂為止，之後換成力偶語言；把檢核式的「≤」改成「＝」，就能反解出 e、P 與最大活載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開裂彎矩 M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WSD ↔ LRFD 切換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鋼腱可行區 Cable Zone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A58B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8BE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w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、P 與 SOP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示範梁與拼圖一～三相同：40×80、L = 12 m、e = 25 cm、P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t；鋼腱 12 股 0.5" 鋼絞線、有黏結。圖上數字全部由同一支程式算出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一句話貫通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檢核是「算出來比」，設計是「令等號反解」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483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本拼圖的定位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拼圖一～三都在回答「這根梁合不合格」；拼圖四往兩頭延伸：往上看到開裂與破壞（M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、φM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），往回推出設計量（e、P、w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承接拼圖二 · 示範梁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同一根梁，這次要多問兩個問題：何時裂？何時垮？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示範梁資料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40×80：A = 3,200 cm²、S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42,667 cm³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25 cm → d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65 cm；k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k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13.33 cm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 → 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t（η = 0.80）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13.824、M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45.00 → 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58.824 t-m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280、f′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 kgf/cm²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 × 0.987 = 11.844 cm²；f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18,600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低鬆弛 γ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0.28；有黏結（灌漿）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5087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拼圖二已經給了你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使用階段底纖維 −30.06 ≥ −37.42（④ 控制，使用率 80%）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可行區 22.38 ～ 26.36 cm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384048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397764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拼圖四要回答的三件事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再加多少彎矩，底纖維會裂開？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裂開以後，梁最多還能扛多少？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反過來：e、P、w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最多能給多少？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全局 · 彎矩階梯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把八個彎矩排在同一把尺上，語言切換點一目了然</a:t>
            </a:r>
            <a:endParaRPr lang="en-US" sz="2600" dirty="0"/>
          </a:p>
        </p:txBody>
      </p:sp>
      <p:pic>
        <p:nvPicPr>
          <p:cNvPr id="4" name="Image 0" descr="fig02_ladd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092" y="1280160"/>
            <a:ext cx="10739336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是分水嶺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以下：全斷面有效，用 f = P/A ± Pe/S ± M/S；以上：拉側開裂，改用 C、T 力偶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兩個「安全距離」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使用：M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3.14（離開裂很近）；強度：φM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13.99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① · 開裂彎矩 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把底纖維的預壓一路「抵銷」到破裂模數為止</a:t>
            </a:r>
            <a:endParaRPr lang="en-US" sz="2600" dirty="0"/>
          </a:p>
        </p:txBody>
      </p:sp>
      <p:pic>
        <p:nvPicPr>
          <p:cNvPr id="4" name="Image 0" descr="fig03_mcr4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58" y="1280160"/>
            <a:ext cx="1062260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預力是存款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純預力在底纖維存下 +107.81 的壓應力；外力彎矩每加一點就提領一點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裂開的定義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底纖維拉應力到達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2.0√f′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37.42；對應的總彎矩就是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三條式子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兩條式子就結束，第三條是考場陷阱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預力在底纖維造成的壓應力（用 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，不是 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pic>
        <p:nvPicPr>
          <p:cNvPr id="6" name="Image 0" descr="m_f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73936"/>
            <a:ext cx="6084418" cy="5212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56032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51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破裂模數（用 f′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pic>
        <p:nvPicPr>
          <p:cNvPr id="9" name="Image 1" descr="m_f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081071"/>
            <a:ext cx="3834994" cy="375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2560320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0" y="2651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開裂彎矩（總彎矩）</a:t>
            </a:r>
            <a:endParaRPr lang="en-US" sz="1400" dirty="0"/>
          </a:p>
        </p:txBody>
      </p:sp>
      <p:pic>
        <p:nvPicPr>
          <p:cNvPr id="12" name="Image 2" descr="m_mc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920" y="3129253"/>
            <a:ext cx="5212080" cy="27945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7947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31520" y="3886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陷阱：「尚可再加多少彎矩」→ 扣掉已作用的 M</a:t>
            </a:r>
            <a:pPr indent="0" marL="0">
              <a:buNone/>
            </a:pPr>
            <a:r>
              <a:rPr lang="en-US" sz="14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400" dirty="0"/>
          </a:p>
        </p:txBody>
      </p:sp>
      <p:pic>
        <p:nvPicPr>
          <p:cNvPr id="15" name="Image 3" descr="m_dm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4366260"/>
            <a:ext cx="4155948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600"/>
              </a:spcAft>
              <a:buNone/>
            </a:pPr>
            <a:r>
              <a:rPr lang="en-US" sz="16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是「總」彎矩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(f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f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算出的是從 0 開始的總彎矩，已經把自重算在內。題目問「可承受的外加活載彎矩」時，答案是 48.14 而不是 61.96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的另一種讀法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預力對上核心點的力矩＋混凝土自己的抗拉</a:t>
            </a:r>
            <a:endParaRPr lang="en-US" sz="2600" dirty="0"/>
          </a:p>
        </p:txBody>
      </p:sp>
      <p:pic>
        <p:nvPicPr>
          <p:cNvPr id="4" name="Image 0" descr="fig04_ker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6705" y="1280160"/>
            <a:ext cx="10848109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代入本例（k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= h/6）</a:t>
            </a:r>
            <a:endParaRPr lang="en-US" sz="1400" dirty="0"/>
          </a:p>
        </p:txBody>
      </p:sp>
      <p:pic>
        <p:nvPicPr>
          <p:cNvPr id="8" name="Image 1" descr="m_mcrk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61304"/>
            <a:ext cx="6443777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④ 的上限剛好等於 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使用階段容許拉應力 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2.0√f′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，和 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同一個數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Class U（未開裂）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2.0√f′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37.42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使用載重下「按定義」不開裂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反算 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T,max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M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61.96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Class T（過渡）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2.0√f′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f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3.2√f′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允許微裂，撓度要用有效慣性矩或雙線性法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Class C（開裂）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3.2√f′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要檢核裂縫寬度與鋼筋應力增量，不再用全斷面應力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498848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連起來看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拼圖二的「最大活載」反算 M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61.96，與這裡的 M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完全相同——不是巧合，而是 Class U 的設計哲學：使用載重下不讓它裂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M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58.82，離開裂只剩 3.14 t-m，所以 ④ 的使用率高達 80%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② · 切換語言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使用階段講「應力」，極限階段講「力偶」</a:t>
            </a:r>
            <a:endParaRPr lang="en-US" sz="2600" dirty="0"/>
          </a:p>
        </p:txBody>
      </p:sp>
      <p:pic>
        <p:nvPicPr>
          <p:cNvPr id="4" name="Image 0" descr="fig05_la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WSD：看纖維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全斷面有效、未開裂；比的是每條纖維的應力與容許值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LRFD：看力偶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拉側混凝土開裂不計；只剩壓力塊 C 與鋼腱 T，比的是彎矩強度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切換時公式整組換掉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不要把 P/A、Pe/S 帶進極限強度——那是另一種語言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強度語言的三張圖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 → 應力塊 → 力偶：與 RC 梁同一套，只是鋼筋換成鋼腱</a:t>
            </a:r>
            <a:endParaRPr lang="en-US" sz="2600" dirty="0"/>
          </a:p>
        </p:txBody>
      </p:sp>
      <p:pic>
        <p:nvPicPr>
          <p:cNvPr id="4" name="Image 0" descr="fig06_bloc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11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和 RC 梁的差別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鋼腱沒有明顯降伏點，f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不是固定的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，要用近似式或應變諧合求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別忘了修正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 &gt; 280 → 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0.80，不是 0.85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極限強度逐步代數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a → 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ε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φM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鋼腱比與 β</a:t>
            </a:r>
            <a:pPr indent="0" marL="0">
              <a:buNone/>
            </a:pPr>
            <a:r>
              <a:rPr lang="en-US" sz="14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m_rh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691640"/>
            <a:ext cx="5039983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317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4231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鋼腱極限應力（ACI 近似式；有黏結、f</a:t>
            </a:r>
            <a:pPr indent="0" marL="0">
              <a:buNone/>
            </a:pPr>
            <a:r>
              <a:rPr lang="en-US" sz="14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</a:t>
            </a:r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0.5f</a:t>
            </a:r>
            <a:pPr indent="0" marL="0">
              <a:buNone/>
            </a:pPr>
            <a:r>
              <a:rPr lang="en-US" sz="14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</a:t>
            </a:r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pic>
        <p:nvPicPr>
          <p:cNvPr id="9" name="Image 1" descr="m_fp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745486"/>
            <a:ext cx="6586423" cy="5897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52044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壓力塊深度</a:t>
            </a:r>
            <a:endParaRPr lang="en-US" sz="1400" dirty="0"/>
          </a:p>
        </p:txBody>
      </p:sp>
      <p:pic>
        <p:nvPicPr>
          <p:cNvPr id="12" name="Image 2" descr="m_a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931920"/>
            <a:ext cx="4233885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26480" y="352044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936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標稱強度</a:t>
            </a:r>
            <a:endParaRPr lang="en-US" sz="1400" dirty="0"/>
          </a:p>
        </p:txBody>
      </p:sp>
      <p:pic>
        <p:nvPicPr>
          <p:cNvPr id="15" name="Image 3" descr="m_m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967124"/>
            <a:ext cx="4874666" cy="38679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31520" y="46634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淨拉應變定 φ</a:t>
            </a:r>
            <a:endParaRPr lang="en-US" sz="1400" dirty="0"/>
          </a:p>
        </p:txBody>
      </p:sp>
      <p:pic>
        <p:nvPicPr>
          <p:cNvPr id="18" name="Image 4" descr="m_et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4983480"/>
            <a:ext cx="4834302" cy="365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31520" y="56235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雙重強度檢核</a:t>
            </a:r>
            <a:endParaRPr lang="en-US" sz="1400" dirty="0"/>
          </a:p>
        </p:txBody>
      </p:sp>
      <p:pic>
        <p:nvPicPr>
          <p:cNvPr id="21" name="Image 5" descr="m_pm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520" y="5981090"/>
            <a:ext cx="7587691" cy="29077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鋼腱的兩個身分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使用時用一半強度，極限時被拉到接近 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</a:t>
            </a:r>
            <a:endParaRPr lang="en-US" sz="2600" dirty="0"/>
          </a:p>
        </p:txBody>
      </p:sp>
      <p:pic>
        <p:nvPicPr>
          <p:cNvPr id="4" name="Image 0" descr="fig07_stran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11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從 120 t 漲到 201.63 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不是預力變大，而是梁彎到裂開後，鋼腱被迫跟著伸長 →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17,024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只是起點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近似式裡根本沒有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——只要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0.5f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就能用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觀念盲點 · 有黏結 vs 無黏結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P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無關」只對有黏結鋼腱成立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有黏結（灌漿）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無黏結（油脂＋套管）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應變諧合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鋼腱與混凝土同應變，裂縫處局部伸長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整根滑動，伸長量平均到全長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ps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公式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[1 − (γ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)ρ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]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+ 700 + 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/(100ρ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與 P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關係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幾乎無關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直接含 f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pe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 f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ps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17,024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11,600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 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113.98 t-m → φM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102.58 OK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81.37 t-m → φM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73.24 &lt; 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NG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754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無黏結（L/d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35，單位 kgf/cm²）</a:t>
            </a:r>
            <a:endParaRPr lang="en-US" sz="1400" dirty="0"/>
          </a:p>
        </p:txBody>
      </p:sp>
      <p:pic>
        <p:nvPicPr>
          <p:cNvPr id="7" name="Image 0" descr="m_ub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074920"/>
            <a:ext cx="4605032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6692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同一根梁，換成無黏結 M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少了約 29%：讀題先看「灌漿／無灌漿」再選公式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預力決定什麼、不決定什麼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管「何時開裂、變形多少」，不管「極限承載力」</a:t>
            </a:r>
            <a:endParaRPr lang="en-US" sz="2600" dirty="0"/>
          </a:p>
        </p:txBody>
      </p:sp>
      <p:pic>
        <p:nvPicPr>
          <p:cNvPr id="4" name="Image 0" descr="fig08_knob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197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從 120 降到 100 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：61.96 → 54.30；φM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：102.58 不變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太大也有事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 181.4 t，1.2M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φM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不滿足最小強度要求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 φM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1.2M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防止「一開裂就斷」的脆性破壞</a:t>
            </a:r>
            <a:endParaRPr lang="en-US" sz="2600" dirty="0"/>
          </a:p>
        </p:txBody>
      </p:sp>
      <p:pic>
        <p:nvPicPr>
          <p:cNvPr id="4" name="Image 0" descr="fig09_ducti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197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物理機制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開裂瞬間，原本由混凝土承擔的拉力要瞬間轉給鋼腱；鋼腱太少就接不住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NG 的處理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加非預力鋼筋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提高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；或檢討是否預力過大（M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太高）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③ · 反算設計的本質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四個檢核式不變，只是換一個當未知數</a:t>
            </a:r>
            <a:endParaRPr lang="en-US" sz="2600" dirty="0"/>
          </a:p>
        </p:txBody>
      </p:sp>
      <p:pic>
        <p:nvPicPr>
          <p:cNvPr id="4" name="Image 0" descr="fig10_matrix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835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5463540" cy="777240"/>
          </a:xfrm>
          <a:prstGeom prst="roundRect">
            <a:avLst>
              <a:gd name="adj" fmla="val 14118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742432"/>
            <a:ext cx="51435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「≤ 容許」改成「＝ 容許」→ 解出來的就是設計量的上限或下限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669280"/>
            <a:ext cx="5463540" cy="777240"/>
          </a:xfrm>
          <a:prstGeom prst="roundRect">
            <a:avLst>
              <a:gd name="adj" fmla="val 14118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742432"/>
            <a:ext cx="51435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先找控制式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拉應力 ①④ 通常控制；壓應力 ②③ 只在高預力或大偏心時才出線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e：四條等式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傳遞兩式用 P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；使用兩式用 P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傳遞・頂拉：−f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− 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e/S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M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（上限，控制）</a:t>
            </a:r>
            <a:endParaRPr lang="en-US" sz="1400" dirty="0"/>
          </a:p>
        </p:txBody>
      </p:sp>
      <p:pic>
        <p:nvPicPr>
          <p:cNvPr id="6" name="Image 0" descr="m_e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02613"/>
            <a:ext cx="6331306" cy="5266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4231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514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傳遞・底壓：P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+ P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e/S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M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f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（上限）</a:t>
            </a:r>
            <a:endParaRPr lang="en-US" sz="1400" dirty="0"/>
          </a:p>
        </p:txBody>
      </p:sp>
      <p:pic>
        <p:nvPicPr>
          <p:cNvPr id="9" name="Image 1" descr="m_e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845613"/>
            <a:ext cx="6188659" cy="5266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5661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657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使用・頂壓：P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− P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e/S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M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f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（下限）</a:t>
            </a:r>
            <a:endParaRPr lang="en-US" sz="1400" dirty="0"/>
          </a:p>
        </p:txBody>
      </p:sp>
      <p:pic>
        <p:nvPicPr>
          <p:cNvPr id="12" name="Image 2" descr="m_e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988613"/>
            <a:ext cx="6506870" cy="52669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31520" y="4800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使用・底拉：P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+ 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e/S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− 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−f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（下限，控制）</a:t>
            </a:r>
            <a:endParaRPr lang="en-US" sz="1400" dirty="0"/>
          </a:p>
        </p:txBody>
      </p:sp>
      <p:pic>
        <p:nvPicPr>
          <p:cNvPr id="15" name="Image 3" descr="m_e4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5131613"/>
            <a:ext cx="6504127" cy="52669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交集：22.38 ≤ e ≤ 26.36 cm，採用 e = 25 OK；兩個「≤」取小、兩個「≥」取大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鋼腱可行區 Cable Zone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x 當變數，e 的上下限變成兩條曲線</a:t>
            </a:r>
            <a:endParaRPr lang="en-US" sz="2600" dirty="0"/>
          </a:p>
        </p:txBody>
      </p:sp>
      <p:pic>
        <p:nvPicPr>
          <p:cNvPr id="4" name="Image 0" descr="fig11_zo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835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5463540" cy="777240"/>
          </a:xfrm>
          <a:prstGeom prst="roundRect">
            <a:avLst>
              <a:gd name="adj" fmla="val 14118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742432"/>
            <a:ext cx="51435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上限來自傳遞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(x) 隨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(x) 變：跨中有自重幫忙壓住上拱，可以放得深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669280"/>
            <a:ext cx="5463540" cy="777240"/>
          </a:xfrm>
          <a:prstGeom prst="roundRect">
            <a:avLst>
              <a:gd name="adj" fmla="val 14118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742432"/>
            <a:ext cx="51435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下限來自使用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(x) 隨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(x) 變：梁端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0，下限為負（可以在形心以上）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為什麼鋼腱要「彎起來」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直線鋼腱在跨中合格，在梁端出界</a:t>
            </a:r>
            <a:endParaRPr lang="en-US" sz="2600" dirty="0"/>
          </a:p>
        </p:txBody>
      </p:sp>
      <p:pic>
        <p:nvPicPr>
          <p:cNvPr id="4" name="Image 0" descr="fig12_end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11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出界範圍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 e = 25 在離梁端約 3.7 m 內超過 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：傳遞時頂纖維拉裂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考場判斷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題目若給直線鋼腱，除了跨中還要檢核梁端（M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0）這個斷面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反算最大活載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底纖維的應力預算：存款扣自重，剩下全給活載</a:t>
            </a:r>
            <a:endParaRPr lang="en-US" sz="2600" dirty="0"/>
          </a:p>
        </p:txBody>
      </p:sp>
      <p:pic>
        <p:nvPicPr>
          <p:cNvPr id="4" name="Image 0" descr="fig14_budge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0352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等式解 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1400" dirty="0"/>
          </a:p>
        </p:txBody>
      </p:sp>
      <p:pic>
        <p:nvPicPr>
          <p:cNvPr id="8" name="Image 1" descr="m_mtma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04734"/>
            <a:ext cx="5120640" cy="4148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0352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394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扣自重、換成均布載重</a:t>
            </a:r>
            <a:endParaRPr lang="en-US" sz="1400" dirty="0"/>
          </a:p>
        </p:txBody>
      </p:sp>
      <p:pic>
        <p:nvPicPr>
          <p:cNvPr id="11" name="Image 2" descr="m_w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759666"/>
            <a:ext cx="5120640" cy="5050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反算預力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也可以當未知數：④ 給下限、① 給上限</a:t>
            </a:r>
            <a:endParaRPr lang="en-US" sz="2600" dirty="0"/>
          </a:p>
        </p:txBody>
      </p:sp>
      <p:pic>
        <p:nvPicPr>
          <p:cNvPr id="4" name="Image 0" descr="fig15_pwi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120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底拉 → 最小有效預力</a:t>
            </a:r>
            <a:endParaRPr lang="en-US" sz="1400" dirty="0"/>
          </a:p>
        </p:txBody>
      </p:sp>
      <p:pic>
        <p:nvPicPr>
          <p:cNvPr id="8" name="Image 1" descr="m_pemi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564124"/>
            <a:ext cx="5063947" cy="5760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0292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120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頂拉 → 最大初始預力</a:t>
            </a:r>
            <a:endParaRPr lang="en-US" sz="1400" dirty="0"/>
          </a:p>
        </p:txBody>
      </p:sp>
      <p:pic>
        <p:nvPicPr>
          <p:cNvPr id="11" name="Image 2" descr="m_pimax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564124"/>
            <a:ext cx="5039258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進階 · Magnel 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與 P 同時未知時：縱軸取 1/P，四條不等式都變直線</a:t>
            </a:r>
            <a:endParaRPr lang="en-US" sz="2600" dirty="0"/>
          </a:p>
        </p:txBody>
      </p:sp>
      <p:pic>
        <p:nvPicPr>
          <p:cNvPr id="4" name="Image 0" descr="fig13_magne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畫出四條線 → 找綠色區 → 選最高點（最小 P）或在可用 e 下找最小 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本例解讀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偏心極限約 28.5 cm（再大，① ④ 無交集）；e = 25 時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可在 139.8～167.4 t 之間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 SOP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四步驟：兩步檢核、兩步反算</a:t>
            </a:r>
            <a:endParaRPr lang="en-US" sz="2600" dirty="0"/>
          </a:p>
        </p:txBody>
      </p:sp>
      <p:pic>
        <p:nvPicPr>
          <p:cNvPr id="4" name="Image 0" descr="fig16_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先確認 f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f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用哪個強度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都用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；傳遞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 f′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77840"/>
            <a:ext cx="54635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50992"/>
            <a:ext cx="51435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答案要回到題目問的量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「可再加的活載」要扣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；「w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」要從 M 換回 t/m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六個讓拼圖四失分的地方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用了 P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開裂發生在使用階段，要用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；誤用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得 73.46，高估 11.50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忘了扣 M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「尚可加多少」答 61.96 是錯的，應為 48.14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 f′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2.0√280 = 33.47；M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變 60.28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一律 0.85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350 時 β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0.80；影響 f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直接取 0.9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ε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（本例 0.00621 ≥ 0.005）才能取 0.90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上下限串料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上限（傳遞）用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；下限（使用）用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，不能混用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本例全部數字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一張表對完帳：檢核兩列、設計兩列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56616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公式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判定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開裂 M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107.81、f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37.42 → 61.96 t-m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再加 48.14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極限 f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[1 − (γ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)ρ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]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ρ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0.00456 → 17,024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0.545 ≥ 0.5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極限 φM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(d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− a/2)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16.94、ε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0.0062 → 102.58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≥ 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88.59、1.2M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74.36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可行區 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上限、④ 下限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22.38 ≤ e ≤ 26.36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 = 25 OK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梁端 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-26.64 ≤ e ≤ 17.14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直線 25 NG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最大活載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8(M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T,max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− 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)/L²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T,max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61.96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L,max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2.674 t/m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預力範圍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 下限、① 上限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139.76 ≤ 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167.45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e,min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111.81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97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容許值：f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0.8√f′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13.39（端部 26.77）、f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168、f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f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37.42、f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210 kgf/cm²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重點回顧：從檢核到設計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= 61.96：預壓存款 107.81 被提領到 −f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；問「再加多少」要扣 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過了 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換語言：WSD 看纖維應力，LRFD 看 C–T 力偶；公式整組換掉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102.58 ≥ 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88.59 且 ≥ 1.2M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74.36；有黏結時 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幾乎與 P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無關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≤ 改成 ＝：傳遞頂拉壓住 e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、使用底拉撐起 e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；梁端最緊 → 鋼腱要彎起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同一組式子可反解 w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L,max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2.674 t/m、P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e,min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111.81 t；e、P 同時未知用 Magnel 圖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四塊拼圖到此完成：三項應力 → 兩階段四控制點 → 斷面與施工時序 → 從檢核到設計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RC-U4-1 拼圖四：從檢核到設計</dc:title>
  <dc:subject>PptxGenJS Presentation</dc:subject>
  <dc:creator>PptxGenJS</dc:creator>
  <cp:lastModifiedBy>PptxGenJS</cp:lastModifiedBy>
  <cp:revision>1</cp:revision>
  <dcterms:created xsi:type="dcterms:W3CDTF">2026-09-27T10:27:31Z</dcterms:created>
  <dcterms:modified xsi:type="dcterms:W3CDTF">2026-09-27T10:27:31Z</dcterms:modified>
</cp:coreProperties>
</file>