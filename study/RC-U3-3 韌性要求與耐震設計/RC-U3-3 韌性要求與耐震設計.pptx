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　鋼筋混凝土學｜觀念講義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RC-U3-3　韌性要求與耐震設計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不用硬記幾十條規範公式 —— 抓住「能力設計法」這一條底層邏輯，五大題型的數字自然知道怎麼代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304288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能力設計法 × 五大題型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RC-U3-3 韌性要求與耐震設計｜觀念講義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本單元的四條主線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能力設計法的讓分邏輯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耐震設計回答的不是「撐不撐得住」，而是「壞的時候用什麼方式壞」。所有奇怪的係數都在調整上限與下限，好讓延性破壞先到。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耐震梁：塑鉸區剪力與密箍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剪力不看載重組合，而是問兩端塑鉸發揮到 Mpr 時的靜力平衡剪力；塑鉸區 Vc=0，密箍區長度 2h。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耐震柱：圍束、強柱弱梁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圍束箍筋補回保護層剝落的損失並拉高極限應變；柱的彎矩強度必須比梁大 6/5 倍，才不會形成層崩塌。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梁柱接頭與韌性量化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接頭上 T 與 C 方向相同要相加；最後用 μφ、μθ、μ 把「這個機構到底有多少韌性」算成數字。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地震來了，結構有兩條路可以走 —— 我們要選哪一條？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vg/d1 破壞機構兩條路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延性機構：塑鉸出現在每一層的梁端，變形分散到全棟，反覆進出塑性可以吸掉大量能量，倒塌前有明顯裂縫與變形當預警。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脆性機構：塑鉸集中在同一層的柱端，或直接發生剪力／接頭破壞，該層瞬間失去承載力，整棟落下 —— 沒有預警。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能力設計法就是一場「你可以作弊的賽跑」：把想要它壞的地方（梁彎矩）估到最強，把不准它壞的地方（剪力、柱、接頭）設計得更強。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所以整個單元的每一條公式，都只是在回答「這一關夠不夠強，會不會搶在梁端塑鉸之前先壞」。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記法：延性＝分散、耗能、有預警；脆性＝集中、不耗能、無預警。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能力設計法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讓分法則：公式忘記時的自救原則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延性側：可能彎矩強度 Mpr（估上限）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8554" y="1847088"/>
            <a:ext cx="730761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 的壓力塊深度（鋼筋用 1.25fy）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850" y="3334512"/>
            <a:ext cx="696102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脆性側：折減係數更嚴格（估下限）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98034"/>
            <a:ext cx="7772400" cy="5682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延性側用 1.25fy 與 φ=1.0 估「最多能送出多少力」；脆性側用 Vc=0 與更小的 φ 估「最少能擋多少力」。兩邊各自往保守方向放，延性破壞才必定先到。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同一根梁的三個彎矩：φMn、Mn、Mpr 差在哪裡？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svg/d2 能力設計法讓分法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同一根梁（40×70、頂筋 5-D25）：φMn = 54.98、Mn = 61.09、Mpr = 74.5 t-m。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 / φMn = 1.355 —— 設計脆性側時，必須拿放大 36% 後的值去算，不是拿設計用的 φMn。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1.25 的來源是材料超強與應變硬化：實際鋼筋降伏強度常高於標稱值，且進入塑性後應力還會再上升。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1.0 是因為這裡不是在「檢核強度夠不夠」，而是在「估算最多能送出多少力」—— 折減反而不保守。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圖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解題決策地圖：動筆前先做兩個判斷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「這是哪種構件？」與「問的是計算設計，還是韌性量化？」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RC-U3-3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問的是什麼？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韌性量化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(μφ, μθ, μ)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計算設計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(構件強度)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先算所有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Mpr（1.25fy）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哪種構件？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1" name="Text 19"/>
          <p:cNvSpPr/>
          <p:nvPr/>
        </p:nvSpPr>
        <p:spPr>
          <a:xfrm>
            <a:off x="9763963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梁：Ve 反推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Vc=0 → 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54235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9763963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柱：強柱弱梁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Ash → so/lo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Vjh = T+C−Vcol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Aj = bj·hc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看幾面有梁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檢核 φVn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54235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延性機構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成立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韌性量化分支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雙線性 M-φ 內插求 φy、φu → 算 Lp → θp = (φu−φy)Lp → δu = δy + θp(L−Lp/2) → μ = δu/δy。雙曲率柱的懸臂長度取 L = lu/2。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三個一定要先確認的判斷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能不能歸零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梁幾乎必然成立；柱有軸力要實算門檻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分母用淨跨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塑鉸在柱面，務必用 ln 不是柱中心距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的單位制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kgf/cm² 是 5.3/3.9/3.2，不是 1.7/1.2/1.0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耐震梁的設計剪力 Ve 是怎麼來的？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vg/d3 塑鉸區設計剪力來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不是從載重組合的剪力圖讀出來的，而是問「兩端塑鉸同時發揮到 Mpr 時，梁內的靜力平衡剪力有多大」。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地震項 = (Mpr⁻ + Mpr⁺)/ln = 20.24 t，是全跨定值；重力項 = wu·ln/2 = 13.5 t，沿跨度線性變化。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控制端是「重力項與地震項同號」的那一端：Ve = 20.24 + 13.5 = 33.74 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地震項占比 60% &gt; 50%，且軸力 Nu = 0 &lt; Ag·f'c/20 = 39.2 t → Vc = 0，箍筋要扛全部剪力。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分母務必代淨跨 ln（柱面到柱面），不是柱中心距 —— 塑鉸發生在柱面。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耐震梁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塑鉸區剪力設計的五條公式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設計剪力（能力設計）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616" y="1847088"/>
            <a:ext cx="2803488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何時可令 Vc = 0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85" y="2739542"/>
            <a:ext cx="3894551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箍筋需求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018" y="3631997"/>
            <a:ext cx="2088684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密箍區間距上限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703" y="4524451"/>
            <a:ext cx="2597314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密箍區範圍與構造</a:t>
            </a:r>
            <a:endParaRPr lang="en-US" sz="1300" dirty="0"/>
          </a:p>
        </p:txBody>
      </p:sp>
      <p:pic>
        <p:nvPicPr>
          <p:cNvPr id="23" name="Image 4" descr="formula_imgs/f2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7595" y="5416906"/>
            <a:ext cx="3369530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Vc=0 的條件在耐震梁幾乎必然成立（無軸力、地震主導）；但在柱上不可直接照抄，必須實際比較 Nu 與 Ag·f'c/20。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耐震梁塑鉸區剪力設計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127248" cy="4114800"/>
          </a:xfrm>
          <a:prstGeom prst="roundRect">
            <a:avLst>
              <a:gd name="adj" fmla="val 2632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題目條件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9696"/>
            <a:ext cx="27432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 40×70 cm，d = 63 cm，淨跨 ln = 600 cm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頂筋 5-D25（As = 25.34 cm²）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底筋 3-D25（As = 15.20 cm²）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f'c = 280、fy = fyt = 4200 kgf/cm²（SD420）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wu = 4.5 t/m（1.2D + 1.0L）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箍筋採 D13 雙肢（Av = 2.53 cm²）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求：塑鉸區的箍筋間距 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58768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858768" y="1572768"/>
            <a:ext cx="3790188" cy="502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兩端的 Mpr（鋼筋代 1.25fy，φ=1.0）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41648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a⁻ = 25.34×5250 / (0.85×280×40) = 13.97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Mpr⁻ = 133009 × (63 − 13.97/2) = 74.5 t-m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a⁺ = 8.38 cm　Mpr⁺ = 46.93 t-m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ΣMpr = 121.44 t-m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850124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0124" y="1572768"/>
            <a:ext cx="3790188" cy="502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004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設計剪力 Ve（控制端）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33004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地震項 = 121.44/6.0 = 20.24 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重力項 = 4.5×6.0/2 = 13.5 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 = 20.24 + 13.5 = 33.74 t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3858768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8768" y="3730752"/>
            <a:ext cx="3790188" cy="502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判定 Vc = 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41648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地震項占比 = 20.24/33.74 = 60% &gt; 50%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Nu = 0 &lt; Ag·f'c/20 = 39.2 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Vc = 0，Vs = Ve/0.75 = 44.99 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（上限檢核：Vs ≤ 2.12√f'c·bw·d = 89.4 t，OK）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850124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0124" y="3730752"/>
            <a:ext cx="379018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033004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決定間距 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33004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強度：s = 2.53×4200×63 / 44990 = 14.9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構造：min(d/4=15.75, 6db=15.24, 15) = 15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控制值 = 14.9 cm　→　採用 s = 12.5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密箍區自柱面起 2h = 140 cm，第一支 ≤ 5 cm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8338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答：D13 雙肢箍，塑鉸區 s = 12.5 cm（自柱面起 140 cm 內），第一支距柱面 ≤ 5 cm；密箍區外 s ≤ d/2 = 31.5 cm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採用 s = 12.5 cm 時提供 Vs = 53.64 t，φVs = 40.23 t ≥ Ve = 33.74 t。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構造規定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密箍區怎麼配：範圍 2h、第一支 5 cm、間距四取小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svg/d4 梁密箍區配置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密箍區長度是 2h（梁全高的兩倍），不是 2d —— 這是本單元最常錯的一條。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第一支箍筋距柱面 ≤ 5 cm：塑鉸最外側的裂縫就發生在柱面，那裡不能沒有箍筋。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箍筋必須是閉合箍配 135° 耐震彎鉤。90° 彎鉤在保護層剝落後會直接彈開，圍束完全失效。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密箍區外間距放寬到 s ≤ d/2，但不能沒有箍筋 —— 梁全長都要有橫向鋼筋。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柱為什麼要圍束？兩條 Ash 公式各自在補什麼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vg/d5 柱圍束的力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大變形下保護層一定會剝落，斷面瞬間損失 (Ag − Ach)·0.85f'c 的承載力 —— 式① 就是把這一塊補回來。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箍筋受拉會對核心產生側向圍壓 f2，核心因此進入三軸受壓：強度提高（f'cc &gt; f'c），極限應變從 0.003 拉到 0.012 以上。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式② 與剝落無關，是「不管柱多大都要有」的延性底線；大斷面柱（Ag/Ach 接近 1）由這式控制。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箍筋間距越密、肢數越多，拱效應（有效圍束區之外的死角）越小，圍束效率越高。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圍束的真正價值不在提高強度，而在把 εcu 拉大 —— 曲率韌性 μφ 因此翻數倍（見後面的例題⑤）。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耐震柱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圍束箍筋 Ash 與密箍區構造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式①：補回保護層剝落損失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0347" y="1847088"/>
            <a:ext cx="3284025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式②：延性底線（與剝落無關）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696" y="2739542"/>
            <a:ext cx="2179327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縱筋支撐間距決定的間距上限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973" y="3631997"/>
            <a:ext cx="3020775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密箍區間距（三者取小）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915" y="4524451"/>
            <a:ext cx="2184889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密箍區長度（自接頭面起算）</a:t>
            </a:r>
            <a:endParaRPr lang="en-US" sz="1300" dirty="0"/>
          </a:p>
        </p:txBody>
      </p:sp>
      <p:pic>
        <p:nvPicPr>
          <p:cNvPr id="23" name="Image 4" descr="formula_imgs/f3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2666" y="5416906"/>
            <a:ext cx="2779389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兩式取大。速算法：Ag/Ach &gt; 1.30 時一定是式①控制，可以少算一式。bc 與 Ach 都量到橫向鋼筋外緣。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柱圍束箍筋 Ash 與密箍區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127248" cy="4114800"/>
          </a:xfrm>
          <a:prstGeom prst="roundRect">
            <a:avLst>
              <a:gd name="adj" fmla="val 2632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題目條件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9696"/>
            <a:ext cx="27432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 60×60 cm，淨高 ln = 280 cm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保護層 4 cm（至箍筋外緣）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縱筋 8-D25（每邊 3 根，ρg = 1.13%）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橫向鋼筋 D13（單肢 1.267 cm²）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f'c = 280、fyt = 4200 kgf/cm²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求：一個方向的 Ash、間距 s 與密箍區長度 lo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58768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858768" y="1572768"/>
            <a:ext cx="3790188" cy="5029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斷面幾何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41648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 = 60×60 = 3600 cm²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核心尺寸 = 60 − 2×4 = 52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Ach = 52² = 2704 cm²　bc = 52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Ag/Ach = 1.331（&gt; 1.30 → 式①必控制）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850124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0124" y="1572768"/>
            <a:ext cx="379018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004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先定間距上限（取 s = 10 cm）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33004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hx = 52/2 = 26 cm（≤ 35 cm，合格）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 = 10 + (35 − 26)/3 = 13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≤ min(60/4=15, 6db=15.24, so=13) = 13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 s = 10 cm 代入 Ash 公式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3858768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8768" y="3730752"/>
            <a:ext cx="3790188" cy="502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Ash 兩式取大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41648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式①＝0.3×10×52×(280/4200)×(1.331−1)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＝3.446 cm²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式②＝0.09×10×52×(280/4200) = 3.12 cm²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= max = 3.446 cm²（式①控制）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850124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0124" y="3730752"/>
            <a:ext cx="3790188" cy="502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8033004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選配與密箍區長度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33004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肢 D13：Ash = 4×1.267 = 5.068 cm²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5.068 ≥ 3.446 → OK（使用率 68%）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 ≥ max(60, 46.7, 45) = 60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密箍區外：s ≤ min(6db, 15 cm)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8338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答：s = 10 cm，每個方向配 4 肢 D13（Ash = 5.068 cm² ≥ 3.446 cm²），密箍區自接頭面起 lo = 60 cm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是「單一方向、單一間距內」的橫向鋼筋總面積，兩個方向要分別檢核。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速算法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Ag/Ach = 1.30 這個分水嶺是怎麼來的？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svg/d6 圍束門檻與配箍構造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把兩式相等解出來：0.3(Ag/Ach − 1) = 0.09 → Ag/Ach = 1.30。比值大於 1.30 時式①必定控制。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比值越大代表保護層佔比越高 —— 小斷面柱、厚保護層的柱，剝落損失佔比大，式①理所當然控制。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Ag/Ach = 1.331，落在式①側，考場上可以直接只算式①。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hx 是「受繫筋或轉角箍支撐的縱筋水平間距」，本例 26 cm；hx 越大，so 越小，箍筋要越密。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強柱弱梁：為什麼用 Mnb 而不是 Mpr？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vg/d7 強柱弱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梁側採標稱強度 Mnb（鋼筋用 fy，不是 1.25fy）—— 材料超強的餘裕已經包在 6/5 這個係數裡面了。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柱側的 Mnc 要在「該載重組合下的實際軸力」求得；軸壓讓柱的彎矩強度變大，所以軸力越小，柱越吃緊。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ΣMnc/ΣMnb = 1.493 ≥ 1.20 合格；但同一根柱在頂層（Pu = 60 t）只剩 1.141，就不合格了。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這條規定的目的不是不准柱出現塑鉸，而是不准「同一層的柱上下端同時出鉸」造成層崩塌。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柱底層與頂層是強柱弱梁最容易出問題的位置 —— 底層因為柱底本來就允許出鉸，頂層則因為軸力小。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強柱弱梁與柱剪力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柱的兩個檢核：彎矩強度比與設計剪力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強柱弱梁（梁側用標稱強度）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040" y="1847088"/>
            <a:ext cx="305463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柱設計剪力（由梁端塑鉸分配）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242" y="2962656"/>
            <a:ext cx="302023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柱的 Vc 能不能歸零：要實算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816" y="4078224"/>
            <a:ext cx="410708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柱有軸壓時的 Vc（軸壓使 Vc 增加）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66" y="5193792"/>
            <a:ext cx="459218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本例柱 Pu = 150 t &gt; Ag·f'c/20 = 50.4 t，因此柱的 Vc 不可歸零 —— 這是把梁的習慣直接套到柱上最常見的錯誤。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強柱弱梁檢核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127248" cy="4114800"/>
          </a:xfrm>
          <a:prstGeom prst="roundRect">
            <a:avLst>
              <a:gd name="adj" fmla="val 2632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題目條件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9696"/>
            <a:ext cx="27432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同一個節點：左右各一根 40×70 梁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梁頂筋 5-D25、底筋 3-D25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上下柱 60×60，8-D25，d' = 6.5 cm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柱軸力 Pu = 150 t（中間樓層）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f'c = 280、fy = 4200 kgf/cm²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求：ΣMnc / ΣMnb 是否 ≥ 1.20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58768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858768" y="1572768"/>
            <a:ext cx="3790188" cy="502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梁的標稱彎矩強度（用 fy，不是 1.25fy）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41648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a⁻ = 25.34×4200/(0.85×280×40) = 11.18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Mnb⁻ = 61.09 t-m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Mnb⁺ = 38.08 t-m（底筋 3-D25）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ΣMnb = 99.17 t-m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850124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0124" y="1572768"/>
            <a:ext cx="379018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004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需求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33004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ΣMnc ≥ (6/5)×99.17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　 = 119 t-m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註：6/5 已經涵蓋梁鋼筋的超強餘裕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3858768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8768" y="3730752"/>
            <a:ext cx="3790188" cy="502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柱的 Mnc（應變相容法，Pu 固定）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41648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 Pn(c) = 150 t → c = 16.73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單柱 Mnc = 74.02 t-m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ΣMnc = 2 × 74.02 = 148.03 t-m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（考場上通常直接查 P-M 交互曲線）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850124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0124" y="3730752"/>
            <a:ext cx="3790188" cy="502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8033004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判定與樓層敏感度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33004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148.03 ≥ 119 → 合格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比值 = 1.493 ≥ 1.20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同一根柱：Pu=100 t → 1.308；Pu=60 t → 1.141 ✗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軸力越小越吃緊 → 頂層柱最危險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8338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答：ΣMnc/ΣMnb = 1.493 ≥ 1.20，強柱弱梁合格；但同一柱在軸力降到 60 t 的樓層會降到 1.141 而不合格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柱的設計剪力另需檢核：Vu = ΣMpr,beam/H = 34.7 t，且因 Pu = 150 t &gt; 50.4 t，柱的 Vc 不可歸零。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梁柱接頭：為什麼 T 和 C 是相加而不是相消？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svg/d8 接頭剪力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地震下左梁端受負彎矩（頂筋受拉、底部受壓），右梁端受正彎矩。在接頭的水平切面上，兩者的水平力指向同一側。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Vjh = T + C − Vcol = 133.01 + 79.81 − 34.7 = 178.12 t，是一個非常大的水平剪力。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柱剪力 Vcol 方向相反，所以是相減 —— 它由梁端 Mpr 反推：Vcol = ΣMpr / H（層高，假設柱反曲點在中高）。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外接頭／角接頭只有單側有梁：Vjh = T − Vcol = 98.31 t，需求變小，但 γ 也跟著變小，未必比較安全。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梁柱接頭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接頭剪力需求與強度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梁筋送進接頭的力（用 1.25fy）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8204" y="1847088"/>
            <a:ext cx="3368313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內接頭的水平剪力需求</a:t>
            </a:r>
            <a:endParaRPr lang="en-US" sz="1300" dirty="0"/>
          </a:p>
        </p:txBody>
      </p:sp>
      <p:pic>
        <p:nvPicPr>
          <p:cNvPr id="11" name="Image 1" descr="formula_imgs/f5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9834" y="2739542"/>
            <a:ext cx="2745051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有效接頭面積</a:t>
            </a:r>
            <a:endParaRPr lang="en-US" sz="1300" dirty="0"/>
          </a:p>
        </p:txBody>
      </p:sp>
      <p:pic>
        <p:nvPicPr>
          <p:cNvPr id="15" name="Image 2" descr="formula_imgs/f5_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509" y="3631997"/>
            <a:ext cx="4081702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接頭剪力強度（沒有箍筋項）</a:t>
            </a:r>
            <a:endParaRPr lang="en-US" sz="1300" dirty="0"/>
          </a:p>
        </p:txBody>
      </p:sp>
      <p:pic>
        <p:nvPicPr>
          <p:cNvPr id="19" name="Image 3" descr="formula_imgs/f5_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083" y="4524451"/>
            <a:ext cx="2350554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值（kgf/cm² 制）</a:t>
            </a:r>
            <a:endParaRPr lang="en-US" sz="1300" dirty="0"/>
          </a:p>
        </p:txBody>
      </p:sp>
      <p:pic>
        <p:nvPicPr>
          <p:cNvPr id="23" name="Image 4" descr="formula_imgs/f5_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289" y="5416906"/>
            <a:ext cx="2772141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接頭強度只由「幾何」與「有幾面有梁」決定 —— 箍筋不會出現在強度公式裡，它的角色是維持核心圍束的構造要求。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幾何與係數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有效接頭寬度 bj 與 γ 的三種圍束條件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vg/d9 接頭有效面積與γ係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bj 取 (bw + hc) 與 (bw + 2x) 的小者，且不得大於柱寬 bc；x 是梁側面到柱側面的距離。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bw + 2x = 60 cm 控制，bj = 60 cm，Aj = 60×60 = 3600 cm²。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反映「接頭被四周的梁圍束得多好」：四面有梁 5.3、三面 3.9、角／外接頭 3.2（kgf/cm² 制）。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單位制絕對不能混：誤用 MPa 制的 1.7 會把 φVn 從 271.4 t 算成 87 t，低估到 1/3.12。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作為「面」而言算入 γ 的梁，其寬度須至少覆蓋該柱面的 3/4，且梁深不得小於最深梁的 3/4。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梁柱接頭剪力檢核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127248" cy="4114800"/>
          </a:xfrm>
          <a:prstGeom prst="roundRect">
            <a:avLst>
              <a:gd name="adj" fmla="val 2632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題目條件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9696"/>
            <a:ext cx="27432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內接頭，四面有梁（γ = 5.3）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 60×60 cm，層高 H = 350 cm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 40×70，頂筋 5-D25、底筋 3-D25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梁的 Mpr⁻ = 74.5、Mpr⁺ = 46.93 t-m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f'c = 280、fy = 4200 kgf/cm²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求：φVn 是否 ≥ Vjh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58768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858768" y="1572768"/>
            <a:ext cx="3790188" cy="502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梁筋送進接頭的力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41648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1.25×4200×25.34 = 133.01 t（頂筋拉力）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1.25×4200×15.20 = 79.81 t（底部壓力）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兩者在接頭水平切面上同向 → 相加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850124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0124" y="1572768"/>
            <a:ext cx="3790188" cy="502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004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柱剪力與接頭剪力需求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33004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Vcol = ΣMpr/H = 121.44/3.5 = 34.7 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Vjh = 133.01 + 79.81 − 34.7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 = 178.12 t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3858768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8768" y="3730752"/>
            <a:ext cx="3790188" cy="50292"/>
          </a:xfrm>
          <a:prstGeom prst="rect">
            <a:avLst/>
          </a:prstGeom>
          <a:solidFill>
            <a:srgbClr val="4C6B8A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有效接頭面積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41648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 = (60 − 40)/2 = 10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bj = min(40+60, 40+2×10) = 60 cm ≤ bc = 60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Aj = 60 × 60 = 3600 cm²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850124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0124" y="3730752"/>
            <a:ext cx="379018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8033004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剪力強度檢核（φ = 0.85）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33004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φVn = 0.85×5.3×√280×3600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 = 271.4 t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271.4 ≥ 178.12 → 合格（使用率 65.6%）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若為三面有梁（γ=3.9）：199.7 t，使用率 89.2%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8338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答：φVn = 271.4 t ≥ Vjh = 178.12 t，接頭合格（使用率 65.6%）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單位陷阱：若誤用 MPa 制的 γ = 1.7，φVn 只剩 87 t，會把合格的接頭誤判成不合格。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為什麼曲率韌性永遠大於位移韌性？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svg/d10 韌性量化的幾何來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曲率韌性 μφ 是「斷面」的性質；位移韌性 μ 是「整根構材」的性質。塑性曲率只集中在 Lp 這一小段，其餘部分仍是彈性的。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Lp/L = 0.1582 —— 塑鉸只佔懸臂長度的 16%，所以 μφ = 14.95 換算成 μ 只剩 7.1。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Lp/L 越小，兩者差距越大；這也說明短柱（L 小）反而不容易得到高位移韌性。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圍束的效果直接反映在這裡：εcu 從 0.003 提高到 0.012，μ 從 2.2 拉到 7.1。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懸臂構材（或雙曲率構材的半跨）的轉角韌性 μθ 等於位移韌性 μ；但 μφ 恆大於兩者。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韌性量化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從曲率一路算到位移韌性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曲率韌性（斷面層次）</a:t>
            </a:r>
            <a:endParaRPr lang="en-US" sz="1300" dirty="0"/>
          </a:p>
        </p:txBody>
      </p:sp>
      <p:pic>
        <p:nvPicPr>
          <p:cNvPr id="7" name="Image 0" descr="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3397" y="1847088"/>
            <a:ext cx="4017926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塑鉸長度（代 cm 與 kgf/cm²）</a:t>
            </a:r>
            <a:endParaRPr lang="en-US" sz="1300" dirty="0"/>
          </a:p>
        </p:txBody>
      </p:sp>
      <p:pic>
        <p:nvPicPr>
          <p:cNvPr id="11" name="Image 1" descr="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355" y="2739542"/>
            <a:ext cx="4184011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塑性轉角</a:t>
            </a:r>
            <a:endParaRPr lang="en-US" sz="1300" dirty="0"/>
          </a:p>
        </p:txBody>
      </p:sp>
      <p:pic>
        <p:nvPicPr>
          <p:cNvPr id="15" name="Image 2" descr="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229" y="3631997"/>
            <a:ext cx="1638261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降伏位移與極限位移</a:t>
            </a:r>
            <a:endParaRPr lang="en-US" sz="1300" dirty="0"/>
          </a:p>
        </p:txBody>
      </p:sp>
      <p:pic>
        <p:nvPicPr>
          <p:cNvPr id="19" name="Image 3" descr="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5418" y="4524451"/>
            <a:ext cx="3313884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位移韌性（與 μφ 的換算式）</a:t>
            </a:r>
            <a:endParaRPr lang="en-US" sz="1300" dirty="0"/>
          </a:p>
        </p:txBody>
      </p:sp>
      <p:pic>
        <p:nvPicPr>
          <p:cNvPr id="23" name="Image 4" descr="formula_imgs/f6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466" y="5416906"/>
            <a:ext cx="4437788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雙曲率柱取懸臂長度 L = lu/2；單位一律代 cm 與 kgf/cm²，Lp 的兩個係數 0.0022 / 0.0044 就是 MPa 制 0.022 / 0.044 換算來的，不要重複換算。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13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61872" y="685800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韌性量化：圍束前後的 μφ 與 μ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127248" cy="4114800"/>
          </a:xfrm>
          <a:prstGeom prst="roundRect">
            <a:avLst>
              <a:gd name="adj" fmla="val 2632"/>
            </a:avLst>
          </a:prstGeom>
          <a:solidFill>
            <a:srgbClr val="1B2A4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題目條件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9696"/>
            <a:ext cx="27432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同一根梁 40×70，d = 63 cm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頂筋 5-D25（ρ = 1.005%），db = 2.54 cm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淨跨 ln = 600 cm → 懸臂長 L = ln/2 = 300 cm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f'c = 280、fy = 4200、Es = 2.04×10⁶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Ec = 15000√f'c → n = 8.13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求：無圍束（εcu=0.003）與有圍束（εcu=0.012）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✦"/>
            </a:pP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　　兩種情況的 μφ 與 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58768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3858768" y="1572768"/>
            <a:ext cx="3790188" cy="502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4041648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降伏曲率 φy（開裂變換斷面）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41648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nρ = 8.13×0.01005 = 0.0817　k = 0.3307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kd = 20.84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εy = 4200/2.04e6 = 0.00206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φy = εy/(d − kd) = 4.883×10⁻⁵ (1/cm)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7850124" y="1572768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850124" y="1572768"/>
            <a:ext cx="3790188" cy="502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004" y="1719072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極限曲率 φu 與 μφ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33004" y="2103120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= a/β1 = 13.97/0.85 = 16.44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無圍束：φu = 0.003/16.44 = 1.825×10⁻⁴ → μφ = 3.74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有圍束：φu = 0.012/16.44 = 7.301×10⁻⁴ → μφ = 14.95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3858768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8768" y="3730752"/>
            <a:ext cx="3790188" cy="5029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4041648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塑鉸長度 Lp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41648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0.08L + 0.0022·fy·db = 24 + 23.47 = 47.47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0.0044·fy·db = 46.94 cm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Lp = max = 47.47 cm（Lp/L = 0.1582）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7850124" y="3730752"/>
            <a:ext cx="3790188" cy="1956816"/>
          </a:xfrm>
          <a:prstGeom prst="roundRect">
            <a:avLst>
              <a:gd name="adj" fmla="val 3738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0124" y="3730752"/>
            <a:ext cx="3790188" cy="5029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3" name="Text 21"/>
          <p:cNvSpPr/>
          <p:nvPr/>
        </p:nvSpPr>
        <p:spPr>
          <a:xfrm>
            <a:off x="8033004" y="3877056"/>
            <a:ext cx="34244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位移與位移韌性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33004" y="4261104"/>
            <a:ext cx="3424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δy = φy·L²/3 = 1.465 cm（兩種情況相同）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無圍束：θp = 0.00635 → δu = 3.218 → μ = 2.2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有圍束：θp = 0.03234 → δu = 10.399 → μ = 7.1</a:t>
            </a:r>
            <a:endParaRPr lang="en-US" sz="11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以換算式覆核：μ = 7.1（相符）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8338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答：無圍束 μφ = 3.74、μ = 2.2；有圍束 μφ = 14.95、μ = 7.1 —— 圍束把位移韌性提高到 3.2 倍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55664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兩種情況的 δy 相同（降伏前行為不變），圍束只改變降伏後能走多遠 —— 這正是「韌性」的定義。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全景整合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一張圖收尾：地震力依序通過的四道關卡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svg/d11 能力設計法全景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四道關卡的順序就是計算順序：梁彎矩 → 梁剪力 → 柱 → 接頭。後面每一關的「需求」，都是前一關的「可能強度」算出來的。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只有第①關是「允許發生」，其餘三關都是「禁止先壞」—— 這就是為什麼只有第①關往上估（1.25fy、φ=1.0），其餘都往下估。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把四張卡的係數背成一組：1.25fy / φ=1.0 → Vc=0 / φ=0.75 → 6/5 與 Ash → γ√f'c·Aj / φ=0.85。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最後用 μφ → Lp → θp → δp → μ 把這個機構的韌性量化成一個數字，回頭對應耐震設計規範的折減係數 R。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能力設計法與耐震梁、耐震柱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可能彎矩強度 Mpr</a:t>
            </a:r>
            <a:endParaRPr lang="en-US" sz="105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600" y="1938528"/>
            <a:ext cx="3121463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Mpr 的壓力塊深度</a:t>
            </a:r>
            <a:endParaRPr lang="en-US" sz="105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768" y="1938528"/>
            <a:ext cx="2973416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脆性側折減係數</a:t>
            </a:r>
            <a:endParaRPr lang="en-US" sz="1050" dirty="0"/>
          </a:p>
        </p:txBody>
      </p:sp>
      <p:pic>
        <p:nvPicPr>
          <p:cNvPr id="15" name="Image 2" descr="formula_imgs/f1_3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1963039"/>
            <a:ext cx="3416808" cy="34417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梁設計剪力 Ve</a:t>
            </a:r>
            <a:endParaRPr lang="en-US" sz="1050" dirty="0"/>
          </a:p>
        </p:txBody>
      </p:sp>
      <p:pic>
        <p:nvPicPr>
          <p:cNvPr id="19" name="Image 3" descr="formula_imgs/f2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14" y="2971800"/>
            <a:ext cx="3386235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= 0 的條件</a:t>
            </a:r>
            <a:endParaRPr lang="en-US" sz="1050" dirty="0"/>
          </a:p>
        </p:txBody>
      </p:sp>
      <p:pic>
        <p:nvPicPr>
          <p:cNvPr id="23" name="Image 4" descr="formula_imgs/f2_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025599"/>
            <a:ext cx="3416808" cy="285594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箍筋需求 Vs</a:t>
            </a:r>
            <a:endParaRPr lang="en-US" sz="1050" dirty="0"/>
          </a:p>
        </p:txBody>
      </p:sp>
      <p:pic>
        <p:nvPicPr>
          <p:cNvPr id="27" name="Image 5" descr="formula_imgs/f2_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196" y="2971800"/>
            <a:ext cx="2522848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梁密箍區間距</a:t>
            </a:r>
            <a:endParaRPr lang="en-US" sz="1050" dirty="0"/>
          </a:p>
        </p:txBody>
      </p:sp>
      <p:pic>
        <p:nvPicPr>
          <p:cNvPr id="31" name="Image 6" descr="formula_imgs/f2_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729" y="4005072"/>
            <a:ext cx="3137206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梁密箍區構造</a:t>
            </a:r>
            <a:endParaRPr lang="en-US" sz="1050" dirty="0"/>
          </a:p>
        </p:txBody>
      </p:sp>
      <p:pic>
        <p:nvPicPr>
          <p:cNvPr id="35" name="Image 7" descr="formula_imgs/f2_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036621"/>
            <a:ext cx="3416808" cy="330094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Vs 上限</a:t>
            </a:r>
            <a:endParaRPr lang="en-US" sz="1050" dirty="0"/>
          </a:p>
        </p:txBody>
      </p:sp>
      <p:pic>
        <p:nvPicPr>
          <p:cNvPr id="39" name="Image 8" descr="formula_imgs/f2_6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610" y="4005072"/>
            <a:ext cx="1920020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式①（補剝落）</a:t>
            </a:r>
            <a:endParaRPr lang="en-US" sz="1050" dirty="0"/>
          </a:p>
        </p:txBody>
      </p:sp>
      <p:pic>
        <p:nvPicPr>
          <p:cNvPr id="43" name="Image 9" descr="formula_imgs/f3_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065596"/>
            <a:ext cx="3416808" cy="338688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Ash 式②（延性底線）</a:t>
            </a:r>
            <a:endParaRPr lang="en-US" sz="1050" dirty="0"/>
          </a:p>
        </p:txBody>
      </p:sp>
      <p:pic>
        <p:nvPicPr>
          <p:cNvPr id="47" name="Image 10" descr="formula_imgs/f3_2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8309" y="5038344"/>
            <a:ext cx="2632334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so（由 hx 決定）</a:t>
            </a:r>
            <a:endParaRPr lang="en-US" sz="1050" dirty="0"/>
          </a:p>
        </p:txBody>
      </p:sp>
      <p:pic>
        <p:nvPicPr>
          <p:cNvPr id="51" name="Image 11" descr="formula_imgs/f3_3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050838"/>
            <a:ext cx="3416808" cy="368204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柱密箍區間距</a:t>
            </a:r>
            <a:endParaRPr lang="en-US" sz="1050" dirty="0"/>
          </a:p>
        </p:txBody>
      </p:sp>
      <p:pic>
        <p:nvPicPr>
          <p:cNvPr id="55" name="Image 12" descr="formula_imgs/f3_4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5806" y="6071616"/>
            <a:ext cx="2639051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柱密箍區長度 lo</a:t>
            </a:r>
            <a:endParaRPr lang="en-US" sz="1050" dirty="0"/>
          </a:p>
        </p:txBody>
      </p:sp>
      <p:pic>
        <p:nvPicPr>
          <p:cNvPr id="59" name="Image 13" descr="formula_imgs/f3_5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5913" y="6071616"/>
            <a:ext cx="3357127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強柱弱梁</a:t>
            </a:r>
            <a:endParaRPr lang="en-US" sz="1050" dirty="0"/>
          </a:p>
        </p:txBody>
      </p:sp>
      <p:pic>
        <p:nvPicPr>
          <p:cNvPr id="63" name="Image 14" descr="formula_imgs/f4_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19041" y="6071616"/>
            <a:ext cx="218915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柱剪力、梁柱接頭與韌性量化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柱設計剪力</a:t>
            </a:r>
            <a:endParaRPr lang="en-US" sz="1050" dirty="0"/>
          </a:p>
        </p:txBody>
      </p:sp>
      <p:pic>
        <p:nvPicPr>
          <p:cNvPr id="7" name="Image 0" descr="formula_imgs/f4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081" y="1938528"/>
            <a:ext cx="2164502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 Vc 歸零門檻</a:t>
            </a:r>
            <a:endParaRPr lang="en-US" sz="1050" dirty="0"/>
          </a:p>
        </p:txBody>
      </p:sp>
      <p:pic>
        <p:nvPicPr>
          <p:cNvPr id="11" name="Image 1" descr="formula_imgs/f4_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769" y="1938528"/>
            <a:ext cx="2943413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柱含軸壓的 Vc</a:t>
            </a:r>
            <a:endParaRPr lang="en-US" sz="1050" dirty="0"/>
          </a:p>
        </p:txBody>
      </p:sp>
      <p:pic>
        <p:nvPicPr>
          <p:cNvPr id="15" name="Image 2" descr="formula_imgs/f4_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086" y="1938528"/>
            <a:ext cx="3291068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梁筋拉力與壓力</a:t>
            </a:r>
            <a:endParaRPr lang="en-US" sz="1050" dirty="0"/>
          </a:p>
        </p:txBody>
      </p:sp>
      <p:pic>
        <p:nvPicPr>
          <p:cNvPr id="19" name="Image 3" descr="formula_imgs/f5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003289"/>
            <a:ext cx="3416808" cy="330213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內接頭 Vjh</a:t>
            </a:r>
            <a:endParaRPr lang="en-US" sz="1050" dirty="0"/>
          </a:p>
        </p:txBody>
      </p:sp>
      <p:pic>
        <p:nvPicPr>
          <p:cNvPr id="23" name="Image 4" descr="formula_imgs/f5_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650" y="2971800"/>
            <a:ext cx="3315652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外／角接頭 Vjh</a:t>
            </a:r>
            <a:endParaRPr lang="en-US" sz="1050" dirty="0"/>
          </a:p>
        </p:txBody>
      </p:sp>
      <p:pic>
        <p:nvPicPr>
          <p:cNvPr id="27" name="Image 5" descr="formula_imgs/f5_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2987983"/>
            <a:ext cx="3416808" cy="360827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有效接頭寬度 bj</a:t>
            </a:r>
            <a:endParaRPr lang="en-US" sz="1050" dirty="0"/>
          </a:p>
        </p:txBody>
      </p:sp>
      <p:pic>
        <p:nvPicPr>
          <p:cNvPr id="31" name="Image 6" descr="formula_imgs/f5_5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17037"/>
            <a:ext cx="3416808" cy="36926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接頭剪力強度</a:t>
            </a:r>
            <a:endParaRPr lang="en-US" sz="1050" dirty="0"/>
          </a:p>
        </p:txBody>
      </p:sp>
      <p:pic>
        <p:nvPicPr>
          <p:cNvPr id="35" name="Image 7" descr="formula_imgs/f5_6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4900" y="4005072"/>
            <a:ext cx="2839153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 值（kgf/cm²）</a:t>
            </a:r>
            <a:endParaRPr lang="en-US" sz="1050" dirty="0"/>
          </a:p>
        </p:txBody>
      </p:sp>
      <p:pic>
        <p:nvPicPr>
          <p:cNvPr id="39" name="Image 8" descr="formula_imgs/f5_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9433" y="4005072"/>
            <a:ext cx="3348373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梁筋伸入接頭的錨定</a:t>
            </a:r>
            <a:endParaRPr lang="en-US" sz="1050" dirty="0"/>
          </a:p>
        </p:txBody>
      </p:sp>
      <p:pic>
        <p:nvPicPr>
          <p:cNvPr id="43" name="Image 9" descr="formula_imgs/f5_8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063766"/>
            <a:ext cx="3416808" cy="342348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曲率韌性 μφ</a:t>
            </a:r>
            <a:endParaRPr lang="en-US" sz="1050" dirty="0"/>
          </a:p>
        </p:txBody>
      </p:sp>
      <p:pic>
        <p:nvPicPr>
          <p:cNvPr id="47" name="Image 10" descr="formula_imgs/f6_1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4663" y="5038344"/>
            <a:ext cx="2779627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塑鉸長度 Lp</a:t>
            </a:r>
            <a:endParaRPr lang="en-US" sz="1050" dirty="0"/>
          </a:p>
        </p:txBody>
      </p:sp>
      <p:pic>
        <p:nvPicPr>
          <p:cNvPr id="51" name="Image 11" descr="formula_imgs/f6_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102022"/>
            <a:ext cx="3416808" cy="265836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塑性轉角 θp</a:t>
            </a:r>
            <a:endParaRPr lang="en-US" sz="1050" dirty="0"/>
          </a:p>
        </p:txBody>
      </p:sp>
      <p:pic>
        <p:nvPicPr>
          <p:cNvPr id="55" name="Image 12" descr="formula_imgs/f6_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5933" y="6071616"/>
            <a:ext cx="1978799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降伏與極限位移</a:t>
            </a:r>
            <a:endParaRPr lang="en-US" sz="1050" dirty="0"/>
          </a:p>
        </p:txBody>
      </p:sp>
      <p:pic>
        <p:nvPicPr>
          <p:cNvPr id="59" name="Image 13" descr="formula_imgs/f6_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6072" y="6100394"/>
            <a:ext cx="3416808" cy="335637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位移韌性 μ</a:t>
            </a:r>
            <a:endParaRPr lang="en-US" sz="1050" dirty="0"/>
          </a:p>
        </p:txBody>
      </p:sp>
      <p:pic>
        <p:nvPicPr>
          <p:cNvPr id="63" name="Image 14" descr="formula_imgs/f6_5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05216" y="6117380"/>
            <a:ext cx="3416808" cy="3016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梁密箍區長度寫成 2d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正確是 2h —— 梁「全高」的兩倍，不是有效深度的兩倍。本例 h = 70 cm，密箍區是 140 cm；若誤用 2d 會短少 14 cm。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Ve 的分母用柱中心距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塑鉸發生在柱面，分母務必用淨跨 ln。用柱中心距會把地震項低估約 10%，而地震項正是 Ve 的主要來源。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接頭 γ 套錯單位制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kgf/cm² 制是 5.3 / 3.9 / 3.2；MPa 制才是 1.7 / 1.2 / 1.0。誤用會讓強度被低估到約 1/3（本例 271.4 t 變成 87 t）。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把柱的 Vc 直接歸零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Vc = 0 的前提是「軸力小於 Ag·f'c/20」。柱通常有可觀的軸壓（本例 Pu = 150 t &gt; 50.4 t），必須實際比較後再決定。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強柱弱梁用 1.25fy 算梁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強柱弱梁的梁側用標稱強度 Mnb（fy），超強餘裕已包含在 6/5 內。用 Mpr 會重複計入超強，把需求灌水 25%。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μφ 當成 μ 來用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塑性曲率只集中在 Lp 內，所以恆有 μφ &gt; μ。本例 μφ = 14.95 換算後 μ 只有 7.1，直接拿 μφ 當設計韌性會嚴重高估。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RC-U3-3 韌性要求與耐震設計｜重點回顧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0792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7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耐震設計回答的是「壞的時候用什麼方式壞」：讓梁端彎矩塑鉸在所有其他破壞模式之前先到達。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05328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2724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005328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讓分法則：希望它壞的（梁彎矩）用 1.25fy、φ=1.0 估上限；不准它壞的（剪力、柱、接頭）用 Vc=0、更小的 φ 估下限。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24656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84657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46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724656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梁：Ve 由兩端 Mpr 與重力項疊加，塑鉸區 Vc=0，密箍區長度 2h、間距四取小、第一支距柱面 ≤ 5 cm。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56590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65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443984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柱：Ash 兩式取大（Ag/Ach &gt; 1.30 時式①控制），s 由 b/4、6db、so 取小，lo 取三者最大；ΣMnc ≥ 6/5 ΣMnb。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163312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28523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163312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接頭：Vjh = T + C − Vcol（T 與 C 同向要相加），φVn = 0.85·γ√f'c·Aj，γ 只看「幾面有梁」且分單位制。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88264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600456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600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588264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韌性量化：μφ → Lp → θp → δp → μ；因塑鉸只佔 Lp，恆有 μφ &gt; μ，而圍束正是把 μ 拉大的關鍵。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RC-U3-3 韌性要求與耐震設計</dc:creator>
  <cp:lastModifiedBy>RC-U3-3 韌性要求與耐震設計</cp:lastModifiedBy>
  <cp:revision>1</cp:revision>
  <dcterms:created xsi:type="dcterms:W3CDTF">2026-09-16T03:04:03Z</dcterms:created>
  <dcterms:modified xsi:type="dcterms:W3CDTF">2026-09-16T03:04:03Z</dcterms:modified>
</cp:coreProperties>
</file>