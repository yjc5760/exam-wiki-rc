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RC-U2-1　RC 剪力強度分析與設計｜觀念講義・拼圖四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兩個邊界主題：公式認錯，整題必錯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CF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平截面假設失效 → 壓拉桿模式 STM；存在明確滑動介面 → 剪力摩擦；附帶：扭力何時可忽略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3063240" cy="1097280"/>
          </a:xfrm>
          <a:prstGeom prst="roundRect">
            <a:avLst>
              <a:gd name="adj" fmla="val 8333"/>
            </a:avLst>
          </a:prstGeom>
          <a:solidFill>
            <a:srgbClr val="243044"/>
          </a:solidFill>
          <a:ln w="25400">
            <a:solidFill>
              <a:srgbClr val="2F54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深梁・STM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023360" y="3749040"/>
            <a:ext cx="3063240" cy="1097280"/>
          </a:xfrm>
          <a:prstGeom prst="roundRect">
            <a:avLst>
              <a:gd name="adj" fmla="val 8333"/>
            </a:avLst>
          </a:prstGeom>
          <a:solidFill>
            <a:srgbClr val="243044"/>
          </a:solidFill>
          <a:ln w="25400">
            <a:solidFill>
              <a:srgbClr val="B954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邊界②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剪力摩擦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0" y="3749040"/>
            <a:ext cx="3063240" cy="1097280"/>
          </a:xfrm>
          <a:prstGeom prst="roundRect">
            <a:avLst>
              <a:gd name="adj" fmla="val 8333"/>
            </a:avLst>
          </a:prstGeom>
          <a:solidFill>
            <a:srgbClr val="243044"/>
          </a:solidFill>
          <a:ln w="25400">
            <a:solidFill>
              <a:srgbClr val="9AA3A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附帶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扭力門檻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例⑤ 深梁 P</a:t>
            </a:r>
            <a:pPr indent="0" marL="0">
              <a:buNone/>
            </a:pPr>
            <a:r>
              <a:rPr lang="en-US" sz="15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200 tf、例④ 介面 V</a:t>
            </a:r>
            <a:pPr indent="0" marL="0">
              <a:buNone/>
            </a:pPr>
            <a:r>
              <a:rPr lang="en-US" sz="15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45 tf、基準斷面 35×70；圖上數字全部由同一份 params.py 覆算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拼圖四的位置：先問「公式認對了沒」</a:t>
            </a:r>
            <a:endParaRPr lang="en-US" sz="2600" dirty="0"/>
          </a:p>
        </p:txBody>
      </p:sp>
      <p:pic>
        <p:nvPicPr>
          <p:cNvPr id="5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878"/>
            <a:ext cx="11064240" cy="38724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桁架類比的兩個前提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平截面假設成立（B 區）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沒有預先存在的滑動面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前提 ① 破了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≤ 2、集中載重靠近支承、牛腿 → 力走直線 → STM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前提 ② 破了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施工縫、新舊混凝土、預鑄接縫 → 沿介面滑動 → 剪力摩擦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示範案例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兩個例題＋一個基準斷面：全篇數字都從這裡來</a:t>
            </a:r>
            <a:endParaRPr lang="en-US" sz="2600" dirty="0"/>
          </a:p>
        </p:txBody>
      </p:sp>
      <p:pic>
        <p:nvPicPr>
          <p:cNvPr id="5" name="Image 0" descr="fig02_cas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5357" y="1280160"/>
            <a:ext cx="10910807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9496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327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例⑤ 深梁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= 1.07：拉桿 101.6 tf、壓桿 142.6 tf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39496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486400"/>
            <a:ext cx="327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例④ 剪力摩擦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粗糙 14.29 vs 未粗糙 23.81 cm²（多 66.7%）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39496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486400"/>
            <a:ext cx="327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扭力門檻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φT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0.951 t-m；誤用 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oh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會低估 53.7%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31720"/>
            <a:ext cx="109728" cy="1737360"/>
          </a:xfrm>
          <a:prstGeom prst="rect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邊界主題 ①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深梁與壓拉桿模式 STM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越小，力越想「走直線」——箍筋不再是主要傳力路徑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物理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區與 D 區：平截面假設在哪裡失效</a:t>
            </a:r>
            <a:endParaRPr lang="en-US" sz="2600" dirty="0"/>
          </a:p>
        </p:txBody>
      </p:sp>
      <p:pic>
        <p:nvPicPr>
          <p:cNvPr id="5" name="Image 0" descr="fig03_b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3310"/>
            <a:ext cx="11064240" cy="37341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12080"/>
            <a:ext cx="3596640" cy="1188720"/>
          </a:xfrm>
          <a:prstGeom prst="roundRect">
            <a:avLst>
              <a:gd name="adj" fmla="val 9231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03520"/>
            <a:ext cx="327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區（Disturbed）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集中載重、支承、斷面突變附近約一個構材深度 h 的範圍（題目常寫 d）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212080"/>
            <a:ext cx="3596640" cy="1188720"/>
          </a:xfrm>
          <a:prstGeom prst="roundRect">
            <a:avLst>
              <a:gd name="adj" fmla="val 9231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303520"/>
            <a:ext cx="327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區（Bernoulli）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遠離不連續處，應變沿深度呈直線 → 可用梁理論與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212080"/>
            <a:ext cx="3596640" cy="1188720"/>
          </a:xfrm>
          <a:prstGeom prst="roundRect">
            <a:avLst>
              <a:gd name="adj" fmla="val 9231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303520"/>
            <a:ext cx="327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 = 整根都是 D 區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4h，或集中載重距支承面 ≤ 2h：兩個 D 區連在一起，沒有 B 區可用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a/d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同樣的梁，改變 a/d 就換了力流</a:t>
            </a:r>
            <a:endParaRPr lang="en-US" sz="2600" dirty="0"/>
          </a:p>
        </p:txBody>
      </p:sp>
      <p:pic>
        <p:nvPicPr>
          <p:cNvPr id="5" name="Image 0" descr="fig04_ad3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21060"/>
            <a:ext cx="11064240" cy="32501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小（≲ 1）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斜壓桿直接把載重送進支承：拱作用（arch action）主導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≈ 2 ~ 2.5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拱作用與桁架作用並存；是兩套方法的交界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大（&gt; 2.5）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一根斜壓桿到不了支承，要靠箍筋一段一段「接力」吊上去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強度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剪力強度隨 a/d 變化：兩個方向的誤用都危險</a:t>
            </a:r>
            <a:endParaRPr lang="en-US" sz="2600" dirty="0"/>
          </a:p>
        </p:txBody>
      </p:sp>
      <p:pic>
        <p:nvPicPr>
          <p:cNvPr id="5" name="Image 0" descr="fig05_curv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539621"/>
            <a:ext cx="11064240" cy="35958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77840"/>
            <a:ext cx="51435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 a/d 越小越強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壓桿越陡、力臂越短 → 同樣 P 對應的斜壓力越小；破壞轉為壓桿壓碎或節點破壞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49340" y="548640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32220" y="5577840"/>
            <a:ext cx="51435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考場判斷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≤ 2（或規範的深梁定義）→ 直接切換到 STM，不要先算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三元件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 只要驗三種東西：壓桿、拉桿、節點</a:t>
            </a:r>
            <a:endParaRPr lang="en-US" sz="2600" dirty="0"/>
          </a:p>
        </p:txBody>
      </p:sp>
      <p:pic>
        <p:nvPicPr>
          <p:cNvPr id="5" name="Image 0" descr="fig06_st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0760" y="1280160"/>
            <a:ext cx="101600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846320"/>
            <a:ext cx="4480560" cy="155448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937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 Strut</a:t>
            </a:r>
            <a:endParaRPr lang="en-US" sz="1400" dirty="0"/>
          </a:p>
        </p:txBody>
      </p:sp>
      <p:pic>
        <p:nvPicPr>
          <p:cNvPr id="8" name="Image 1" descr="m_n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636362"/>
            <a:ext cx="3302813" cy="2852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166360" y="4846320"/>
            <a:ext cx="2194560" cy="1554480"/>
          </a:xfrm>
          <a:prstGeom prst="roundRect">
            <a:avLst>
              <a:gd name="adj" fmla="val 705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49240" y="4937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拉桿 Tie</a:t>
            </a:r>
            <a:endParaRPr lang="en-US" sz="1400" dirty="0"/>
          </a:p>
        </p:txBody>
      </p:sp>
      <p:pic>
        <p:nvPicPr>
          <p:cNvPr id="11" name="Image 2" descr="m_nt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4960" y="5629504"/>
            <a:ext cx="1366114" cy="29900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498080" y="484632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80960" y="4937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Node</a:t>
            </a:r>
            <a:endParaRPr lang="en-US" sz="1400" dirty="0"/>
          </a:p>
        </p:txBody>
      </p:sp>
      <p:pic>
        <p:nvPicPr>
          <p:cNvPr id="14" name="Image 3" descr="m_nn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6680" y="5444338"/>
            <a:ext cx="3365906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80960" y="6016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一律 0.75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壓桿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壓桿係數 β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：形狀與周圍鋼筋決定打幾折</a:t>
            </a:r>
            <a:endParaRPr lang="en-US" sz="2600" dirty="0"/>
          </a:p>
        </p:txBody>
      </p:sp>
      <p:pic>
        <p:nvPicPr>
          <p:cNvPr id="5" name="Image 0" descr="fig07_strut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21060"/>
            <a:ext cx="11064240" cy="32501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瓶形為什麼打折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壓力從窄端擴散到寬中段 → 產生橫向拉力 → 沿壓桿方向劈裂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0.75 的條件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穿過壓桿的分布鋼筋要夠：Σ 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sinα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/(b s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 ≥ 0.003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考場預設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深梁腹板有配水平、垂直分布筋 → 多數題目取 0.75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節點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節點係數 β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：錨入的拉桿越多，節點越弱</a:t>
            </a:r>
            <a:endParaRPr lang="en-US" sz="2600" dirty="0"/>
          </a:p>
        </p:txBody>
      </p:sp>
      <p:pic>
        <p:nvPicPr>
          <p:cNvPr id="5" name="Image 0" descr="fig08_nod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55636"/>
            <a:ext cx="11064240" cy="31809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2663190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CCC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載重點下方：三面受壓，圍束最好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48990" y="5303520"/>
            <a:ext cx="2663190" cy="109728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31870" y="539496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CCT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支承上方：拉桿錨入節點，拉應變干擾混凝土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49340" y="5303520"/>
            <a:ext cx="266319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32220" y="539496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CTT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兩個方向都有拉桿（如框架角隅）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949690" y="5303520"/>
            <a:ext cx="266319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32570" y="539496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驗算面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每個節點面都要驗：承壓面、壓桿端面、拉桿錨定面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拉桿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拉桿：強度只是一半，另一半是錨定</a:t>
            </a:r>
            <a:endParaRPr lang="en-US" sz="2600" dirty="0"/>
          </a:p>
        </p:txBody>
      </p:sp>
      <p:pic>
        <p:nvPicPr>
          <p:cNvPr id="5" name="Image 0" descr="fig09_ancho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927669"/>
            <a:ext cx="11064240" cy="37341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例⑤ 建模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例⑤：a/d = 1.07 的深梁，先畫出桁架</a:t>
            </a:r>
            <a:endParaRPr lang="en-US" sz="2600" dirty="0"/>
          </a:p>
        </p:txBody>
      </p:sp>
      <p:pic>
        <p:nvPicPr>
          <p:cNvPr id="5" name="Image 0" descr="fig10_ex5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799844"/>
            <a:ext cx="7040880" cy="39898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280160"/>
            <a:ext cx="3886200" cy="155448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1371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上節點高度（水平壓桿剛好滿應力）</a:t>
            </a:r>
            <a:endParaRPr lang="en-US" sz="1400" dirty="0"/>
          </a:p>
        </p:txBody>
      </p:sp>
      <p:pic>
        <p:nvPicPr>
          <p:cNvPr id="8" name="Image 1" descr="m_wtop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0" y="2009210"/>
            <a:ext cx="3429000" cy="40727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726680" y="2971800"/>
            <a:ext cx="3886200" cy="1554480"/>
          </a:xfrm>
          <a:prstGeom prst="roundRect">
            <a:avLst>
              <a:gd name="adj" fmla="val 705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09560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力臂與壓桿角度</a:t>
            </a:r>
            <a:endParaRPr lang="en-US" sz="1400" dirty="0"/>
          </a:p>
        </p:txBody>
      </p:sp>
      <p:pic>
        <p:nvPicPr>
          <p:cNvPr id="11" name="Image 2" descr="m_z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5280" y="3460832"/>
            <a:ext cx="3429000" cy="361531"/>
          </a:xfrm>
          <a:prstGeom prst="rect">
            <a:avLst/>
          </a:prstGeom>
        </p:spPr>
      </p:pic>
      <p:pic>
        <p:nvPicPr>
          <p:cNvPr id="12" name="Image 3" descr="m_th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55280" y="3966375"/>
            <a:ext cx="3429000" cy="40200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726680" y="4663440"/>
            <a:ext cx="3886200" cy="1691640"/>
          </a:xfrm>
          <a:prstGeom prst="roundRect">
            <a:avLst>
              <a:gd name="adj" fmla="val 648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909560" y="4754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節點平衡</a:t>
            </a:r>
            <a:endParaRPr lang="en-US" sz="1400" dirty="0"/>
          </a:p>
        </p:txBody>
      </p:sp>
      <p:pic>
        <p:nvPicPr>
          <p:cNvPr id="15" name="Image 4" descr="m_f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5280" y="5281282"/>
            <a:ext cx="3429000" cy="38280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909560" y="59710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z 互相牽動 → 迭代到收斂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例⑤ 驗算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例⑤：三種元件逐一驗算，最緊的是拉桿與上端壓桿</a:t>
            </a:r>
            <a:endParaRPr lang="en-US" sz="2600" dirty="0"/>
          </a:p>
        </p:txBody>
      </p:sp>
      <p:pic>
        <p:nvPicPr>
          <p:cNvPr id="5" name="Image 0" descr="fig11_ex5ch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2145" y="1188720"/>
            <a:ext cx="7737231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79476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3886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壓桿下端（w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42.3；β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0.75、β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0.80 取小 → 178.5）</a:t>
            </a:r>
            <a:endParaRPr lang="en-US" sz="1400" dirty="0"/>
          </a:p>
        </p:txBody>
      </p:sp>
      <p:pic>
        <p:nvPicPr>
          <p:cNvPr id="8" name="Image 1" descr="m_sb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4284878"/>
            <a:ext cx="4408322" cy="29077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379476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38862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壓桿上端（w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31.2；β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0.75 控制）</a:t>
            </a:r>
            <a:endParaRPr lang="en-US" sz="1400" dirty="0"/>
          </a:p>
        </p:txBody>
      </p:sp>
      <p:pic>
        <p:nvPicPr>
          <p:cNvPr id="11" name="Image 2" descr="m_st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4284878"/>
            <a:ext cx="4408322" cy="29077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484632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4937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拉桿</a:t>
            </a:r>
            <a:endParaRPr lang="en-US" sz="1400" dirty="0"/>
          </a:p>
        </p:txBody>
      </p:sp>
      <p:pic>
        <p:nvPicPr>
          <p:cNvPr id="14" name="Image 3" descr="m_ats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5276088"/>
            <a:ext cx="3707721" cy="4114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172200" y="484632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355080" y="49377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深梁總上限</a:t>
            </a:r>
            <a:endParaRPr lang="en-US" sz="1400" dirty="0"/>
          </a:p>
        </p:txBody>
      </p:sp>
      <p:pic>
        <p:nvPicPr>
          <p:cNvPr id="17" name="Image 4" descr="m_dlim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5314900"/>
            <a:ext cx="4983480" cy="333857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777240" y="60076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陷阱：腹板若沒配分布鋼筋只能取 β</a:t>
            </a:r>
            <a:pPr indent="0" marL="0">
              <a:buNone/>
            </a:pPr>
            <a:r>
              <a:rPr lang="en-US" sz="135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0.60 → 上端壓桿 φF</a:t>
            </a:r>
            <a:pPr indent="0" marL="0">
              <a:buNone/>
            </a:pPr>
            <a:r>
              <a:rPr lang="en-US" sz="135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ns</a:t>
            </a:r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133.6 &lt; 142.6 tf，不通過；拉桿還要回頭檢核錨定。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邊界① | 上限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深梁總上限 2.65√f′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 與桁架類比的 5V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是同一個數</a:t>
            </a:r>
            <a:endParaRPr lang="en-US" sz="2600" dirty="0"/>
          </a:p>
        </p:txBody>
      </p:sp>
      <p:pic>
        <p:nvPicPr>
          <p:cNvPr id="5" name="Image 0" descr="fig12_limi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38180"/>
            <a:ext cx="11064240" cy="32501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3776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29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係數對帳</a:t>
            </a:r>
            <a:endParaRPr lang="en-US" sz="1400" dirty="0"/>
          </a:p>
        </p:txBody>
      </p:sp>
      <p:pic>
        <p:nvPicPr>
          <p:cNvPr id="8" name="Image 1" descr="m_5vc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636819"/>
            <a:ext cx="3736238" cy="37581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493776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5047488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共通物理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不論力走桁架還是走拱，最後都是混凝土斜壓力帶被壓碎——所以天花板一樣，只是深梁的「地板」高很多。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31720"/>
            <a:ext cx="109728" cy="1737360"/>
          </a:xfrm>
          <a:prstGeom prst="rect">
            <a:avLst/>
          </a:prstGeom>
          <a:solidFill>
            <a:srgbClr val="B9540F"/>
          </a:solidFill>
          <a:ln w="12700">
            <a:solidFill>
              <a:srgbClr val="B9540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邊界主題 ②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剪力摩擦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鋼筋不是「擋住」滑動，而是「夾住」介面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邊界② | 機制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機制的三個動作：滑動 → 張開 → 夾緊</a:t>
            </a:r>
            <a:endParaRPr lang="en-US" sz="2600" dirty="0"/>
          </a:p>
        </p:txBody>
      </p:sp>
      <p:pic>
        <p:nvPicPr>
          <p:cNvPr id="5" name="Image 0" descr="fig13_sfmech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11021"/>
            <a:ext cx="11064240" cy="35958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2920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120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基本式</a:t>
            </a:r>
            <a:endParaRPr lang="en-US" sz="1400" dirty="0"/>
          </a:p>
        </p:txBody>
      </p:sp>
      <p:pic>
        <p:nvPicPr>
          <p:cNvPr id="8" name="Image 1" descr="m_sf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718200"/>
            <a:ext cx="1807769" cy="3044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257800" y="5029200"/>
            <a:ext cx="6355080" cy="13716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40680" y="5138928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400"/>
              </a:spcAft>
              <a:buNone/>
            </a:pPr>
            <a:r>
              <a:rPr lang="en-US" sz="1500" b="1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：垂直介面的「永久」壓力才可計入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活載重、地震等可能消失的壓力不能算；若介面有淨拉力，要另外配鋼筋承擔，不可與 A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vf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共用。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邊界② | 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 不是「摩擦係數」，是規範給的等效值</a:t>
            </a:r>
            <a:endParaRPr lang="en-US" sz="2600" dirty="0"/>
          </a:p>
        </p:txBody>
      </p:sp>
      <p:pic>
        <p:nvPicPr>
          <p:cNvPr id="5" name="Image 0" descr="fig14_mu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541907"/>
            <a:ext cx="11064240" cy="30426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83480"/>
            <a:ext cx="3596640" cy="13716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74920"/>
            <a:ext cx="3276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常重混凝土 1.0、全輕質 0.75；μ 一律乘 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4983480"/>
            <a:ext cx="3596640" cy="13716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074920"/>
            <a:ext cx="3276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粗糙化的定義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硬固面刻意打毛，凹凸幅度約 6 mm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4983480"/>
            <a:ext cx="3596640" cy="13716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074920"/>
            <a:ext cx="3276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限制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vf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 f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不得超過 4200 kgf/cm²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邊界② | 例④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例④：粗糙化與否，鋼筋量差 66.7%</a:t>
            </a:r>
            <a:endParaRPr lang="en-US" sz="2600" dirty="0"/>
          </a:p>
        </p:txBody>
      </p:sp>
      <p:pic>
        <p:nvPicPr>
          <p:cNvPr id="5" name="Image 0" descr="fig15_ex4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1020"/>
            <a:ext cx="11064240" cy="32501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6634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754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反算鋼筋</a:t>
            </a:r>
            <a:endParaRPr lang="en-US" sz="1400" dirty="0"/>
          </a:p>
        </p:txBody>
      </p:sp>
      <p:pic>
        <p:nvPicPr>
          <p:cNvPr id="8" name="Image 1" descr="m_avf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411876"/>
            <a:ext cx="2430475" cy="55138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51960" y="4663440"/>
            <a:ext cx="3840480" cy="1737360"/>
          </a:xfrm>
          <a:prstGeom prst="roundRect">
            <a:avLst>
              <a:gd name="adj" fmla="val 6316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34840" y="47548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兩種介面</a:t>
            </a:r>
            <a:endParaRPr lang="en-US" sz="1400" dirty="0"/>
          </a:p>
        </p:txBody>
      </p:sp>
      <p:pic>
        <p:nvPicPr>
          <p:cNvPr id="11" name="Image 2" descr="m_avf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560" y="5171429"/>
            <a:ext cx="3383280" cy="415058"/>
          </a:xfrm>
          <a:prstGeom prst="rect">
            <a:avLst/>
          </a:prstGeom>
        </p:spPr>
      </p:pic>
      <p:pic>
        <p:nvPicPr>
          <p:cNvPr id="12" name="Image 3" descr="m_avf2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0560" y="5788649"/>
            <a:ext cx="3383280" cy="41505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229600" y="466344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8412480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上限（粗糙面）</a:t>
            </a:r>
            <a:endParaRPr lang="en-US" sz="1400" dirty="0"/>
          </a:p>
        </p:txBody>
      </p:sp>
      <p:pic>
        <p:nvPicPr>
          <p:cNvPr id="15" name="Image 4" descr="m_sflim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58200" y="5262005"/>
            <a:ext cx="2926080" cy="233906"/>
          </a:xfrm>
          <a:prstGeom prst="rect">
            <a:avLst/>
          </a:prstGeom>
        </p:spPr>
      </p:pic>
      <p:pic>
        <p:nvPicPr>
          <p:cNvPr id="16" name="Image 5" descr="m_sflim1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58200" y="5887070"/>
            <a:ext cx="2926080" cy="218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邊界② | 陷阱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vf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是「垂直穿過介面」的鋼筋，不是梁的箍筋 A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endParaRPr lang="en-US" sz="2600" dirty="0"/>
          </a:p>
        </p:txBody>
      </p:sp>
      <p:pic>
        <p:nvPicPr>
          <p:cNvPr id="5" name="Image 0" descr="fig16_avf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540764"/>
            <a:ext cx="11064240" cy="3319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12080"/>
            <a:ext cx="3596640" cy="1188720"/>
          </a:xfrm>
          <a:prstGeom prst="roundRect">
            <a:avLst>
              <a:gd name="adj" fmla="val 9231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03520"/>
            <a:ext cx="327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先畫出介面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介面方向決定哪些鋼筋算數：只有穿過介面、且兩側都錨定足夠的才算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212080"/>
            <a:ext cx="3596640" cy="1188720"/>
          </a:xfrm>
          <a:prstGeom prst="roundRect">
            <a:avLst>
              <a:gd name="adj" fmla="val 9231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303520"/>
            <a:ext cx="327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斜向穿過時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鋼筋與介面夾角 α 時改用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vf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(μ sinα + cosα)，且只限受拉方向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212080"/>
            <a:ext cx="3596640" cy="1188720"/>
          </a:xfrm>
          <a:prstGeom prst="roundRect">
            <a:avLst>
              <a:gd name="adj" fmla="val 9231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303520"/>
            <a:ext cx="3276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未粗糙面的上限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只剩 min(0.2f′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, 56)A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；本例 f′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280 時兩者剛好都是 56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31720"/>
            <a:ext cx="109728" cy="1737360"/>
          </a:xfrm>
          <a:prstGeom prst="rect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附帶主題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扭力何時可以忽略？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門檻用外緣 A</a:t>
            </a:r>
            <a:pPr indent="0" marL="0">
              <a:buNone/>
            </a:pPr>
            <a:r>
              <a:rPr lang="en-US" sz="1800" baseline="-400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</a:t>
            </a:r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、p</a:t>
            </a:r>
            <a:pPr indent="0" marL="0">
              <a:buNone/>
            </a:pPr>
            <a:r>
              <a:rPr lang="en-US" sz="1800" baseline="-400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</a:t>
            </a:r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；真正設計才換成箍筋中心線 A</a:t>
            </a:r>
            <a:pPr indent="0" marL="0">
              <a:buNone/>
            </a:pPr>
            <a:r>
              <a:rPr lang="en-US" sz="1800" baseline="-400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oh</a:t>
            </a:r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、A</a:t>
            </a:r>
            <a:pPr indent="0" marL="0">
              <a:buNone/>
            </a:pPr>
            <a:r>
              <a:rPr lang="en-US" sz="1800" baseline="-400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扭力 | 門檻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門檻判定用 A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，配筋設計才用 A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oh</a:t>
            </a:r>
            <a:endParaRPr lang="en-US" sz="2600" dirty="0"/>
          </a:p>
        </p:txBody>
      </p:sp>
      <p:pic>
        <p:nvPicPr>
          <p:cNvPr id="5" name="Image 0" descr="fig17_torsi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698" y="1280160"/>
            <a:ext cx="10832123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89204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983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門檻公式</a:t>
            </a:r>
            <a:endParaRPr lang="en-US" sz="1400" dirty="0"/>
          </a:p>
        </p:txBody>
      </p:sp>
      <p:pic>
        <p:nvPicPr>
          <p:cNvPr id="8" name="Image 1" descr="m_tth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515204"/>
            <a:ext cx="2076602" cy="57332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977640" y="48920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160520" y="4983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基準斷面代數字</a:t>
            </a:r>
            <a:endParaRPr lang="en-US" sz="1400" dirty="0"/>
          </a:p>
        </p:txBody>
      </p:sp>
      <p:pic>
        <p:nvPicPr>
          <p:cNvPr id="11" name="Image 2" descr="m_tth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6240" y="5594758"/>
            <a:ext cx="3474720" cy="41422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46720" y="489204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29600" y="4983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物理意義：¼ 開裂扭矩</a:t>
            </a:r>
            <a:endParaRPr lang="en-US" sz="1400" dirty="0"/>
          </a:p>
        </p:txBody>
      </p:sp>
      <p:pic>
        <p:nvPicPr>
          <p:cNvPr id="14" name="Image 3" descr="m_tcr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320" y="5534472"/>
            <a:ext cx="3108960" cy="5347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解題流程圖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考場上照著走：先認公式，再代數字</a:t>
            </a:r>
            <a:endParaRPr lang="en-US" sz="2600" dirty="0"/>
          </a:p>
        </p:txBody>
      </p:sp>
      <p:pic>
        <p:nvPicPr>
          <p:cNvPr id="5" name="Image 0" descr="fig18_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04772"/>
            <a:ext cx="11064240" cy="44256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考場陷阱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最常扣分的六個地方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544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1｜深梁照樣算 V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V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a/d ≤ 2 還用桁架類比：強度低估 2 ~ 4 倍，配出一堆無效箍筋；反過來用 STM 算細長梁則不安全。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13716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544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2｜β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隨便取 0.75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0.75 綁著分布鋼筋 Σ 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sinα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/(b s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 ≥ 0.003；沒配就是 0.60。例⑤ 取 0.60 上端壓桿就不過。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13716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11312" y="15544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3｜拉桿只算面積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錨定長度從拉桿重心離開延伸節點區處起算；長度不夠 → 彎鉤、錨定板或加長支承板。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069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4｜拿箍筋 A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當 A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vf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vf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必須垂直穿過介面、兩側錨定；鉛直介面時梁箍筋完全沒有夾緊作用。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79392" y="38862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4069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5｜μ 與上限記錯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粗糙 1.0、未粗糙 0.6、單體 1.4、鋼板 0.7（× λ）；上限不夠加鋼筋無效，只能加 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10144" y="38862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1312" y="4069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6｜扭力門檻用 A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門檻用外緣 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、p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cp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；誤用 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oh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、p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會把門檻從 0.951 算成 0.440 t-m。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公式速查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拼圖四：必背數值一頁看完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30936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項目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公式／數值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備註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STM 強度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φF = φ 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A；f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0.85β 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；φ = 0.75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壓桿、節點共用同一形式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壓桿 β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1.0 稜柱／0.75 瓶形有筋／0.60λ 瓶形無筋／0.40 拉力構材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0.75 需分布筋 ≥ 0.003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節點 β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1.0 CCC／0.80 CCT／0.60 CTT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看錨入幾根拉桿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拉桿／幾何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φA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；θ ≥ 25°；V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2.65√f′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b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錨定從延伸節點區外起算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540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剪力摩擦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μ(A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vf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+ 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)；A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vf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/(φμf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只計永久壓力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540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μ（× λ）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1.4 單體／1.0 粗糙／0.6 未粗糙／0.7 鋼板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粗糙 vs 未粗糙差 66.7%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9540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摩擦上限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min(0.2f′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, 34+0.08f′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, 112)A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；未粗糙 min(0.2f′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, 56)A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280 → 56 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扭力門檻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φ0.265√f′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cp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²/p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cp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（= φT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cr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/4）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外緣 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cp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，不是 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oh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單元總結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 剪力四塊拼圖：一個底層邏輯貫穿到底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042416"/>
          </a:xfrm>
          <a:prstGeom prst="roundRect">
            <a:avLst>
              <a:gd name="adj" fmla="val 10526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底層邏輯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60020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剪應力 → 45° 斜向主拉 → 混凝土被拉裂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1042416"/>
          </a:xfrm>
          <a:prstGeom prst="roundRect">
            <a:avLst>
              <a:gd name="adj" fmla="val 10526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拼圖二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008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三大機制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76148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桁架類比（B 區）／壓拉桿（D 區）／剪力摩擦（既有介面）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11064240" cy="1042416"/>
          </a:xfrm>
          <a:prstGeom prst="roundRect">
            <a:avLst>
              <a:gd name="adj" fmla="val 10526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673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拼圖三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69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四道關卡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922776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位置 → 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選臉 → 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區間與斷面 → 間距四取小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764024"/>
            <a:ext cx="11064240" cy="1042416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286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拼圖四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兩個邊界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508406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STM：例⑤ 拉桿 90.9%、上端壓桿 85.4%｜剪力摩擦：例④ 14.29 vs 23.81 cm²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每一題都先問：力怎麼走？平截面還成立嗎？有沒有既有介面？——認對機制，公式才會對。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RC-U2-1 拼圖四：兩個邊界主題（STM・剪力摩擦）</dc:title>
  <dc:subject>PptxGenJS Presentation</dc:subject>
  <dc:creator>PptxGenJS</dc:creator>
  <cp:lastModifiedBy>PptxGenJS</cp:lastModifiedBy>
  <cp:revision>1</cp:revision>
  <dcterms:created xsi:type="dcterms:W3CDTF">2026-09-25T13:52:54Z</dcterms:created>
  <dcterms:modified xsi:type="dcterms:W3CDTF">2026-09-25T13:52:54Z</dcterms:modified>
</cp:coreProperties>
</file>