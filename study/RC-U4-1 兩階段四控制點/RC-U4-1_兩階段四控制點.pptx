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RC-U4-1　預力梁斷面應力分析｜觀念講義・拼圖二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兩階段 × 四控制點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預力一路變小、載重一路變大——只要抓住時間軸上的兩個極端時刻，代公式就不會把數據拿錯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08A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A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 · 頂拉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8FA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 · 底壓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8FA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 · 頂壓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08A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A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 · 底拉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示範梁與拼圖一相同：40×80 cm 矩形、L = 12 m、e = 25 cm、P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t、P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t、f′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280、f′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350 kgf/cm²；圖上數字全部由同一支程式算出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 · 一句話貫通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兩個反向趨勢 → 兩個極端時刻 → 四個控制點</a:t>
            </a:r>
            <a:endParaRPr lang="en-US" sz="26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5483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10744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本拼圖的定位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拼圖一教你把「某一刻、某一纖維」的應力算對；拼圖二決定「哪兩刻、哪兩纖維」要算，並拿去比容許應力。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承接拼圖一 · 示範梁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同一根梁、同一條式子，這次要放進時間軸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示範梁資料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 40×80 cm：A = 3,200 cm²、S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42,667 cm³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 L = 12 m；直線鋼腱 e = 25 cm（形心下方）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預力：P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t → P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t（有效比 R = 0.80）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自重 w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0.768 t/m → M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13.824 t-m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活載 w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2.5 t/m → M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45.00 t-m；M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58.824 t-m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強度：放張 f′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280、28 天 f′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350 kgf/cm²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0760" y="1371600"/>
            <a:ext cx="5532120" cy="2331720"/>
          </a:xfrm>
          <a:prstGeom prst="roundRect">
            <a:avLst>
              <a:gd name="adj" fmla="val 4706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5087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拼圖一已經給了你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傳遞：頂 −8.62、底 +102.37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使用：頂 +105.06、底 −30.06（kgf/cm²）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384048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397764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拼圖二要回答的三件事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為什麼只算這兩個時刻？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每個時刻該配哪一組 P、M、容許值？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四個數字都過了，代表什麼？沒過怎麼改？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底層邏輯 · 時間軸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梁的一生裡有三條曲線同時在變：P 往下、M 往上、強度往上</a:t>
            </a:r>
            <a:endParaRPr lang="en-US" sz="2600" dirty="0"/>
          </a:p>
        </p:txBody>
      </p:sp>
      <p:pic>
        <p:nvPicPr>
          <p:cNvPr id="4" name="Image 0" descr="fig02_timeli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88" y="1280160"/>
            <a:ext cx="10038945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預力一路變小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彈性縮短、潛變、乾縮、鬆弛陸續吃掉預力；本例損失 20%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載重一路變大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放張當下只有自重；樓版、裝修、活載要到使用階段才全部上來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強度一路變大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放張時只有 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（本例 280），28 天後才到 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350——容許值也跟著變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為什麼只挑兩個時刻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把應力沿時間畫出來：極值一定落在兩端</a:t>
            </a:r>
            <a:endParaRPr lang="en-US" sz="2600" dirty="0"/>
          </a:p>
        </p:txBody>
      </p:sp>
      <p:pic>
        <p:nvPicPr>
          <p:cNvPr id="4" name="Image 0" descr="fig03_path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88" y="1280160"/>
            <a:ext cx="10038945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頂纖維一路往壓走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−8.62 → −0.41 → +105.06：最拉在開頭（①）、最壓在結尾（③）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底纖維一路往拉走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+102.37 → +75.41 → −30.06：最壓在開頭（②）、最拉在結尾（④）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中間狀態不必算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單調變小、M 單調變大 → 應力單調變化 → 兩端包住中間所有時刻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極端一 · 傳遞階段 Transfer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剛放張：預力最大、載重最小、混凝土最嫩</a:t>
            </a:r>
            <a:endParaRPr lang="en-US" sz="2600" dirty="0"/>
          </a:p>
        </p:txBody>
      </p:sp>
      <p:pic>
        <p:nvPicPr>
          <p:cNvPr id="4" name="Image 0" descr="fig04_transfe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55598"/>
            <a:ext cx="11064240" cy="3872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為什麼頂纖維最危險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預力力偶 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·e 把梁往上頂，自重又最小、抵銷不了 → 凸面在頂 → 頂纖維被拉開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底纖維也要看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同一時刻底纖維被 P/A 和 P·e/S 疊加壓得最緊，而 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還沒長大 → 可能壓碎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極端二 · 使用階段 Service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長期後：預力已衰減、載重全上、混凝土已達設計強度</a:t>
            </a:r>
            <a:endParaRPr lang="en-US" sz="2600" dirty="0"/>
          </a:p>
        </p:txBody>
      </p:sp>
      <p:pic>
        <p:nvPicPr>
          <p:cNvPr id="4" name="Image 0" descr="fig05_servic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55598"/>
            <a:ext cx="11064240" cy="3872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為什麼底纖維最危險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把梁往下壓，而原本「存」在底纖維的預壓力又已損失 20% → 凸面在底 → 底纖維被拉開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頂纖維也要看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 在頂纖維全是壓，P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·e/S 又變小、幫不上忙 → 頂纖維壓應力最大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四個控制點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兩個時刻 × 兩個纖維 = 四個檢核點，關係是「且」</a:t>
            </a:r>
            <a:endParaRPr lang="en-US" sz="2600" dirty="0"/>
          </a:p>
        </p:txBody>
      </p:sp>
      <p:pic>
        <p:nvPicPr>
          <p:cNvPr id="4" name="Image 0" descr="fig06_matrix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11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每一格的敵人不同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①④ 怕拉裂：比 √f′ 的容許拉；②③ 怕壓碎：比 0.60 f′ 的容許壓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任何一格超限就是不合格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四點全部通過才算合格；不能因為「主要控制點」過了就跳過其他三點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兩階段數據嚴格獨立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每個時刻都有自己的 P、自己的 M、自己的 f′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傳遞階段（Transfer）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使用階段（Service）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預力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150 t（初始，未扣損失）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120 t（有效，已扣損失）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彎矩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13.824 t-m（僅自重）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M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+ M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58.824 t-m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混凝土強度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f′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ci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280（放張齡期）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f′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350（28 天）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容許壓應力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+f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ci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+0.60 f′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ci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+168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+f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cs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+0.60 f′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+210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容許拉應力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−f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ti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−0.80√f′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ci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−13.39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−f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ts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−2.0√f′</a:t>
                      </a:r>
                      <a:pPr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−37.42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檢核點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頂（拉）、② 底（壓）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頂（壓）、④ 底（拉）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577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口訣：同一欄的東西一起用，絕不跨欄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最常見的錯：把 P</a:t>
            </a:r>
            <a:pPr indent="0" marL="0"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代進傳遞階段、或拿 f′</a:t>
            </a:r>
            <a:pPr indent="0" marL="0"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算傳遞的容許值——兩者都會讓結果看起來「比較安全」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容許應力 · 規範值與適用條件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同一階段也有例外：端部放寬、持續載重收緊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 · 壓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一般斷面 0.60 f′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168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簡支構材端部 0.70 f′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196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50876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 · 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一般斷面 0.80√f′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13.39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簡支構材端部 1.6√f′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26.77；超過要配輔助鋼筋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7472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 · 壓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全部載重 0.60 f′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210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持續載重（預力＋持續荷重）0.45 f′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157.5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3375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347472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 · 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未開裂（Class U）上限 2.0√f′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37.42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超過即進入 Class T／C，要改用開裂斷面檢核撓度與裂縫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4589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考場讀題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題目若直接給容許值就照用；沒給時，本講義用「一般斷面、全部載重、Class U」這組最常考的值（與示範梁四張卡片一致）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ACI 單位制地雷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MPa 制的 0.25、0.62 不能直接搬到 kgf/cm² 題目</a:t>
            </a:r>
            <a:endParaRPr lang="en-US" sz="2600" dirty="0"/>
          </a:p>
        </p:txBody>
      </p:sp>
      <p:pic>
        <p:nvPicPr>
          <p:cNvPr id="4" name="Image 0" descr="fig07_unit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24940"/>
            <a:ext cx="11064240" cy="3688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推導：只有開根號的項需要把 √10.197 吸進係數</a:t>
            </a:r>
            <a:endParaRPr lang="en-US" sz="1400" dirty="0"/>
          </a:p>
        </p:txBody>
      </p:sp>
      <p:pic>
        <p:nvPicPr>
          <p:cNvPr id="8" name="Image 1" descr="m_conv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06440"/>
            <a:ext cx="712493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代公式 SOP · 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兩個階段各算三項純數值，兩排數字分開寫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傳遞三項（P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　單位 kgf/cm²</a:t>
            </a:r>
            <a:endParaRPr lang="en-US" sz="1400" dirty="0"/>
          </a:p>
        </p:txBody>
      </p:sp>
      <p:pic>
        <p:nvPicPr>
          <p:cNvPr id="6" name="Image 0" descr="m_t3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950415"/>
            <a:ext cx="4040734" cy="4882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8346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9260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使用三項（P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　單位 kgf/cm²</a:t>
            </a:r>
            <a:endParaRPr lang="en-US" sz="1400" dirty="0"/>
          </a:p>
        </p:txBody>
      </p:sp>
      <p:pic>
        <p:nvPicPr>
          <p:cNvPr id="9" name="Image 1" descr="m_u3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3413455"/>
            <a:ext cx="4191610" cy="48829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3434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44805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P/A、P·e/S 按 P 的比例縮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0.80 → 46.875×0.8 = 37.500、87.891×0.8 = 70.313；可拿來驗算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26480" y="43434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27648" y="44805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M/S 用的是不同的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傳遞只有 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32.400；使用是 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137.869，差了 4.3 倍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代公式 SOP · 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正負號由變形決定，兩階段用同一組通式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645920"/>
          </a:xfrm>
          <a:prstGeom prst="roundRect">
            <a:avLst>
              <a:gd name="adj" fmla="val 6667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頂纖維通式</a:t>
            </a:r>
            <a:endParaRPr lang="en-US" sz="1400" dirty="0"/>
          </a:p>
        </p:txBody>
      </p:sp>
      <p:pic>
        <p:nvPicPr>
          <p:cNvPr id="6" name="Image 0" descr="m_t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111807"/>
            <a:ext cx="1837944" cy="4855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371600"/>
            <a:ext cx="5486400" cy="164592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底纖維通式</a:t>
            </a:r>
            <a:endParaRPr lang="en-US" sz="1400" dirty="0"/>
          </a:p>
        </p:txBody>
      </p:sp>
      <p:pic>
        <p:nvPicPr>
          <p:cNvPr id="9" name="Image 1" descr="m_bo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2111807"/>
            <a:ext cx="1862633" cy="48554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2004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337560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P/A 永遠 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預力對混凝土只會推，不分頂底、不分階段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70248" y="32004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71416" y="3337560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P·e/S：頂 −、底 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鋼腱在形心下方 → 上拱 → 頂拉底壓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991856" y="32004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193024" y="3337560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M/S：頂 ＋、底 −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正彎矩（載重向下）→ 下垂 → 頂壓底拉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52120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約定：壓為 ＋、拉為 −；檢核寫成不等式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壓應力檢核 f ≤ +f</a:t>
            </a:r>
            <a:pPr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（不能太壓）；拉應力檢核 f ≥ −f</a:t>
            </a:r>
            <a:pPr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（不能比容許拉更負）。不等號方向由「數線」決定，不必背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· 傳遞階段 ①②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頂纖維小拉、底纖維大壓，兩者都在容許範圍內</a:t>
            </a:r>
            <a:endParaRPr lang="en-US" sz="2600" dirty="0"/>
          </a:p>
        </p:txBody>
      </p:sp>
      <p:pic>
        <p:nvPicPr>
          <p:cNvPr id="4" name="Image 0" descr="fig08_check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534" y="1280160"/>
            <a:ext cx="10376452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頂纖維（拉裂控制點）</a:t>
            </a:r>
            <a:endParaRPr lang="en-US" sz="1400" dirty="0"/>
          </a:p>
        </p:txBody>
      </p:sp>
      <p:pic>
        <p:nvPicPr>
          <p:cNvPr id="8" name="Image 1" descr="m_f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942228"/>
            <a:ext cx="4460443" cy="27706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底纖維（壓應力檢核）</a:t>
            </a:r>
            <a:endParaRPr lang="en-US" sz="1400" dirty="0"/>
          </a:p>
        </p:txBody>
      </p:sp>
      <p:pic>
        <p:nvPicPr>
          <p:cNvPr id="11" name="Image 2" descr="m_f2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5942228"/>
            <a:ext cx="4531766" cy="2770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· 使用階段 ③④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角色對調：頂纖維大壓、底纖維受拉</a:t>
            </a:r>
            <a:endParaRPr lang="en-US" sz="2600" dirty="0"/>
          </a:p>
        </p:txBody>
      </p:sp>
      <p:pic>
        <p:nvPicPr>
          <p:cNvPr id="4" name="Image 0" descr="fig09_check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534" y="1280160"/>
            <a:ext cx="10376452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頂纖維（壓應力檢核）</a:t>
            </a:r>
            <a:endParaRPr lang="en-US" sz="1400" dirty="0"/>
          </a:p>
        </p:txBody>
      </p:sp>
      <p:pic>
        <p:nvPicPr>
          <p:cNvPr id="8" name="Image 1" descr="m_f3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942228"/>
            <a:ext cx="4614062" cy="27706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底纖維（拉裂控制點）</a:t>
            </a:r>
            <a:endParaRPr lang="en-US" sz="1400" dirty="0"/>
          </a:p>
        </p:txBody>
      </p:sp>
      <p:pic>
        <p:nvPicPr>
          <p:cNvPr id="11" name="Image 2" descr="m_f4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5942228"/>
            <a:ext cx="4696358" cy="2770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另一種看法 · 容許窗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把容許應力畫成一扇窗：四個點都要落在窗內</a:t>
            </a:r>
            <a:endParaRPr lang="en-US" sz="2600" dirty="0"/>
          </a:p>
        </p:txBody>
      </p:sp>
      <p:pic>
        <p:nvPicPr>
          <p:cNvPr id="4" name="Image 0" descr="fig10_wind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93520"/>
            <a:ext cx="11064240" cy="3688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傳遞的窗較窄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還小：窗從 −13.39 到 +168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使用的窗較寬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長大：窗從 −37.42 到 +210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拉側最先頂到邊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拉側寬度只有壓側的 1/6～1/13 → 大多數題目由 ① 或 ④ 控制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絕對不串料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與 M 的四種配法，只有兩種是真的要檢核</a:t>
            </a:r>
            <a:endParaRPr lang="en-US" sz="2600" dirty="0"/>
          </a:p>
        </p:txBody>
      </p:sp>
      <p:pic>
        <p:nvPicPr>
          <p:cNvPr id="4" name="Image 0" descr="fig11_mix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458" y="1280160"/>
            <a:ext cx="10622604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P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帶進使用階段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底纖維只剩 −3.10，看不出 ④ 其實已用掉 80%——少算 26.95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P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帶進傳遞階段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頂纖維變成 −0.41，① 的拉應力幾乎消失——實際是 −8.62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誰在控制？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把四點都換成「使用率」＝ 算得 ÷ 容許，最高的就是控制點</a:t>
            </a:r>
            <a:endParaRPr lang="en-US" sz="2600" dirty="0"/>
          </a:p>
        </p:txBody>
      </p:sp>
      <p:pic>
        <p:nvPicPr>
          <p:cNvPr id="4" name="Image 0" descr="fig12_uti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02842"/>
            <a:ext cx="11064240" cy="35036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20640"/>
            <a:ext cx="3596640" cy="1325880"/>
          </a:xfrm>
          <a:prstGeom prst="roundRect">
            <a:avLst>
              <a:gd name="adj" fmla="val 827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93792"/>
            <a:ext cx="3276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本例由 ④ 控制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使用階段底纖維拉 80% 最高：要加活載，先撞到的是 ④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120640"/>
            <a:ext cx="3596640" cy="1325880"/>
          </a:xfrm>
          <a:prstGeom prst="roundRect">
            <a:avLst>
              <a:gd name="adj" fmla="val 8276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193792"/>
            <a:ext cx="3276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是第二名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64%：如果想加大 e 或 P 來救 ④，① 會立刻變緊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120640"/>
            <a:ext cx="3596640" cy="1325880"/>
          </a:xfrm>
          <a:prstGeom prst="roundRect">
            <a:avLst>
              <a:gd name="adj" fmla="val 827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193792"/>
            <a:ext cx="3276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②③ 餘裕大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61%、50%：壓應力很少控制，但仍要寫出來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 SOP · 一張流程圖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切時刻 → 寫四格 → 三項 → 加減 → 比容許</a:t>
            </a:r>
            <a:endParaRPr lang="en-US" sz="2600" dirty="0"/>
          </a:p>
        </p:txBody>
      </p:sp>
      <p:pic>
        <p:nvPicPr>
          <p:cNvPr id="4" name="Image 0" descr="fig16_s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2738"/>
            <a:ext cx="11064240" cy="3872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49240"/>
            <a:ext cx="546354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22392"/>
            <a:ext cx="51435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「四格」是什麼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每個時刻先寫：用哪個斷面、哪個 P、哪個 M、哪組容許值。四格填好，錯誤就不會發生在代數裡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49240"/>
            <a:ext cx="5463540" cy="10972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22392"/>
            <a:ext cx="51435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組合梁也一樣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時刻變多（張拉、灌漿、澆版、硬化、使用），每刻的斷面不同；但每一刻的做法跟本頁完全相同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沒過怎麼改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四個旋鈕對四個控制點的影響方向</a:t>
            </a:r>
            <a:endParaRPr lang="en-US" sz="2600" dirty="0"/>
          </a:p>
        </p:txBody>
      </p:sp>
      <p:pic>
        <p:nvPicPr>
          <p:cNvPr id="4" name="Image 0" descr="fig13_knob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2357"/>
            <a:ext cx="11064240" cy="39646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預力的兩難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與 e 讓梁上拱：幫使用階段、害傳遞階段。設計就是在 ① 與 ④ 之間找平衡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晚一點放張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 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長大：只放寬 ①② 的窗，對使用階段沒有影響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 ① · 鋼腱可行區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把四個檢核式改寫成 e 的不等式，交集就是可行區</a:t>
            </a:r>
            <a:endParaRPr lang="en-US" sz="2600" dirty="0"/>
          </a:p>
        </p:txBody>
      </p:sp>
      <p:pic>
        <p:nvPicPr>
          <p:cNvPr id="4" name="Image 0" descr="fig14_ezo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2738"/>
            <a:ext cx="11064240" cy="3872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給上限（傳遞頂拉）</a:t>
            </a:r>
            <a:endParaRPr lang="en-US" sz="1400" dirty="0"/>
          </a:p>
        </p:txBody>
      </p:sp>
      <p:pic>
        <p:nvPicPr>
          <p:cNvPr id="8" name="Image 1" descr="m_e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60691"/>
            <a:ext cx="5120640" cy="44013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給下限（使用底拉）</a:t>
            </a:r>
            <a:endParaRPr lang="en-US" sz="1400" dirty="0"/>
          </a:p>
        </p:txBody>
      </p:sp>
      <p:pic>
        <p:nvPicPr>
          <p:cNvPr id="11" name="Image 2" descr="m_e4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5874445"/>
            <a:ext cx="5120640" cy="4126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 ② · 最大活載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未知數換成 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：③④ 各給一個上限，取小者</a:t>
            </a:r>
            <a:endParaRPr lang="en-US" sz="2600" dirty="0"/>
          </a:p>
        </p:txBody>
      </p:sp>
      <p:pic>
        <p:nvPicPr>
          <p:cNvPr id="4" name="Image 0" descr="fig15_w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24940"/>
            <a:ext cx="11064240" cy="3688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控制（剛好等於開裂彎矩 M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400" dirty="0"/>
          </a:p>
        </p:txBody>
      </p:sp>
      <p:pic>
        <p:nvPicPr>
          <p:cNvPr id="8" name="Image 1" descr="m_mt4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54465"/>
            <a:ext cx="5669280" cy="4525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75120" y="539496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0" y="5486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換回均布活載</a:t>
            </a:r>
            <a:endParaRPr lang="en-US" sz="1400" dirty="0"/>
          </a:p>
        </p:txBody>
      </p:sp>
      <p:pic>
        <p:nvPicPr>
          <p:cNvPr id="11" name="Image 2" descr="m_wl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5851132"/>
            <a:ext cx="4572000" cy="4592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六個讓四控制點「看起來過了」其實沒過的地方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串料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代進使用：④ 由 −30.06 被算成 −3.10；錯誤永遠偏不保守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70248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傳遞漏了自重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只算預力：① = −41.02，超過 −13.39 判成 NG；自重是傳遞階段的幫手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91856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93024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單位制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kgf/cm² 題目用 0.80√f′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、2.0√f′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；直接用 MPa 的 0.25、0.62 會把容許拉低估 3.19 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傳遞容許值用錯強度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誤用 f′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：容許拉 −13.39 變 −14.97、容許壓 168 變 210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0248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只查跨中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直線鋼腱在端部 M = 0：① = −41.02 超過端部容許 −26.77 → 實務要把鋼腱彎起或脫黏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1856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3024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不等號方向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拉應力是負數：−8.62 ≥ −13.39 才是 OK；比絕對值時要把 ≥ 改成 ≤，寫法要一致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考場速查 · 四控制點一張表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每一列就是一條檢核式；示範梁的答案一併列出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2651760"/>
                <a:gridCol w="1371600"/>
                <a:gridCol w="2834640"/>
                <a:gridCol w="10058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控制點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P、M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三項組合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示範梁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容許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使用率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傳遞 · 頂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+P/A − P·e/S + M/S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−8.62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≥ −0.80√f′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−13.39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64%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 傳遞 · 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+P/A + P·e/S − M/S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+102.37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≤ +0.60 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+168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61%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使用 · 頂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+P/A − P·e/S + M/S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+105.06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≤ +0.60 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+210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50%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④ 使用 · 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+P/A + P·e/S − M/S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−30.06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≥ −2.0√f′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−37.42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80%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937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 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→ e ≤ 26.36；④ → e ≥ 22.38（本例 e = 25 落在區間內）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484632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4937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反算活載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→ M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61.96；③ → M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103.60 → w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L,max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2.674 t/m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重點回顧：兩個時刻、四個點、一條式子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↘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預力一路變小、載重一路變大、強度一路變大——應力單調變化，極值落在兩端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30352" cy="530352"/>
          </a:xfrm>
          <a:prstGeom prst="ellipse">
            <a:avLst/>
          </a:prstGeom>
          <a:solidFill>
            <a:srgbClr val="8FA8F0"/>
          </a:solidFill>
          <a:ln w="12700">
            <a:solidFill>
              <a:srgbClr val="8FA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傳遞：P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＋M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＋f′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；頂拉 ①（−8.62）、底壓 ②（+102.37）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30352" cy="530352"/>
          </a:xfrm>
          <a:prstGeom prst="ellipse">
            <a:avLst/>
          </a:prstGeom>
          <a:solidFill>
            <a:srgbClr val="F08A7E"/>
          </a:solidFill>
          <a:ln w="12700">
            <a:solidFill>
              <a:srgbClr val="F08A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使用：P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＋M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＋f′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；頂壓 ③（+105.06）、底拉 ④（−30.06）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30352" cy="530352"/>
          </a:xfrm>
          <a:prstGeom prst="ellipse">
            <a:avLst/>
          </a:prstGeom>
          <a:solidFill>
            <a:srgbClr val="A58BE6"/>
          </a:solidFill>
          <a:ln w="12700">
            <a:solidFill>
              <a:srgbClr val="A58B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≠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兩階段數據絕不串料；kgf/cm² 題目用 0.80√f′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、2.0√f′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30352" cy="530352"/>
          </a:xfrm>
          <a:prstGeom prst="ellipse">
            <a:avLst/>
          </a:prstGeom>
          <a:solidFill>
            <a:srgbClr val="7FC8B4"/>
          </a:solidFill>
          <a:ln w="12700">
            <a:solidFill>
              <a:srgbClr val="7FC8B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463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四點是「且」；把不等式改成等式，就能反算 e（22.38～26.36）與最大活載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下一步：拼圖三——開裂彎矩 M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與極限強度 φM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≥ 1.2 M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，把使用階段接到極限狀態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RC-U4-1 拼圖二：兩階段 × 四控制點</dc:title>
  <dc:subject>PptxGenJS Presentation</dc:subject>
  <dc:creator>PptxGenJS</dc:creator>
  <cp:lastModifiedBy>PptxGenJS</cp:lastModifiedBy>
  <cp:revision>1</cp:revision>
  <dcterms:created xsi:type="dcterms:W3CDTF">2026-09-27T09:03:29Z</dcterms:created>
  <dcterms:modified xsi:type="dcterms:W3CDTF">2026-09-27T09:03:29Z</dcterms:modified>
</cp:coreProperties>
</file>