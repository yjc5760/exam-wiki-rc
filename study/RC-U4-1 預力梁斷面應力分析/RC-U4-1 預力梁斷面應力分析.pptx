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　鋼筋混凝土學｜觀念講義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預力梁斷面應力分析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把物理機制歸納成簡單的力學加減 —— 三項應力、兩個階段、四個控制點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觀念講義影片｜RC-U4-1 預力梁斷面應力分析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三項應力的加減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斷面上永遠只有 P/A、P·e/S、M/S 三項。大小由 P、e、M、A、S 決定；正負由「誰把梁頂上去、誰把梁壓下來」現場判定，不必背頂／底公式。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兩階段 × 四控制點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預力隨時間變小、載重隨時間變大，兩者彎矩方向相反。傳遞階段怕頂纖維被拉裂，使用階段怕底纖維被拉裂 —— 四個點必須全部通過。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斷面與施工時序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非對稱斷面 St ≠ Sb，形心要先求。組合梁在每一刻只有「已硬化並能傳力」的部分在工作；濕版重只能由原梁斷面獨自承擔。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從檢核到設計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開裂彎矩 Mcr 是彈性語言的終點，再往下換成 Whitney 應力塊求 φMn。把四個檢核式改成等式，就成了反算題：e 的區間、最大活載重。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為什麼斷面上的應力一定是梯形？因為它是三張圖疊出來的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1 三項應力疊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55" y="1892808"/>
            <a:ext cx="6301691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軸壓 P/A 是矩形：預力合力通過形心的那一份，全斷面同號、恆為壓。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偏心 P·e/S 是三角形：把預力搬回形心時補上的力偶 P·e，上下反號。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外力 M/S 也是三角形，但與 ② 反向 —— 這正是預力「抵銷」載重的機制。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所以最終一定是梯形；只有當 ②＋③ 的合成超過 ① 時，某一側才會出現拉應力。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本單元一律取壓應力為正（＋）、拉應力為負（−）；答題時務必先在紙上寫下這句約定。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三項應力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核心公式：一條通式，兩個纖維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通式（壓為正）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567" y="1847088"/>
            <a:ext cx="2445586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660" y="2739542"/>
            <a:ext cx="2715399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183" y="3631997"/>
            <a:ext cx="2808355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斷面模數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65" y="4524451"/>
            <a:ext cx="2351790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偏心距與有效深度</a:t>
            </a:r>
            <a:endParaRPr lang="en-US" sz="1300" dirty="0"/>
          </a:p>
        </p:txBody>
      </p:sp>
      <p:pic>
        <p:nvPicPr>
          <p:cNvPr id="23" name="Image 4" descr="formula_imgs/f1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487" y="5416906"/>
            <a:ext cx="2865745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St、Sb 是「到該纖維的距離」倒推出來的斷面模數；yps 為鋼腱形心至斷面底緣的距離。只要斷面上下不對稱，St 與 Sb 就不相等，必須分開代入。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為什麼只檢核兩個時刻？因為最不利的組合就發生在這兩端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2 兩階段四控制點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傳遞階段：預力最大（Pi）、外載最小（僅 Md），梁被頂成上拱 → 頂纖維最危險。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使用階段：預力最小（Pe）、外載最大（Md+ML），梁下垂 → 底纖維最危險。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兩個時刻的容許應力也不同：傳遞用 f'ci（放張齡期），使用用 f'c（28 天）。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四個控制點是「且」的關係 —— 任何一點超限，整個設計就要回頭改。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四個控制點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四個檢核式與 ACI 容許應力（kgf/cm² 制）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傳遞·頂纖維（拉）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764" y="1847088"/>
            <a:ext cx="3153192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傳遞·底纖維（壓）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181" y="2739542"/>
            <a:ext cx="2928358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使用·頂纖維（壓）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732" y="3631997"/>
            <a:ext cx="2975256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使用·底纖維（拉）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245" y="4524451"/>
            <a:ext cx="3244229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容許應力</a:t>
            </a:r>
            <a:endParaRPr lang="en-US" sz="1300" dirty="0"/>
          </a:p>
        </p:txBody>
      </p:sp>
      <p:pic>
        <p:nvPicPr>
          <p:cNvPr id="23" name="Image 4" descr="formula_imgs/f2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692" y="5416906"/>
            <a:ext cx="4783336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ACI 原式為 MPa 制（0.25√f'ci、0.62√f'c、端部 0.50√f'ci）；換算為 kgf/cm² 時要乘 √10.197 ≈ 3.19，成為 0.80√f'ci、2.0√f'c、1.60√f'ci。fts = 2.0√f'c 同時也是 Class U（未開裂）的上限與破裂模數 fr。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符號怎麼定？看變形，不看公式書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3 符號現場判定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鋼腱在形心下方 → 反拱力向上頂 → 梁上拱 → 頂面被拉開、底面被壓緊。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外載重（含自重）向下壓 → 梁下垂 → 頂面被壓緊、底面被拉開，恰好與上者相反。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軸壓項 P/A 不參與這個判斷：它全斷面同號，永遠是壓。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背下這兩張圖，就再也不需要記「頂用減、底用加」這種容易顛倒的口訣。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五步通用流水線：從斷面幾何到四點檢核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不管矩形、T 形還是組合梁，流程都一樣；變的只有斷面、P 與 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預力梁題目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這一刻是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哪個階段？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傳遞：Pi、Md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容許用 f'ci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使用：Pe、Md+ML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容許用 f'c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斷面性質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A、I、yt、yb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St=I/yt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Sb=I/yb、e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各階段彎矩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wL²/8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算三項數值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P/A、Pe/S、M/S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依變形方向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組合正負號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94476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78578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5206594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四點對照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容許應力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84694" y="4032504"/>
            <a:ext cx="43013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7574" y="403250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組合梁分支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若有現場澆置樓版：先切成淨／變換／組合三個斷面，各階段用自己的 S 算「增量應力」再累加；濕版重只能由原梁斷面承擔。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代數字之前，先確認三件事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斷面對不對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 與 Sb 是否已分開算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預力對不對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這一刻是 Pi 還是 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彎矩對不對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只有自重，還是已含活載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　矩形斷面兩階段四控制點檢核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步驟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算式（kgf、cm）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結果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題目條件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L=12 m、b=40、h=80；Pi=150 t、Pe=120 t（損失 20%）、e=25 cm；f'ci=280、f'c=350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wd=768、wL=2500 kgf/m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斷面性質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A=40×80=3200；I=40×80³/12=1 706 667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St=Sb=42 667 cm³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兩階段彎矩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Md=0.768×12²/8=13.82；ML=2.5×12²/8=45.00 t-m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MT=58.82 t-m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傳遞三項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Pi/A=46.875；Pi·e/S=87.891；Md/S=32.400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傳遞·頂纖維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46.875 − 87.891 + 32.400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−8.62 ≥ −13.39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⑤ 傳遞·底纖維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46.875 + 87.891 − 32.400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+102.37 ≤ +168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⑥ 使用三項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Pe/A=37.500；Pe·e/S=70.313；MT/S=137.869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⑦ 使用·頂纖維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37.500 − 70.313 + 137.869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+105.06 ≤ +210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⑧ 使用·底纖維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37.500 + 70.313 − 137.869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−30.06 ≥ −37.42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形心一旦偏離半高，St 與 Sb 就是兩個不同的數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4 非對稱斷面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 ȳb = ΣAi yi / ΣAi 求形心，再用平行軸定理 I = Σ(Ii + Ai di²) 求慣性矩。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 = I/yt 與 Sb = I/yb 必須分開算；本例 St（梁頂）約為 Sb 的 2.9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小的那一側應力大 —— 所以此斷面的危險面在底纖維，而不是在樓版頂面。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偏心距 e 也隨形心改變：預鑄梁自身 e=25，組合後變成 44.61 cm。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斷面幾何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斷面性質與核心距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199" y="1847088"/>
            <a:ext cx="1648322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慣性矩（平行軸）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442" y="2739542"/>
            <a:ext cx="1579836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014" y="3631997"/>
            <a:ext cx="2518692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矩形斷面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720" y="4524451"/>
            <a:ext cx="1357280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簡支梁跨中彎矩</a:t>
            </a:r>
            <a:endParaRPr lang="en-US" sz="1300" dirty="0"/>
          </a:p>
        </p:txBody>
      </p:sp>
      <p:pic>
        <p:nvPicPr>
          <p:cNvPr id="23" name="Image 4" descr="formula_imgs/f3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144" y="5416906"/>
            <a:ext cx="3142432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 k 是「預力單獨作用時，對側纖維應力恰為零」的偏心量。矩形斷面的核心是中三分之一（h/6 上下），這正是「中三分之一定律」的由來。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核心距：偏心到哪裡，另一邊才開始被拉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5 核心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0：全斷面均勻受壓 P/A，這是最「浪費」的配置（底部抗彎能力沒用上）。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kb：頂纖維應力恰為 0，底纖維剛好 2P/A —— 這是三角形分佈的臨界點。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&gt; kb：頂纖維出現拉應力，但只要仍在容許值內就合格，不必一味避開。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實務上 e 通常刻意大於 kb，才能把預力的抵銷效果集中在底纖維。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組合梁：問一句話就好 ——「這一刻，誰已經硬化？」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6 組合梁三階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後拉法張拉時導管尚未灌漿，用扣掉孔洞的淨斷面，承受 Pi 與梁自重 MG。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灌漿後至組合前用全（變換）斷面，承受 Pe 與濕版重 MS。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現場版硬化後才有組合斷面，形心大幅上移，且只再承受活載與疊加靜載 ML。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應力是一階段一階段「累加」上去的，不是拿最終斷面一次算完。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失分地雷：濕混凝土完全沒有勁度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7 濕版重陷阱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澆置當下樓版還是液體，不可能參與抗彎 —— 它只是掛在梁上的一份重量。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 MS 必須除以原梁的 Sb1（42 667），而不是組合斷面的 Sb3（79 342）。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本例誤用會把底纖維應力貢獻從 −22.78 算成 −12.25，低估 10.53 kgf/cm²。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同樣邏輯適用於吊裝、支撐拆除、疊加靜載 —— 判斷準則只有一句：此刻誰已硬化。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　組合梁三階段應力累加（底纖維）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步驟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算式（kgf、cm）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結果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題目條件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同上梁 + 現場版 be=150、t=15；梁間距 1.5 m → wS=540、wL=1800 kgf/m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MS=9.72、ML=32.40 t-m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組合形心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ȳb = (2250×87.5 + 3200×40) / 5450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ȳb = 59.61 cm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組合 I、S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 = 4 729 588 cm⁴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Sb3=79 342；St3(梁頂)=231 957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傳遞（梁斷面）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46.875 + 87.891 − 32.400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f底 = +102.37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加濕版重（梁斷面）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37.500 + 70.313 − (13.82+9.72)×10⁵/42 667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f底 = +52.63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⑤ 加活載（組合斷面）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Δf = − 3 240 000 / 79 342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Δf底 = −40.84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⑥ 最終底纖維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52.63 − 40.84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+11.80（仍受壓）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⑦ 最終梁頂纖維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22.37 + 3 240 000/231 957 = 22.37 + 13.97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+36.34 ≤ +210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⑧ 陷阱對照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濕版重若誤用 Sb3：−12.25（而非 −22.78）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底拉被低估 10.53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開裂彎矩 Mcr：底纖維的壓應力被一路抵銷到破裂模數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8 開裂彎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起點是純預力在底纖維造成的壓應力 fce = Pe/A + Pe·e/Sb = 107.81。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外力彎矩每增加一分，底纖維就被往拉的方向推一分（斜率 = 1/Sb）。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推到 −fr = −2.0√f'c = −37.42 時混凝土開裂，對應的彎矩就是 Mcr = 61.96 t-m。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本例使用載重下的 MT = 58.82 &lt; Mcr，所以斷面未開裂，前面的彈性疊加才成立。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開裂彎矩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Mcr 只有兩條式子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預力在底纖維的壓應力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469" y="1847088"/>
            <a:ext cx="2071782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破裂模數（kgf/cm²）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426" y="2739542"/>
            <a:ext cx="1167868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開裂彎矩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334" y="3631997"/>
            <a:ext cx="1840052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展開形式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839" y="4524451"/>
            <a:ext cx="2749043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尚可再加的彎矩</a:t>
            </a:r>
            <a:endParaRPr lang="en-US" sz="1300" dirty="0"/>
          </a:p>
        </p:txBody>
      </p:sp>
      <p:pic>
        <p:nvPicPr>
          <p:cNvPr id="23" name="Image 4" descr="formula_imgs/f4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978" y="5416906"/>
            <a:ext cx="2620763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若題目問「還能再加多少彎矩才開裂」，要記得扣掉已經作用的自重彎矩 Md。開裂與否決定了斷面是否還能用全斷面 I 計算撓度，因此 Mcr 也是撓度題的分水嶺。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換語言：使用階段講「應力」，極限階段講「力偶」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9 兩種語言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彈性語言（WSD）：全斷面有效、應力線性，檢核對象是混凝土纖維應力。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強度語言（LRFD）：斷面已開裂，只剩 Whitney 壓力塊與鋼腱形成一組力偶。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鋼腱應力也跟著跳：使用階段 fpe ≈ 10 132，極限時 fps ≈ 17 024 kgf/cm²。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有黏結時 Mn 幾乎與 Pe 無關 —— 預力決定何時開裂、變形多少，不決定極限承載力。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極限強度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 fps 到 φMn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預力鋼腱比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553" y="1847088"/>
            <a:ext cx="1481614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鋼腱極限應力（ACI 近似式）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560" y="2739542"/>
            <a:ext cx="3035600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壓力塊深度與中性軸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752" y="3631997"/>
            <a:ext cx="3349217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標稱彎矩強度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140" y="4524451"/>
            <a:ext cx="2226440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兩項強度檢核</a:t>
            </a:r>
            <a:endParaRPr lang="en-US" sz="1300" dirty="0"/>
          </a:p>
        </p:txBody>
      </p:sp>
      <p:pic>
        <p:nvPicPr>
          <p:cNvPr id="23" name="Image 4" descr="formula_imgs/f5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00" y="5416906"/>
            <a:ext cx="3164920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γ_p 依 fpy/fpu 取 0.55／0.40／0.28（低鬆弛鋼腱取 0.28）；此近似式要求有黏結且 fpe ≥ 0.5 fpu。算出 c 後仍要檢查 εt = 0.003(dp−c)/c 落在哪一區，才能決定 φ。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　開裂彎矩 Mcr 與極限強度 φMn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步驟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算式（kgf、cm）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結果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題目條件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同例①矩形斷面；Aps = 12×0.987 = 11.844 cm²、fpu = 18 600、dp = 65 cm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fpe = 10 132 ≈ 0.55 fpu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fce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120 000/3200 + 120 000×25/42 667 = 37.50 + 70.31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fce = 107.81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fr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2.0√350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fr = 37.42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Mcr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42 667 × (107.81 + 37.42)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Mcr = 61.96 t-m（&gt; MT=58.82，未開裂）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β₁、ρp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β₁ = 0.85 − 0.05(350−280)/70 = 0.80；ρp = 11.844/(40×65)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ρp = 0.004555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⑤ fps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18 600 × [1 − (0.28/0.80)×0.004555×18 600/350]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fps = 17 024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⑥ a、c、εt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= 11.844×17 024/(0.85×350×40) = 16.94；c = 16.94/0.80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c=21.18；εt=0.0062 → φ=0.90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⑦ Mn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201 632 × (65 − 8.47)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Mn = 113.98 t-m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⑧ 檢核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φMn = 102.58 ≥ Mu = 1.2×13.82+1.6×45.0 = 88.59；且 ≥ 1.2Mcr = 74.36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✔ 兩項皆通過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反算設計：兩個階段從上下夾出 e 的可行區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10 鋼腱可行區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傳遞階段怕頂纖維被拉裂 → 給出 e 的上限（e 越大，反拱彎矩越大）。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使用階段怕底纖維被拉裂 → 給出 e 的下限（e 越大，底部壓應力儲備越多）。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本例跨中 22.38 ≤ e ≤ 26.36 cm，採用的 e = 25 cm 正好落在區間內。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端部彎矩為零，上限最緊 —— 這就是鋼腱必須「彎起來」（曲線或折線配置）的原因。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反算設計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把檢核式改成等式，就是設計式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上限（傳遞·頂拉）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213" y="1847088"/>
            <a:ext cx="3106294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下限（使用·底拉）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15" y="2739542"/>
            <a:ext cx="3200090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最大總彎矩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707" y="3631997"/>
            <a:ext cx="3327307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最大活載重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661" y="4524451"/>
            <a:ext cx="2719397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所需最小有效預力</a:t>
            </a:r>
            <a:endParaRPr lang="en-US" sz="1300" dirty="0"/>
          </a:p>
        </p:txBody>
      </p:sp>
      <p:pic>
        <p:nvPicPr>
          <p:cNvPr id="23" name="Image 4" descr="formula_imgs/f6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632" y="5416906"/>
            <a:ext cx="3579456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四個控制點都能改成等式，但通常只有兩個真正在控制（傳遞頂拉與使用底拉）；另外兩個壓應力條件多半有很大餘裕，算出來當作驗證即可。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　反算 e 的可行區間與最大活載重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步驟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算式（kgf、cm）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結果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e 上限（傳遞頂拉）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(46.875 + 32.400 + 13.387) × 42 667 / 150 000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 ≤ 26.36 cm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e 下限（使用底拉）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(137.869 − 37.500 − 37.417) × 42 667 / 120 000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 ≥ 22.38 cm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另兩點是否控制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傳遞·底壓 → e ≤ 43.67；使用·頂壓 → 對任何 e 恆滿足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皆不控制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可行區間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22.38 ≤ e ≤ 26.36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採用 e = 25 cm　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⑤ 最大總彎矩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MT,max = 42 667 × (37.50 + 70.31 + 37.42)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61.96 t-m（恰等於 Mcr）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⑥ 最大活載彎矩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61.96 − 13.82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ML,max = 48.14 t-m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⑦ 最大活載重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wL = 8 × 48.14 / 12²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wL,max = 2 674 kgf/m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⑧ 結論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例①採用的 wL = 2 500 kgf/m &lt; 2 674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✔ 前後一致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一張時間軸收攏全單元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ps/figs/d11 全單元時間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8240"/>
            <a:ext cx="6501384" cy="411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藍線（預力）只會往下走：張拉 → 放張 → 長期損失，從 Pi 降到 Pe。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紅線（彎矩）只會往上走：自重 → 濕版重 → 活載 → 極限設計彎矩 Mu。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兩線之間的每個「時刻」，都各自對應一組（斷面、P、M、容許值）。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把題目先切成時刻、把四格填滿，剩下的就只是代數運算而已。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考前速查（1/2）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三項應力、四個控制點、斷面幾何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</a:t>
            </a:r>
            <a:endParaRPr lang="en-US" sz="1050" dirty="0"/>
          </a:p>
        </p:txBody>
      </p:sp>
      <p:pic>
        <p:nvPicPr>
          <p:cNvPr id="7" name="Image 0" descr="formula_imgs/f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414" y="1938528"/>
            <a:ext cx="3279836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</a:t>
            </a:r>
            <a:endParaRPr lang="en-US" sz="1050" dirty="0"/>
          </a:p>
        </p:txBody>
      </p:sp>
      <p:pic>
        <p:nvPicPr>
          <p:cNvPr id="11" name="Image 1" descr="formula_imgs/f1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419" y="1938528"/>
            <a:ext cx="3392114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斷面模數</a:t>
            </a:r>
            <a:endParaRPr lang="en-US" sz="1050" dirty="0"/>
          </a:p>
        </p:txBody>
      </p:sp>
      <p:pic>
        <p:nvPicPr>
          <p:cNvPr id="15" name="Image 2" descr="formula_imgs/f1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297" y="1938528"/>
            <a:ext cx="2840646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偏心與 dp</a:t>
            </a:r>
            <a:endParaRPr lang="en-US" sz="1050" dirty="0"/>
          </a:p>
        </p:txBody>
      </p:sp>
      <p:pic>
        <p:nvPicPr>
          <p:cNvPr id="19" name="Image 3" descr="formula_imgs/f1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74335"/>
            <a:ext cx="3416808" cy="38812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傳遞·頂</a:t>
            </a:r>
            <a:endParaRPr lang="en-US" sz="1050" dirty="0"/>
          </a:p>
        </p:txBody>
      </p:sp>
      <p:pic>
        <p:nvPicPr>
          <p:cNvPr id="23" name="Image 4" descr="formula_imgs/f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2992025"/>
            <a:ext cx="3416808" cy="35274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傳遞·底</a:t>
            </a:r>
            <a:endParaRPr lang="en-US" sz="1050" dirty="0"/>
          </a:p>
        </p:txBody>
      </p:sp>
      <p:pic>
        <p:nvPicPr>
          <p:cNvPr id="27" name="Image 5" descr="formula_imgs/f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2978484"/>
            <a:ext cx="3416808" cy="37982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使用·頂</a:t>
            </a:r>
            <a:endParaRPr lang="en-US" sz="1050" dirty="0"/>
          </a:p>
        </p:txBody>
      </p:sp>
      <p:pic>
        <p:nvPicPr>
          <p:cNvPr id="31" name="Image 6" descr="formula_imgs/f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14749"/>
            <a:ext cx="3416808" cy="373837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使用·底</a:t>
            </a:r>
            <a:endParaRPr lang="en-US" sz="1050" dirty="0"/>
          </a:p>
        </p:txBody>
      </p:sp>
      <p:pic>
        <p:nvPicPr>
          <p:cNvPr id="35" name="Image 7" descr="formula_imgs/f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30247"/>
            <a:ext cx="3416808" cy="34284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容許應力·傳遞</a:t>
            </a:r>
            <a:endParaRPr lang="en-US" sz="1050" dirty="0"/>
          </a:p>
        </p:txBody>
      </p:sp>
      <p:pic>
        <p:nvPicPr>
          <p:cNvPr id="39" name="Image 8" descr="formula_imgs/f2_5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5460" y="4005072"/>
            <a:ext cx="3356319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容許應力·使用</a:t>
            </a:r>
            <a:endParaRPr lang="en-US" sz="1050" dirty="0"/>
          </a:p>
        </p:txBody>
      </p:sp>
      <p:pic>
        <p:nvPicPr>
          <p:cNvPr id="43" name="Image 9" descr="formula_imgs/f2_5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701" y="5038344"/>
            <a:ext cx="3175262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</a:t>
            </a:r>
            <a:endParaRPr lang="en-US" sz="1050" dirty="0"/>
          </a:p>
        </p:txBody>
      </p:sp>
      <p:pic>
        <p:nvPicPr>
          <p:cNvPr id="47" name="Image 10" descr="formula_imgs/f3_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9000" y="5038344"/>
            <a:ext cx="1990951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平行軸定理</a:t>
            </a:r>
            <a:endParaRPr lang="en-US" sz="1050" dirty="0"/>
          </a:p>
        </p:txBody>
      </p:sp>
      <p:pic>
        <p:nvPicPr>
          <p:cNvPr id="51" name="Image 11" descr="formula_imgs/f3_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9505" y="5038344"/>
            <a:ext cx="1908229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</a:t>
            </a:r>
            <a:endParaRPr lang="en-US" sz="1050" dirty="0"/>
          </a:p>
        </p:txBody>
      </p:sp>
      <p:pic>
        <p:nvPicPr>
          <p:cNvPr id="55" name="Image 12" descr="formula_imgs/f3_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212" y="6071616"/>
            <a:ext cx="3042240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矩形核心</a:t>
            </a:r>
            <a:endParaRPr lang="en-US" sz="1050" dirty="0"/>
          </a:p>
        </p:txBody>
      </p:sp>
      <p:pic>
        <p:nvPicPr>
          <p:cNvPr id="59" name="Image 13" descr="formula_imgs/f3_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4771" y="6071616"/>
            <a:ext cx="1639411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跨中彎矩</a:t>
            </a:r>
            <a:endParaRPr lang="en-US" sz="1050" dirty="0"/>
          </a:p>
        </p:txBody>
      </p:sp>
      <p:pic>
        <p:nvPicPr>
          <p:cNvPr id="63" name="Image 14" descr="formula_imgs/f3_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5216" y="6091237"/>
            <a:ext cx="3416808" cy="3539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考前速查（2/2）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開裂彎矩、極限強度、反算設計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fce</a:t>
            </a:r>
            <a:endParaRPr lang="en-US" sz="105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15" y="1938528"/>
            <a:ext cx="2502434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破裂模數</a:t>
            </a:r>
            <a:endParaRPr lang="en-US" sz="105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163" y="1938528"/>
            <a:ext cx="1410627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開裂彎矩</a:t>
            </a:r>
            <a:endParaRPr lang="en-US" sz="105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353" y="1938528"/>
            <a:ext cx="2222534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Mcr 展開式</a:t>
            </a:r>
            <a:endParaRPr lang="en-US" sz="105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5" y="2971800"/>
            <a:ext cx="3320473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尚可加的彎矩</a:t>
            </a:r>
            <a:endParaRPr lang="en-US" sz="1050" dirty="0"/>
          </a:p>
        </p:txBody>
      </p:sp>
      <p:pic>
        <p:nvPicPr>
          <p:cNvPr id="23" name="Image 4" descr="formula_imgs/f4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712" y="2971800"/>
            <a:ext cx="3165529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鋼腱比</a:t>
            </a:r>
            <a:endParaRPr lang="en-US" sz="1050" dirty="0"/>
          </a:p>
        </p:txBody>
      </p:sp>
      <p:pic>
        <p:nvPicPr>
          <p:cNvPr id="27" name="Image 5" descr="formula_imgs/f5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825" y="2971800"/>
            <a:ext cx="1789590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近似式</a:t>
            </a:r>
            <a:endParaRPr lang="en-US" sz="1050" dirty="0"/>
          </a:p>
        </p:txBody>
      </p:sp>
      <p:pic>
        <p:nvPicPr>
          <p:cNvPr id="31" name="Image 6" descr="formula_imgs/f5_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18465"/>
            <a:ext cx="3416808" cy="36640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與 c</a:t>
            </a:r>
            <a:endParaRPr lang="en-US" sz="1050" dirty="0"/>
          </a:p>
        </p:txBody>
      </p:sp>
      <p:pic>
        <p:nvPicPr>
          <p:cNvPr id="35" name="Image 7" descr="formula_imgs/f5_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35620"/>
            <a:ext cx="3416808" cy="33209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標稱強度</a:t>
            </a:r>
            <a:endParaRPr lang="en-US" sz="1050" dirty="0"/>
          </a:p>
        </p:txBody>
      </p:sp>
      <p:pic>
        <p:nvPicPr>
          <p:cNvPr id="39" name="Image 8" descr="formula_imgs/f5_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9000" y="4005072"/>
            <a:ext cx="2689239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強度檢核</a:t>
            </a:r>
            <a:endParaRPr lang="en-US" sz="1050" dirty="0"/>
          </a:p>
        </p:txBody>
      </p:sp>
      <p:pic>
        <p:nvPicPr>
          <p:cNvPr id="43" name="Image 9" descr="formula_imgs/f5_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59223"/>
            <a:ext cx="3416808" cy="351434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上限</a:t>
            </a:r>
            <a:endParaRPr lang="en-US" sz="1050" dirty="0"/>
          </a:p>
        </p:txBody>
      </p:sp>
      <p:pic>
        <p:nvPicPr>
          <p:cNvPr id="47" name="Image 10" descr="formula_imgs/f6_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055907"/>
            <a:ext cx="3416808" cy="358067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下限</a:t>
            </a:r>
            <a:endParaRPr lang="en-US" sz="1050" dirty="0"/>
          </a:p>
        </p:txBody>
      </p:sp>
      <p:pic>
        <p:nvPicPr>
          <p:cNvPr id="51" name="Image 11" descr="formula_imgs/f6_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061154"/>
            <a:ext cx="3416808" cy="34757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最大總彎矩</a:t>
            </a:r>
            <a:endParaRPr lang="en-US" sz="1050" dirty="0"/>
          </a:p>
        </p:txBody>
      </p:sp>
      <p:pic>
        <p:nvPicPr>
          <p:cNvPr id="55" name="Image 12" descr="formula_imgs/f6_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6101071"/>
            <a:ext cx="3416808" cy="334283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最大活載重</a:t>
            </a:r>
            <a:endParaRPr lang="en-US" sz="1050" dirty="0"/>
          </a:p>
        </p:txBody>
      </p:sp>
      <p:pic>
        <p:nvPicPr>
          <p:cNvPr id="59" name="Image 13" descr="formula_imgs/f6_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2143" y="6071616"/>
            <a:ext cx="3284665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最小有效預力</a:t>
            </a:r>
            <a:endParaRPr lang="en-US" sz="1050" dirty="0"/>
          </a:p>
        </p:txBody>
      </p:sp>
      <p:pic>
        <p:nvPicPr>
          <p:cNvPr id="63" name="Image 14" descr="formula_imgs/f6_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5216" y="6112845"/>
            <a:ext cx="3416808" cy="3107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St 當成 I/(h/2)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只要斷面上下不對稱（T 形、I 形、組合梁），形心就不在半高。必須先求 ȳb，再分別算 St = I/yt 與 Sb = I/yb；本單元例②兩者相差 2.9 倍。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兩階段的數據串料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傳遞階段配 Pi、僅自重 Md、容許值用 f'ci；使用階段配 Pe、全載重 Md+ML、容許值用 f'c。把 Pe 誤用在傳遞階段，會把最危險的頂纖維拉應力算小。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濕版重丟給組合斷面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濕混凝土沒有勁度，MS 只能除以原梁的 Sb1。誤用組合斷面 Sb3 會低估底部拉應力（本例 10.53 kgf/cm²），把不合格的斷面算成合格。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組合後的 e 沒有重算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形心上移後偏心距變大（本例 25 → 44.61 cm）。但組合階段不再新增預力，別把 P·e/S 重複加一次 —— 該階段只加活載造成的增量應力。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容許應力的單位制搞混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ACI 的 0.25√f'ci、0.62√f'c 是 MPa 制；換成 kgf/cm² 要乘 √10.197 ≈ 3.19，成為 0.80√f'ci、2.0√f'c。直接把 0.62 代進 kgf/cm² 會少估 3 倍以上。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誤以為預力能提高極限強度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有黏結時 Mn = Aps·fps·(dp − a/2) 幾乎與 Pe 無關。預力決定「何時開裂、變形多少」，不決定 φMn；規範另以 φMn ≥ 1.2Mcr 防止脆性破壞。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預力梁斷面應力分析｜重點回顧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斷面上永遠只有三項：P/A、P·e/S、M/S。大小由數字決定，正負由「誰把梁頂上去、誰把梁壓下來」決定。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兩個最不利時刻 × 兩個危險纖維 = 四個控制點：傳遞看頂拉與底壓，使用看頂壓與底拉，四點必須全過。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每個時刻先問三句話：用哪個斷面 S、用哪個預力 P、用哪個彎矩 M —— 組合梁題目的全部難度都在這裡。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Mcr = Sb(fce + fr) 是彈性語言的終點；再往下就換成 Whitney 應力塊求 φMn，兩套語言不可混用。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把四個檢核式改成等式，檢核題就變成設計題：解出 e 的區間、最大活載重或所需的最小有效預力。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觀念講義影片</dc:creator>
  <cp:lastModifiedBy>觀念講義影片</cp:lastModifiedBy>
  <cp:revision>1</cp:revision>
  <dcterms:created xsi:type="dcterms:W3CDTF">2026-09-16T02:12:12Z</dcterms:created>
  <dcterms:modified xsi:type="dcterms:W3CDTF">2026-09-16T02:12:12Z</dcterms:modified>
</cp:coreProperties>
</file>