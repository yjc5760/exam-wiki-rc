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RC-U2-1　RC 剪力強度分析與設計｜觀念講義・拼圖二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三大傳力機制與桁架類比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69748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認錯機制，公式必錯——先看力走哪條路，再把 V</a:t>
            </a:r>
            <a:pPr indent="0" marL="0">
              <a:buNone/>
            </a:pPr>
            <a:r>
              <a:rPr lang="en-US" sz="2100" baseline="-400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1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與 V</a:t>
            </a:r>
            <a:pPr indent="0" marL="0">
              <a:buNone/>
            </a:pPr>
            <a:r>
              <a:rPr lang="en-US" sz="2100" baseline="-400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21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的物理分工、V</a:t>
            </a:r>
            <a:pPr indent="0" marL="0">
              <a:buNone/>
            </a:pPr>
            <a:r>
              <a:rPr lang="en-US" sz="2100" baseline="-400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21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與 s</a:t>
            </a:r>
            <a:pPr indent="0" marL="0">
              <a:buNone/>
            </a:pPr>
            <a:r>
              <a:rPr lang="en-US" sz="2100" baseline="-400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</a:t>
            </a:r>
            <a:pPr indent="0" marL="0">
              <a:buNone/>
            </a:pPr>
            <a:r>
              <a:rPr lang="en-US" sz="21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的由來「數」出來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A58B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3931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58BE6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3931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桁架類比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747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8FA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3931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A8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3931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壓拉桿 STM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F2A6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5080" y="3931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μ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3931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剪力摩擦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961120" y="3931920"/>
            <a:ext cx="2514600" cy="777240"/>
          </a:xfrm>
          <a:prstGeom prst="roundRect">
            <a:avLst>
              <a:gd name="adj" fmla="val 11765"/>
            </a:avLst>
          </a:prstGeom>
          <a:solidFill>
            <a:srgbClr val="243044"/>
          </a:solidFill>
          <a:ln w="25400">
            <a:solidFill>
              <a:srgbClr val="7FC8B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98280" y="393192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C8B4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d/s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875520" y="393192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數箍筋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示範梁（沿用拼圖一）：b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30、h = 60、d = 50 cm，f′c = 280、f</a:t>
            </a:r>
            <a:pPr indent="0" marL="0">
              <a:buNone/>
            </a:pPr>
            <a:r>
              <a:rPr lang="en-US" sz="1400" baseline="-400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</a:t>
            </a:r>
            <a:pPr indent="0" marL="0"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4200 kgf/cm²；另附深梁與施工縫兩個示範，圖上數字全部由同一支程式算出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 · 拼圖二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進公式之前先做兩件事：認機制、懂分工</a:t>
            </a:r>
            <a:endParaRPr lang="en-US" sz="2600" dirty="0"/>
          </a:p>
        </p:txBody>
      </p:sp>
      <p:pic>
        <p:nvPicPr>
          <p:cNvPr id="4" name="Image 0" descr="fig01_map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355598"/>
            <a:ext cx="11064240" cy="38724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949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468112"/>
            <a:ext cx="107442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這一份要帶走的能力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看到題目 30 秒內說出：這是哪一種傳力？V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、V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各在擋什麼？間距和上限為什麼長這樣？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第一步 · 同樣叫「剪力」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三種傳力機制，三套完全不同的公式</a:t>
            </a:r>
            <a:endParaRPr lang="en-US" sz="2600" dirty="0"/>
          </a:p>
        </p:txBody>
      </p:sp>
      <p:pic>
        <p:nvPicPr>
          <p:cNvPr id="4" name="Image 0" descr="fig02_thre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28625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3596640" cy="1005840"/>
          </a:xfrm>
          <a:prstGeom prst="roundRect">
            <a:avLst>
              <a:gd name="adj" fmla="val 10909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3276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桁架：靠箍筋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裂縫出現後，箍筋當豎桿把剪力一格一格往支承傳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440680"/>
            <a:ext cx="3596640" cy="1005840"/>
          </a:xfrm>
          <a:prstGeom prst="roundRect">
            <a:avLst>
              <a:gd name="adj" fmla="val 1090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513832"/>
            <a:ext cx="3276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STM：靠拱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載重與支承之間直接形成混凝土壓桿，縱筋當繫桿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440680"/>
            <a:ext cx="3596640" cy="1005840"/>
          </a:xfrm>
          <a:prstGeom prst="roundRect">
            <a:avLst>
              <a:gd name="adj" fmla="val 10909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513832"/>
            <a:ext cx="32766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剪力摩擦：靠夾緊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介面滑動要先爬過鋸齒，把鋼筋拉長，產生夾緊力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66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第一步 · B 區與 D 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擾動約在 1 倍梁深內消散：D 區只存在支承與載重附近</a:t>
            </a:r>
            <a:endParaRPr lang="en-US" sz="2600" dirty="0"/>
          </a:p>
        </p:txBody>
      </p:sp>
      <p:pic>
        <p:nvPicPr>
          <p:cNvPr id="4" name="Image 0" descr="fig03_b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051" y="1280160"/>
            <a:ext cx="10723418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03520"/>
            <a:ext cx="3596640" cy="1143000"/>
          </a:xfrm>
          <a:prstGeom prst="roundRect">
            <a:avLst>
              <a:gd name="adj" fmla="val 9600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376672"/>
            <a:ext cx="32766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 區（Bernoulli）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平截面假設成立 → 斷面法：V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303520"/>
            <a:ext cx="3596640" cy="1143000"/>
          </a:xfrm>
          <a:prstGeom prst="roundRect">
            <a:avLst>
              <a:gd name="adj" fmla="val 9600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376672"/>
            <a:ext cx="32766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區（Discontinuity）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應力在支承、集中載重、開孔附近亂掉；範圍約 h → 用 STM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303520"/>
            <a:ext cx="3596640" cy="1143000"/>
          </a:xfrm>
          <a:prstGeom prst="roundRect">
            <a:avLst>
              <a:gd name="adj" fmla="val 96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376672"/>
            <a:ext cx="32766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關鍵判斷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 D 區接在一起 = 沒有 B 區可用 → 整段剪跨都是深梁行為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第一步 · 判準 a/d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剪力跨深比一條數線，決定你打開哪個工具箱</a:t>
            </a:r>
            <a:endParaRPr lang="en-US" sz="2600" dirty="0"/>
          </a:p>
        </p:txBody>
      </p:sp>
      <p:pic>
        <p:nvPicPr>
          <p:cNvPr id="4" name="Image 0" descr="fig04_ad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280160"/>
            <a:ext cx="109728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94960"/>
            <a:ext cx="3596640" cy="1051560"/>
          </a:xfrm>
          <a:prstGeom prst="roundRect">
            <a:avLst>
              <a:gd name="adj" fmla="val 1043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468112"/>
            <a:ext cx="3276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規範判準（深梁）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淨跨 l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4h，或集中載重距支承面 ≤ 2h（約 a/d ≤ 2）→ STM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394960"/>
            <a:ext cx="3596640" cy="1051560"/>
          </a:xfrm>
          <a:prstGeom prst="roundRect">
            <a:avLst>
              <a:gd name="adj" fmla="val 10435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468112"/>
            <a:ext cx="3276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 a/d 小反而強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拱作用讓力直接斜傳到支承；用 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算會嚴重低估，還配了一堆沒用的箍筋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394960"/>
            <a:ext cx="3596640" cy="1051560"/>
          </a:xfrm>
          <a:prstGeom prst="roundRect">
            <a:avLst>
              <a:gd name="adj" fmla="val 1043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468112"/>
            <a:ext cx="3276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反過來更危險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把細長梁當深梁用 STM，會高估強度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第一步 · 考場三問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先看名稱、再看幾何、最後看介面</a:t>
            </a:r>
            <a:endParaRPr lang="en-US" sz="2600" dirty="0"/>
          </a:p>
        </p:txBody>
      </p:sp>
      <p:pic>
        <p:nvPicPr>
          <p:cNvPr id="4" name="Image 0" descr="fig05_flow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44627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760720"/>
            <a:ext cx="11064240" cy="685800"/>
          </a:xfrm>
          <a:prstGeom prst="roundRect">
            <a:avLst>
              <a:gd name="adj" fmla="val 16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833872"/>
            <a:ext cx="10744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讀題順序有道理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名稱最快（出題者已經告訴你）；幾何要算 a/d；介面最容易漏看——施工縫、新舊混凝土、預鑄接合都是剪力摩擦的暗示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第二步 · 桁架類比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把開裂的梁看成桁架：誰拉、誰壓一目了然</a:t>
            </a:r>
            <a:endParaRPr lang="en-US" sz="2600" dirty="0"/>
          </a:p>
        </p:txBody>
      </p:sp>
      <p:pic>
        <p:nvPicPr>
          <p:cNvPr id="4" name="Image 0" descr="fig06_trus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60" y="1280160"/>
            <a:ext cx="10972800" cy="4023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94960"/>
            <a:ext cx="3596640" cy="1051560"/>
          </a:xfrm>
          <a:prstGeom prst="roundRect">
            <a:avLst>
              <a:gd name="adj" fmla="val 1043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468112"/>
            <a:ext cx="3276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斜桿為何是壓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裂縫把混凝土切成一條條斜向長條，長條之間只能傳壓力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82440" y="5394960"/>
            <a:ext cx="3596640" cy="1051560"/>
          </a:xfrm>
          <a:prstGeom prst="roundRect">
            <a:avLst>
              <a:gd name="adj" fmla="val 1043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65320" y="5468112"/>
            <a:ext cx="3276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豎桿為何是拉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斜壓桿的垂直分量要靠箍筋往上「吊」回上弦，所以箍筋受拉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016240" y="5394960"/>
            <a:ext cx="3596640" cy="1051560"/>
          </a:xfrm>
          <a:prstGeom prst="roundRect">
            <a:avLst>
              <a:gd name="adj" fmla="val 10435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99120" y="5468112"/>
            <a:ext cx="3276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這就是 V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所有穿過斜裂縫的豎桿（箍筋）拉力的總和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第二步 · V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與 V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的物理分工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兩個量、兩種物理：V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是抗拉的故事，V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的天花板是抗壓的故事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572000"/>
                <a:gridCol w="4572000"/>
              </a:tblGrid>
              <a:tr h="566928">
                <a:tc>
                  <a:txBody>
                    <a:bodyPr/>
                    <a:lstStyle/>
                    <a:p>
                      <a:endParaRPr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混凝土剪力強度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箍筋剪力強度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物理意義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斜裂縫「出現」那一刻的剪力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裂縫出現「之後」箍筋縫住裂縫的能力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材料問題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抗拉 → ∝ √f′c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D4BC2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鋼筋降伏 → ∝ A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6D4BC2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6D4BC2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f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6D4BC2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yt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公式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0.53√f′c b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d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A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f</a:t>
                      </a:r>
                      <a:pPr indent="0" marL="0">
                        <a:buNone/>
                      </a:pPr>
                      <a:r>
                        <a:rPr lang="en-US" sz="15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yt</a:t>
                      </a:r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d / s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上限來自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無（本身就是試驗下限）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混凝土斜壓桿壓碎 → V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</a:t>
                      </a:r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≤ 4V</a:t>
                      </a:r>
                      <a:pPr indent="0" marL="0">
                        <a:buNone/>
                      </a:pPr>
                      <a:r>
                        <a:rPr lang="en-US" sz="1500" b="1" baseline="-400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加大的方法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加大斷面、提高 f′c（開根號，效益低）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加密箍筋、加大箍筋（線性，但有天花板）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歸零時機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耐震塑鉸區（兩條件）、大軸拉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不會歸零（= 0 表示不需箍筋）</a:t>
                      </a:r>
                      <a:endParaRPr lang="en-US" sz="1200" dirty="0"/>
                    </a:p>
                  </a:txBody>
                  <a:tcPr marL="91440" marR="91440" marT="91440" marB="91440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5778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示範梁：V</a:t>
            </a:r>
            <a:pPr indent="0" marL="0">
              <a:buNone/>
            </a:pPr>
            <a:r>
              <a:rPr lang="en-US" sz="16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6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13.30 tf；D13 雙肢 s = 15 → V</a:t>
            </a:r>
            <a:pPr indent="0" marL="0">
              <a:buNone/>
            </a:pPr>
            <a:r>
              <a:rPr lang="en-US" sz="16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6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35.48 tf；天花板 4V</a:t>
            </a:r>
            <a:pPr indent="0" marL="0">
              <a:buNone/>
            </a:pPr>
            <a:r>
              <a:rPr lang="en-US" sz="16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6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53.21 tf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第二步 · V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到底是誰在撐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沿斜裂縫切開：混凝土還有三條路，加上短剪跨的拱作用</a:t>
            </a:r>
            <a:endParaRPr lang="en-US" sz="2600" dirty="0"/>
          </a:p>
        </p:txBody>
      </p:sp>
      <p:pic>
        <p:nvPicPr>
          <p:cNvPr id="4" name="Image 0" descr="fig08_source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28625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骨材互鎖最大宗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裂縫越寬，互鎖越弱：這就是為什麼要用箍筋把裂縫「夾住」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塑鉸區 V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0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反覆載重使裂縫貫穿全深、裂面磨平 → 四項一起消失（須 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≥ 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/2 且 P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&lt; A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g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f′c/20）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第三步 · V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是數出來的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畫一條 45° 裂縫，數它穿過幾支箍筋</a:t>
            </a:r>
            <a:endParaRPr lang="en-US" sz="2600" dirty="0"/>
          </a:p>
        </p:txBody>
      </p:sp>
      <p:pic>
        <p:nvPicPr>
          <p:cNvPr id="4" name="Image 0" descr="fig09_v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051" y="1280160"/>
            <a:ext cx="10723418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5852160" cy="1097280"/>
          </a:xfrm>
          <a:prstGeom prst="roundRect">
            <a:avLst>
              <a:gd name="adj" fmla="val 10000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40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推導（n = d/s 支，每支 A</a:t>
            </a:r>
            <a:pPr indent="0" marL="0">
              <a:buNone/>
            </a:pPr>
            <a:r>
              <a:rPr lang="en-US" sz="14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f</a:t>
            </a:r>
            <a:pPr indent="0" marL="0">
              <a:buNone/>
            </a:pPr>
            <a:r>
              <a:rPr lang="en-US" sz="14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yt</a:t>
            </a:r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）</a:t>
            </a:r>
            <a:endParaRPr lang="en-US" sz="1400" dirty="0"/>
          </a:p>
        </p:txBody>
      </p:sp>
      <p:pic>
        <p:nvPicPr>
          <p:cNvPr id="8" name="Image 1" descr="m_vs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824728"/>
            <a:ext cx="2943454" cy="4663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537960" y="5349240"/>
            <a:ext cx="5074920" cy="1097280"/>
          </a:xfrm>
          <a:prstGeom prst="roundRect">
            <a:avLst>
              <a:gd name="adj" fmla="val 10000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720840" y="544068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示範梁：D13 雙肢、s = 15 cm</a:t>
            </a:r>
            <a:endParaRPr lang="en-US" sz="1400" dirty="0"/>
          </a:p>
        </p:txBody>
      </p:sp>
      <p:pic>
        <p:nvPicPr>
          <p:cNvPr id="11" name="Image 2" descr="m_vs15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20840" y="5804154"/>
            <a:ext cx="3116275" cy="5074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第三步 · A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是「一組」箍筋的總面積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數裂縫面切到幾根腿，再乘單肢面積</a:t>
            </a:r>
            <a:endParaRPr lang="en-US" sz="2600" dirty="0"/>
          </a:p>
        </p:txBody>
      </p:sp>
      <p:pic>
        <p:nvPicPr>
          <p:cNvPr id="4" name="Image 0" descr="fig10_av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28625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單位對好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（cm²）、f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yt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（kgf/cm²）、d 與 s（cm）→ 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單位 kgf，÷1000 得 tf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加肢比加密有時更好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D13 四肢 s = 20 與雙肢 s = 10 的 A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/s 相同（0.253 cm²/cm），但施工空間大得多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第三步 · s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</a:t>
            </a:r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的由來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不讓任何一條裂縫「漏網」：拉桿要真的存在</a:t>
            </a:r>
            <a:endParaRPr lang="en-US" sz="2600" dirty="0"/>
          </a:p>
        </p:txBody>
      </p:sp>
      <p:pic>
        <p:nvPicPr>
          <p:cNvPr id="4" name="Image 0" descr="fig11_smax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6705" y="1280160"/>
            <a:ext cx="10848109" cy="3977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949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864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規範間距上限（kgf、cm 制；2V</a:t>
            </a:r>
            <a:pPr indent="0" marL="0">
              <a:buNone/>
            </a:pPr>
            <a:r>
              <a:rPr lang="en-US" sz="14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1.06√f′c b</a:t>
            </a:r>
            <a:pPr indent="0" marL="0">
              <a:buNone/>
            </a:pPr>
            <a:r>
              <a:rPr lang="en-US" sz="14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d）</a:t>
            </a:r>
            <a:endParaRPr lang="en-US" sz="1400" dirty="0"/>
          </a:p>
        </p:txBody>
      </p:sp>
      <p:pic>
        <p:nvPicPr>
          <p:cNvPr id="8" name="Image 1" descr="m_smax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859932"/>
            <a:ext cx="5179162" cy="4416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第三步 · 天花板從哪來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斜壓桿的壓應力 ≈ 2V/(b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jd)：剪力越大，壓桿越吃緊</a:t>
            </a:r>
            <a:endParaRPr lang="en-US" sz="2600" dirty="0"/>
          </a:p>
        </p:txBody>
      </p:sp>
      <p:pic>
        <p:nvPicPr>
          <p:cNvPr id="4" name="Image 0" descr="fig07_stru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051" y="1280160"/>
            <a:ext cx="10723418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548640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406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由垂直切面的力平衡（θ 為斜桿角）</a:t>
            </a:r>
            <a:endParaRPr lang="en-US" sz="1400" dirty="0"/>
          </a:p>
        </p:txBody>
      </p:sp>
      <p:pic>
        <p:nvPicPr>
          <p:cNvPr id="8" name="Image 1" descr="m_strut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812384"/>
            <a:ext cx="2622499" cy="49103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172200" y="5349240"/>
            <a:ext cx="5440680" cy="109728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55080" y="544068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示範梁 V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n,max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（jd ≈ 0.9d = 45 cm）</a:t>
            </a:r>
            <a:endParaRPr lang="en-US" sz="1400" dirty="0"/>
          </a:p>
        </p:txBody>
      </p:sp>
      <p:pic>
        <p:nvPicPr>
          <p:cNvPr id="11" name="Image 2" descr="m_strutd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5080" y="5760720"/>
            <a:ext cx="336804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第三步 · 天花板：V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4V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箍筋越密 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越大——直到斜壓桿先壓碎</a:t>
            </a:r>
            <a:endParaRPr lang="en-US" sz="2600" dirty="0"/>
          </a:p>
        </p:txBody>
      </p:sp>
      <p:pic>
        <p:nvPicPr>
          <p:cNvPr id="4" name="Image 0" descr="fig12_ceili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051" y="1280160"/>
            <a:ext cx="10723418" cy="3931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349240"/>
            <a:ext cx="6583680" cy="1097280"/>
          </a:xfrm>
          <a:prstGeom prst="roundRect">
            <a:avLst>
              <a:gd name="adj" fmla="val 10000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5440680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上限（用基本式 V</a:t>
            </a:r>
            <a:pPr indent="0" marL="0">
              <a:buNone/>
            </a:pPr>
            <a:r>
              <a:rPr lang="en-US" sz="14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；兩式等價）</a:t>
            </a:r>
            <a:endParaRPr lang="en-US" sz="1400" dirty="0"/>
          </a:p>
        </p:txBody>
      </p:sp>
      <p:pic>
        <p:nvPicPr>
          <p:cNvPr id="8" name="Image 1" descr="m_vsmax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875477"/>
            <a:ext cx="3840480" cy="36484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269480" y="5349240"/>
            <a:ext cx="4343400" cy="1097280"/>
          </a:xfrm>
          <a:prstGeom prst="roundRect">
            <a:avLst>
              <a:gd name="adj" fmla="val 10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52360" y="5422392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為什麼要封頂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箍筋降伏 = 有預警的韌性破壞；斜壓桿壓碎 = 脆性。上限確保先發生前者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區工具箱 · STM 示範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轉換深梁 a/d = 1.0：力走「一個三角形」</a:t>
            </a:r>
            <a:endParaRPr lang="en-US" sz="2600" dirty="0"/>
          </a:p>
        </p:txBody>
      </p:sp>
      <p:pic>
        <p:nvPicPr>
          <p:cNvPr id="4" name="Image 0" descr="fig13_st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28625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解題順序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定節點 → 畫桁架 → 節點平衡求 C、T → 拉桿配筋 → 壓桿與節點應力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為什麼不用 V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V</a:t>
            </a:r>
            <a:pPr indent="0" marL="0">
              <a:spcAft>
                <a:spcPts val="200"/>
              </a:spcAft>
              <a:buNone/>
            </a:pPr>
            <a:r>
              <a:rPr lang="en-US" sz="1400" b="1" baseline="-4000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這裡的剪力是壓桿的垂直分量直接送到支承，箍筋主要是控制裂縫寬度（最少分佈筋）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 區工具箱 · 三件事都要驗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壓桿、拉桿、節點——強度都寫成 φF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≥ F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壓桿與節點的有效抗壓強度</a:t>
            </a:r>
            <a:endParaRPr lang="en-US" sz="1400" dirty="0"/>
          </a:p>
        </p:txBody>
      </p:sp>
      <p:pic>
        <p:nvPicPr>
          <p:cNvPr id="6" name="Image 0" descr="m_fc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932127"/>
            <a:ext cx="5310835" cy="296266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5486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2296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壓桿 β</a:t>
                      </a:r>
                      <a:pPr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值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說明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稜柱形（寬度均勻）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1.00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如深梁頂部壓力區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瓶形，有足夠分佈筋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0.75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本例採用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瓶形，無分佈筋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0.60λ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壓桿中段會劈裂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位於受拉構材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0.40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651760"/>
          <a:ext cx="54406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22960"/>
                <a:gridCol w="23317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節點 β</a:t>
                      </a:r>
                      <a:pPr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值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說明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C-C-C（全受壓）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1.00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載重點下方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C-C-T（錨一根拉桿）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0.80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本例支承節點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C-T-T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0.60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錨兩根以上拉桿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6172200" y="4572000"/>
            <a:ext cx="5440680" cy="457200"/>
          </a:xfrm>
          <a:prstGeom prst="roundRect">
            <a:avLst>
              <a:gd name="adj" fmla="val 24000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355080" y="4572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拉桿：F</a:t>
            </a:r>
            <a:pPr indent="0" marL="0"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n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= A</a:t>
            </a:r>
            <a:pPr indent="0" marL="0"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f</a:t>
            </a:r>
            <a:pPr indent="0" marL="0"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；拉桿鋼筋必須錨定在節點外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548640" y="51663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1B2432"/>
          </a:solidFill>
          <a:ln w="12700">
            <a:solidFill>
              <a:srgbClr val="1B2432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822960" y="5230368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示範深梁三件事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拉桿 A</a:t>
            </a:r>
            <a:pPr indent="0" marL="0">
              <a:spcAft>
                <a:spcPts val="500"/>
              </a:spcAft>
              <a:buNone/>
            </a:pPr>
            <a:r>
              <a:rPr lang="en-US" sz="15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≥ 35.7 cm² → 8-D25（40.5）；壓桿 f</a:t>
            </a:r>
            <a:pPr indent="0" marL="0">
              <a:spcAft>
                <a:spcPts val="500"/>
              </a:spcAft>
              <a:buNone/>
            </a:pPr>
            <a:r>
              <a:rPr lang="en-US" sz="15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ce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178.5 → 需寬 28.1 cm；支承節點 f</a:t>
            </a:r>
            <a:pPr indent="0" marL="0">
              <a:spcAft>
                <a:spcPts val="500"/>
              </a:spcAft>
              <a:buNone/>
            </a:pPr>
            <a:r>
              <a:rPr lang="en-US" sz="15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ce</a:t>
            </a:r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190.4 → 支承板 ≥ 17.5 cm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壓桿與拉桿夾角不得小於 25°（本例 41.6°）；深梁另有 V</a:t>
            </a:r>
            <a:pPr indent="0" marL="0">
              <a:spcAft>
                <a:spcPts val="500"/>
              </a:spcAft>
              <a:buNone/>
            </a:pPr>
            <a:r>
              <a:rPr lang="en-US" sz="1300" baseline="-400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φ(2.65√f′c b</a:t>
            </a:r>
            <a:pPr indent="0" marL="0">
              <a:spcAft>
                <a:spcPts val="500"/>
              </a:spcAft>
              <a:buNone/>
            </a:pPr>
            <a:r>
              <a:rPr lang="en-US" sz="1300" baseline="-400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d) 的斷面上限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滑動面工具箱 · 剪力摩擦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鋸齒爬坡把介面撐開 → 鋼筋受拉 → 夾緊力 × μ = 抗剪</a:t>
            </a:r>
            <a:endParaRPr lang="en-US" sz="2600" dirty="0"/>
          </a:p>
        </p:txBody>
      </p:sp>
      <p:pic>
        <p:nvPicPr>
          <p:cNvPr id="4" name="Image 0" descr="fig14_frictio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28625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關鍵在「張開」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沒有張開就沒有拉長；所以鋼筋一定要跨過介面、兩側都錨定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μ 反映粗糙度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一體澆置 1.4 ＞ 打毛 1.0 ＞ 未打毛 0.6：施工縫打毛是在賺 μ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滑動面工具箱 · 示範：施工縫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介面 30 × 60 cm，V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60 tf，f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4200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6304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強度式與上限（上限另有與 f′c、A</a:t>
            </a:r>
            <a:pPr indent="0" marL="0">
              <a:buNone/>
            </a:pPr>
            <a:r>
              <a:rPr lang="en-US" sz="1400" b="1" baseline="-40000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相關的條款，依規範查）</a:t>
            </a:r>
            <a:endParaRPr lang="en-US" sz="1400" dirty="0"/>
          </a:p>
        </p:txBody>
      </p:sp>
      <p:pic>
        <p:nvPicPr>
          <p:cNvPr id="6" name="Image 0" descr="m_sf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1972361"/>
            <a:ext cx="4079138" cy="30723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2697480"/>
            <a:ext cx="5486400" cy="1325880"/>
          </a:xfrm>
          <a:prstGeom prst="roundRect">
            <a:avLst>
              <a:gd name="adj" fmla="val 8276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7889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打毛（μ = 1.0）所需鋼筋</a:t>
            </a:r>
            <a:endParaRPr lang="en-US" sz="1400" dirty="0"/>
          </a:p>
        </p:txBody>
      </p:sp>
      <p:pic>
        <p:nvPicPr>
          <p:cNvPr id="9" name="Image 1" descr="m_sf_d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3108960"/>
            <a:ext cx="3386418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" y="363931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10-D16（19.86 cm²）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172200" y="2697480"/>
            <a:ext cx="5440680" cy="1325880"/>
          </a:xfrm>
          <a:prstGeom prst="roundRect">
            <a:avLst>
              <a:gd name="adj" fmla="val 8276"/>
            </a:avLst>
          </a:prstGeom>
          <a:solidFill>
            <a:srgbClr val="E6F2EF"/>
          </a:solidFill>
          <a:ln w="12700">
            <a:solidFill>
              <a:srgbClr val="9CC7BC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355080" y="278892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檢查上限</a:t>
            </a:r>
            <a:endParaRPr lang="en-US" sz="1400" dirty="0"/>
          </a:p>
        </p:txBody>
      </p:sp>
      <p:pic>
        <p:nvPicPr>
          <p:cNvPr id="13" name="Image 2" descr="m_sf_cap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5080" y="3189427"/>
            <a:ext cx="4841748" cy="2962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355080" y="363931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上限代表介面混凝土本身會先壓碎／剪壞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4206240"/>
            <a:ext cx="11064240" cy="2240280"/>
          </a:xfrm>
          <a:prstGeom prst="roundRect">
            <a:avLst>
              <a:gd name="adj" fmla="val 4898"/>
            </a:avLst>
          </a:prstGeom>
          <a:solidFill>
            <a:srgbClr val="1B2432"/>
          </a:solidFill>
          <a:ln w="12700">
            <a:solidFill>
              <a:srgbClr val="1B243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22960" y="4315968"/>
            <a:ext cx="10515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打毛的價值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若施工縫沒打毛（μ = 0.6）：A</a:t>
            </a:r>
            <a:pPr indent="0" marL="0">
              <a:spcAft>
                <a:spcPts val="800"/>
              </a:spcAft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vf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31.75 cm²，比打毛多 66.7%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考場提醒：題目只要出現「新舊混凝土」「施工縫」「預鑄接合面」，先想剪力摩擦，不要直接代 V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V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D6DEE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9FB3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永久淨壓力可視為額外的夾緊力；介面上的淨拉力則要另配鋼筋抵銷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6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串起來 · 考場四步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認機制 → 反算 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→ 查天花板 → 定間距</a:t>
            </a:r>
            <a:endParaRPr lang="en-US" sz="2600" dirty="0"/>
          </a:p>
        </p:txBody>
      </p:sp>
      <p:pic>
        <p:nvPicPr>
          <p:cNvPr id="4" name="Image 0" descr="fig15_step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286256"/>
            <a:ext cx="11064240" cy="405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 取兩者較小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強度要求的 s（13.3）與規範 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（d/4 = 12.5）都要滿足：這題由 s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控制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440680"/>
            <a:ext cx="5463540" cy="1005840"/>
          </a:xfrm>
          <a:prstGeom prst="roundRect">
            <a:avLst>
              <a:gd name="adj" fmla="val 10909"/>
            </a:avLst>
          </a:prstGeom>
          <a:solidFill>
            <a:srgbClr val="F4F6F9"/>
          </a:solidFill>
          <a:ln w="12700">
            <a:solidFill>
              <a:srgbClr val="D5DAE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513832"/>
            <a:ext cx="51435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實務會取整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 = 12.5 cm 施工上可行；若算出 12.8 之類，通常往下取 12 或 12.5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串起來 · V</a:t>
            </a:r>
            <a:pPr indent="0" marL="0">
              <a:buNone/>
            </a:pPr>
            <a:r>
              <a:rPr lang="en-US" sz="1200" b="1" baseline="-40000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落在哪一區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所有分界點都是 V</a:t>
            </a:r>
            <a:pPr indent="0" marL="0">
              <a:buNone/>
            </a:pPr>
            <a:r>
              <a:rPr lang="en-US" sz="2600" b="1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的倍數</a:t>
            </a:r>
            <a:endParaRPr lang="en-US" sz="2600" dirty="0"/>
          </a:p>
        </p:txBody>
      </p:sp>
      <p:pic>
        <p:nvPicPr>
          <p:cNvPr id="4" name="Image 0" descr="fig16_zone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402080"/>
            <a:ext cx="11064240" cy="3688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303520"/>
            <a:ext cx="5463540" cy="1143000"/>
          </a:xfrm>
          <a:prstGeom prst="roundRect">
            <a:avLst>
              <a:gd name="adj" fmla="val 9600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5376672"/>
            <a:ext cx="51435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記法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½、1、3、5：φV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乘上這四個數，就是四個分界點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49340" y="5303520"/>
            <a:ext cx="5463540" cy="1143000"/>
          </a:xfrm>
          <a:prstGeom prst="roundRect">
            <a:avLst>
              <a:gd name="adj" fmla="val 9600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32220" y="5376672"/>
            <a:ext cx="51435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示範梁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40 落在 φ3V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（29.93）與 φ5V</a:t>
            </a:r>
            <a:pPr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（49.89）之間 → s ≤ d/4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考場速查 · 讀題 → 選工具箱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看到關鍵字，直接鎖定機制與公式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931920"/>
                <a:gridCol w="3566160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題目線索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機制／公式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計算注意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2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D4BC2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一般梁、均佈載重、a/d &gt; 2.5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桁架類比：V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≤ φ(V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+ V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φ = 0.75；V</a:t>
                      </a:r>
                      <a:pPr indent="0" marL="0">
                        <a:buNone/>
                      </a:pPr>
                      <a:r>
                        <a:rPr lang="en-US" sz="13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A</a:t>
                      </a:r>
                      <a:pPr indent="0" marL="0">
                        <a:buNone/>
                      </a:pPr>
                      <a:r>
                        <a:rPr lang="en-US" sz="13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f</a:t>
                      </a:r>
                      <a:pPr indent="0" marL="0">
                        <a:buNone/>
                      </a:pPr>
                      <a:r>
                        <a:rPr lang="en-US" sz="13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yt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d/s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深梁、托架、牛腿、接頭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STM：壓桿 β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、拉桿、節點 β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n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</a:t>
                      </a:r>
                      <a:pPr indent="0" marL="0">
                        <a:buNone/>
                      </a:pPr>
                      <a:r>
                        <a:rPr lang="en-US" sz="13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ce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0.85βf′c；夾角 ≥ 25°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集中載重距支承 ≤ 2h、l</a:t>
                      </a:r>
                      <a:pPr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F54C8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≤ 4h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STM（D 區連成一片）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不要算 V</a:t>
                      </a:r>
                      <a:pPr indent="0" marL="0">
                        <a:buNone/>
                      </a:pPr>
                      <a:r>
                        <a:rPr lang="en-US" sz="13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+ V</a:t>
                      </a:r>
                      <a:pPr indent="0" marL="0">
                        <a:buNone/>
                      </a:pPr>
                      <a:r>
                        <a:rPr lang="en-US" sz="13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施工縫、新舊混凝土、預鑄接合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剪力摩擦：V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n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μA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vf</a:t>
                      </a:r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f</a:t>
                      </a:r>
                      <a:pPr indent="0" marL="0">
                        <a:buNone/>
                      </a:pPr>
                      <a:r>
                        <a:rPr lang="en-US" sz="1400" baseline="-400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y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μ：1.4／1.0／0.6；檢查上限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</a:t>
                      </a:r>
                      <a:pPr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≤ 2V</a:t>
                      </a:r>
                      <a:pPr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2E7D6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 ≤ min(d/2, 60 cm)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2V</a:t>
                      </a:r>
                      <a:pPr indent="0" marL="0">
                        <a:buNone/>
                      </a:pPr>
                      <a:r>
                        <a:rPr lang="en-US" sz="13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= 1.06√f′c b</a:t>
                      </a:r>
                      <a:pPr indent="0" marL="0">
                        <a:buNone/>
                      </a:pPr>
                      <a:r>
                        <a:rPr lang="en-US" sz="1300" baseline="-400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w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d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2V</a:t>
                      </a:r>
                      <a:pPr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B7791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&lt; V</a:t>
                      </a:r>
                      <a:pPr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B7791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7791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≤ 4V</a:t>
                      </a:r>
                      <a:pPr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B7791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 ≤ min(d/4, 30 cm)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高剪力：裂縫密、角度緩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</a:t>
                      </a:r>
                      <a:pPr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s</a:t>
                      </a:r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 &gt; 4V</a:t>
                      </a:r>
                      <a:pPr indent="0" marL="0">
                        <a:buNone/>
                      </a:pPr>
                      <a:r>
                        <a:rPr lang="en-US" sz="1400" b="1" baseline="-40000" dirty="0">
                          <a:solidFill>
                            <a:srgbClr val="C0392B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c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37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加大斷面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B7280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箍筋再多也沒用</a:t>
                      </a:r>
                      <a:endParaRPr lang="en-US" sz="12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表中 kgf、cm 制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高頻陷阱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六個最常掉分的地方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EEF2FB"/>
          </a:solidFill>
          <a:ln w="12700">
            <a:solidFill>
              <a:srgbClr val="B9C6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0876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深梁代 V</a:t>
            </a:r>
            <a:pPr indent="0" marL="0">
              <a:spcAft>
                <a:spcPts val="800"/>
              </a:spcAft>
              <a:buNone/>
            </a:pPr>
            <a:r>
              <a:rPr lang="en-US" sz="17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+ V</a:t>
            </a:r>
            <a:pPr indent="0" marL="0">
              <a:spcAft>
                <a:spcPts val="800"/>
              </a:spcAft>
              <a:buNone/>
            </a:pPr>
            <a:r>
              <a:rPr lang="en-US" sz="1700" b="1" baseline="-40000" dirty="0">
                <a:solidFill>
                  <a:srgbClr val="2F54C8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嚴重低估強度、白配一堆箍筋；看到深梁、托架、牛腿先換 STM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70248" y="13716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1416" y="150876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pPr indent="0" marL="0">
              <a:spcAft>
                <a:spcPts val="800"/>
              </a:spcAft>
              <a:buNone/>
            </a:pPr>
            <a:r>
              <a:rPr lang="en-US" sz="1700" b="1" baseline="-40000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只算一根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雙肢箍 A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2 × 單肢；D13 雙肢是 2.534，不是 1.267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991856" y="137160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1EDFA"/>
          </a:solidFill>
          <a:ln w="12700">
            <a:solidFill>
              <a:srgbClr val="C9BC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93024" y="150876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4V</a:t>
            </a:r>
            <a:pPr indent="0" marL="0">
              <a:spcAft>
                <a:spcPts val="800"/>
              </a:spcAft>
              <a:buNone/>
            </a:pPr>
            <a:r>
              <a:rPr lang="en-US" sz="17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的 V</a:t>
            </a:r>
            <a:pPr indent="0" marL="0">
              <a:spcAft>
                <a:spcPts val="800"/>
              </a:spcAft>
              <a:buNone/>
            </a:pPr>
            <a:r>
              <a:rPr lang="en-US" sz="1700" b="1" baseline="-40000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6D4BC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用基本式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上限寫死 2.12√f′c b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d；軸拉或精算後的 V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不能拿來 ×4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406908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 只看強度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強度算出 13.3 cm 還不夠：V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&gt; 2V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時 s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d/4 = 12.5 才是答案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270248" y="393192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BF3E4"/>
          </a:solidFill>
          <a:ln w="12700">
            <a:solidFill>
              <a:srgbClr val="E6CF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71416" y="406908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B7791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施工縫當一般梁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有明確滑動面就用剪力摩擦；μ 依表面處理選，別忘了上限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991856" y="3931920"/>
            <a:ext cx="3611880" cy="2377440"/>
          </a:xfrm>
          <a:prstGeom prst="roundRect">
            <a:avLst>
              <a:gd name="adj" fmla="val 4615"/>
            </a:avLst>
          </a:prstGeom>
          <a:solidFill>
            <a:srgbClr val="FBECEA"/>
          </a:solidFill>
          <a:ln w="12700">
            <a:solidFill>
              <a:srgbClr val="EBB4A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193024" y="4069080"/>
            <a:ext cx="3246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超過天花板還加箍筋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&gt; 4V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時加箍筋無效：斜壓桿先碎 → 加大 b</a:t>
            </a:r>
            <a:pPr indent="0" marL="0">
              <a:spcAft>
                <a:spcPts val="800"/>
              </a:spcAft>
              <a:buNone/>
            </a:pPr>
            <a:r>
              <a:rPr lang="en-US" sz="1500" baseline="-400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F2A3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或 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3AE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重點回顧：先認路，再數箍筋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530352" cy="530352"/>
          </a:xfrm>
          <a:prstGeom prst="ellipse">
            <a:avLst/>
          </a:prstGeom>
          <a:solidFill>
            <a:srgbClr val="A58BE6"/>
          </a:solidFill>
          <a:ln w="12700">
            <a:solidFill>
              <a:srgbClr val="A58BE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55448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三種傳力：桁架（B 區）、STM（D 區）、剪力摩擦（滑動面）；a/d 與關鍵字決定工具箱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530352" cy="530352"/>
          </a:xfrm>
          <a:prstGeom prst="ellipse">
            <a:avLst/>
          </a:prstGeom>
          <a:solidFill>
            <a:srgbClr val="8FA8F0"/>
          </a:solidFill>
          <a:ln w="12700">
            <a:solidFill>
              <a:srgbClr val="8FA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468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37744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桁架類比：上弦壓、下弦拉、箍筋是受拉豎桿、裂縫間混凝土是受壓斜桿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530352" cy="530352"/>
          </a:xfrm>
          <a:prstGeom prst="ellipse">
            <a:avLst/>
          </a:prstGeom>
          <a:solidFill>
            <a:srgbClr val="7FC8B4"/>
          </a:solidFill>
          <a:ln w="12700">
            <a:solidFill>
              <a:srgbClr val="7FC8B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291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20040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開裂瞬間的抗拉故事（四個來源）；塑鉸區兩條件成立時歸零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530352" cy="530352"/>
          </a:xfrm>
          <a:prstGeom prst="ellipse">
            <a:avLst/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1148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402336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(d/s) 支 × A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f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yt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；s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= d/2 讓中深度以下的裂縫至少碰到 1 支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937760"/>
            <a:ext cx="530352" cy="530352"/>
          </a:xfrm>
          <a:prstGeom prst="ellipse">
            <a:avLst/>
          </a:prstGeom>
          <a:solidFill>
            <a:srgbClr val="F08A7E"/>
          </a:solidFill>
          <a:ln w="12700">
            <a:solidFill>
              <a:srgbClr val="F08A7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9377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432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484632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天花板 V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≤ 4V</a:t>
            </a:r>
            <a:pPr indent="0" marL="0">
              <a:buNone/>
            </a:pPr>
            <a:r>
              <a:rPr lang="en-US" sz="1700" baseline="-400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 是抗壓的故事：斜壓桿先碎就是脆性破壞 → 加大斷面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89788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A65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下一步：拼圖三——一般梁四道關卡（最少箍筋 → 強度 → 天花板 → 間距），用歷屆考題把流程跑一遍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RC-U2-1 拼圖二：三大傳力機制與桁架類比</dc:title>
  <dc:subject>PptxGenJS Presentation</dc:subject>
  <dc:creator>PptxGenJS</dc:creator>
  <cp:lastModifiedBy>PptxGenJS</cp:lastModifiedBy>
  <cp:revision>1</cp:revision>
  <dcterms:created xsi:type="dcterms:W3CDTF">2026-09-25T12:48:08Z</dcterms:created>
  <dcterms:modified xsi:type="dcterms:W3CDTF">2026-09-25T12:48:08Z</dcterms:modified>
</cp:coreProperties>
</file>