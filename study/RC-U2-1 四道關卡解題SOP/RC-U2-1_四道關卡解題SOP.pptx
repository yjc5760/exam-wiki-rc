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7.png"/><Relationship Id="rId8" Type="http://schemas.openxmlformats.org/officeDocument/2006/relationships/image" Target="../media/image-13-8.svg"/><Relationship Id="rId9" Type="http://schemas.openxmlformats.org/officeDocument/2006/relationships/image" Target="../media/image-13-9.png"/><Relationship Id="rId10" Type="http://schemas.openxmlformats.org/officeDocument/2006/relationships/image" Target="../media/image-13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image" Target="../media/image-17-5.png"/><Relationship Id="rId6" Type="http://schemas.openxmlformats.org/officeDocument/2006/relationships/image" Target="../media/image-17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image" Target="../media/image-19-3.png"/><Relationship Id="rId4" Type="http://schemas.openxmlformats.org/officeDocument/2006/relationships/image" Target="../media/image-19-4.svg"/><Relationship Id="rId5" Type="http://schemas.openxmlformats.org/officeDocument/2006/relationships/image" Target="../media/image-19-5.png"/><Relationship Id="rId6" Type="http://schemas.openxmlformats.org/officeDocument/2006/relationships/image" Target="../media/image-19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image" Target="../media/image-22-3.png"/><Relationship Id="rId4" Type="http://schemas.openxmlformats.org/officeDocument/2006/relationships/image" Target="../media/image-22-4.svg"/><Relationship Id="rId5" Type="http://schemas.openxmlformats.org/officeDocument/2006/relationships/image" Target="../media/image-22-5.png"/><Relationship Id="rId6" Type="http://schemas.openxmlformats.org/officeDocument/2006/relationships/image" Target="../media/image-22-6.svg"/><Relationship Id="rId7" Type="http://schemas.openxmlformats.org/officeDocument/2006/relationships/image" Target="../media/image-22-7.png"/><Relationship Id="rId8" Type="http://schemas.openxmlformats.org/officeDocument/2006/relationships/image" Target="../media/image-2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image" Target="../media/image-23-3.png"/><Relationship Id="rId4" Type="http://schemas.openxmlformats.org/officeDocument/2006/relationships/image" Target="../media/image-23-4.svg"/><Relationship Id="rId5" Type="http://schemas.openxmlformats.org/officeDocument/2006/relationships/image" Target="../media/image-23-5.png"/><Relationship Id="rId6" Type="http://schemas.openxmlformats.org/officeDocument/2006/relationships/image" Target="../media/image-2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svg"/><Relationship Id="rId3" Type="http://schemas.openxmlformats.org/officeDocument/2006/relationships/image" Target="../media/image-26-3.png"/><Relationship Id="rId4" Type="http://schemas.openxmlformats.org/officeDocument/2006/relationships/image" Target="../media/image-26-4.svg"/><Relationship Id="rId5" Type="http://schemas.openxmlformats.org/officeDocument/2006/relationships/image" Target="../media/image-26-5.png"/><Relationship Id="rId6" Type="http://schemas.openxmlformats.org/officeDocument/2006/relationships/image" Target="../media/image-26-6.svg"/><Relationship Id="rId7" Type="http://schemas.openxmlformats.org/officeDocument/2006/relationships/image" Target="../media/image-26-7.png"/><Relationship Id="rId8" Type="http://schemas.openxmlformats.org/officeDocument/2006/relationships/image" Target="../media/image-26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RC-U2-1　RC 剪力強度分析與設計｜觀念講義・拼圖三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四道關卡：一般梁剪力設計解題 SOP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697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CFA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先定 V</a:t>
            </a:r>
            <a:pPr indent="0" marL="0">
              <a:buNone/>
            </a:pPr>
            <a:r>
              <a:rPr lang="en-US" sz="2000" baseline="-40000" dirty="0">
                <a:solidFill>
                  <a:srgbClr val="E6CFA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buNone/>
            </a:pPr>
            <a:r>
              <a:rPr lang="en-US" sz="2000" dirty="0">
                <a:solidFill>
                  <a:srgbClr val="E6CFA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的位置 → 再選 V</a:t>
            </a:r>
            <a:pPr indent="0" marL="0">
              <a:buNone/>
            </a:pPr>
            <a:r>
              <a:rPr lang="en-US" sz="2000" baseline="-40000" dirty="0">
                <a:solidFill>
                  <a:srgbClr val="E6CFA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2000" dirty="0">
                <a:solidFill>
                  <a:srgbClr val="E6CFA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的公式 → 再判 V</a:t>
            </a:r>
            <a:pPr indent="0" marL="0">
              <a:buNone/>
            </a:pPr>
            <a:r>
              <a:rPr lang="en-US" sz="2000" baseline="-40000" dirty="0">
                <a:solidFill>
                  <a:srgbClr val="E6CFA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buNone/>
            </a:pPr>
            <a:r>
              <a:rPr lang="en-US" sz="2000" dirty="0">
                <a:solidFill>
                  <a:srgbClr val="E6CFA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區間檢核斷面 → 最後才算間距 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749040"/>
            <a:ext cx="2514600" cy="1097280"/>
          </a:xfrm>
          <a:prstGeom prst="roundRect">
            <a:avLst>
              <a:gd name="adj" fmla="val 8333"/>
            </a:avLst>
          </a:prstGeom>
          <a:solidFill>
            <a:srgbClr val="243044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38587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關卡 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251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</a:t>
            </a:r>
            <a:pPr indent="0" marL="0">
              <a:buNone/>
            </a:pPr>
            <a:r>
              <a:rPr lang="en-US" sz="2000" b="1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取在哪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474720" y="3749040"/>
            <a:ext cx="2514600" cy="1097280"/>
          </a:xfrm>
          <a:prstGeom prst="roundRect">
            <a:avLst>
              <a:gd name="adj" fmla="val 8333"/>
            </a:avLst>
          </a:prstGeom>
          <a:solidFill>
            <a:srgbClr val="243044"/>
          </a:solidFill>
          <a:ln w="25400">
            <a:solidFill>
              <a:srgbClr val="2F54C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7600" y="38587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關卡 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4251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</a:t>
            </a:r>
            <a:pPr indent="0" marL="0">
              <a:buNone/>
            </a:pPr>
            <a:r>
              <a:rPr lang="en-US" sz="2000" b="1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用哪張臉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17920" y="3749040"/>
            <a:ext cx="2514600" cy="1097280"/>
          </a:xfrm>
          <a:prstGeom prst="roundRect">
            <a:avLst>
              <a:gd name="adj" fmla="val 8333"/>
            </a:avLst>
          </a:prstGeom>
          <a:solidFill>
            <a:srgbClr val="243044"/>
          </a:solidFill>
          <a:ln w="25400">
            <a:solidFill>
              <a:srgbClr val="B9540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38587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關卡 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4251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</a:t>
            </a:r>
            <a:pPr indent="0" marL="0">
              <a:buNone/>
            </a:pPr>
            <a:r>
              <a:rPr lang="en-US" sz="2000" b="1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落在哪段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961120" y="3749040"/>
            <a:ext cx="2514600" cy="1097280"/>
          </a:xfrm>
          <a:prstGeom prst="roundRect">
            <a:avLst>
              <a:gd name="adj" fmla="val 8333"/>
            </a:avLst>
          </a:prstGeom>
          <a:solidFill>
            <a:srgbClr val="243044"/>
          </a:solidFill>
          <a:ln w="25400">
            <a:solidFill>
              <a:srgbClr val="1E844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0" y="38587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844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關卡 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0" y="4251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 四取小＋分區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3949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示範斷面 35×70（d = 63）、f′</a:t>
            </a:r>
            <a:pPr indent="0" marL="0">
              <a:buNone/>
            </a:pPr>
            <a:r>
              <a:rPr lang="en-US" sz="1500" baseline="-400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15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280、D13 雙肢；三個例題貫穿全篇，圖上數字全部可對帳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TOPIC MAP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四道關卡：每一關的輸出，就是下一關的輸入</a:t>
            </a:r>
            <a:endParaRPr lang="en-US" sz="2600" dirty="0"/>
          </a:p>
        </p:txBody>
      </p:sp>
      <p:pic>
        <p:nvPicPr>
          <p:cNvPr id="5" name="Image 0" descr="fig01_map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1302" y="1280160"/>
            <a:ext cx="9918915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029200"/>
            <a:ext cx="3596640" cy="137160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120640"/>
            <a:ext cx="3276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為什麼要分關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每一關只回答一個問題，答錯的後果會一路傳下去：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取錯 → V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錯 → 區間判錯 → s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max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錯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282440" y="5029200"/>
            <a:ext cx="3596640" cy="1371600"/>
          </a:xfrm>
          <a:prstGeom prst="roundRect">
            <a:avLst>
              <a:gd name="adj" fmla="val 8000"/>
            </a:avLst>
          </a:prstGeom>
          <a:solidFill>
            <a:srgbClr val="FDF1E7"/>
          </a:solidFill>
          <a:ln w="12700">
            <a:solidFill>
              <a:srgbClr val="EFC39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65320" y="5120640"/>
            <a:ext cx="3276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最常見的偷懶順序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直接套 s = A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f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yt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d / V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就交卷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漏掉 d 偏移前提、V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選臉、斷面天花板、A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v,min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016240" y="5029200"/>
            <a:ext cx="3596640" cy="1371600"/>
          </a:xfrm>
          <a:prstGeom prst="roundRect">
            <a:avLst>
              <a:gd name="adj" fmla="val 8000"/>
            </a:avLst>
          </a:prstGeom>
          <a:solidFill>
            <a:srgbClr val="E6F2EA"/>
          </a:solidFill>
          <a:ln w="12700">
            <a:solidFill>
              <a:srgbClr val="A7D1B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99120" y="5120640"/>
            <a:ext cx="3276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E844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本篇怎麼讀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每關先講物理（為什麼），再講規範式（怎麼算），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最後用同一組例題代數字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示範案例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一個斷面、三根梁：全篇數字都從這裡來</a:t>
            </a:r>
            <a:endParaRPr lang="en-US" sz="2600" dirty="0"/>
          </a:p>
        </p:txBody>
      </p:sp>
      <p:pic>
        <p:nvPicPr>
          <p:cNvPr id="5" name="Image 0" descr="fig02_cases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200" y="1280160"/>
            <a:ext cx="10485120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303520"/>
            <a:ext cx="3596640" cy="1097280"/>
          </a:xfrm>
          <a:prstGeom prst="roundRect">
            <a:avLst>
              <a:gd name="adj" fmla="val 10000"/>
            </a:avLst>
          </a:prstGeom>
          <a:solidFill>
            <a:srgbClr val="E6F2EA"/>
          </a:solidFill>
          <a:ln w="12700">
            <a:solidFill>
              <a:srgbClr val="A7D1B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394960"/>
            <a:ext cx="3276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E844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例①：看 d 偏移『能省多少』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12、l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7.0 → 支承面 42.00，d 處 34.44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282440" y="5303520"/>
            <a:ext cx="3596640" cy="109728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65320" y="5394960"/>
            <a:ext cx="3276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例②：看 V</a:t>
            </a:r>
            <a:pPr indent="0" marL="0">
              <a:spcAft>
                <a:spcPts val="300"/>
              </a:spcAft>
              <a:buNone/>
            </a:pPr>
            <a:r>
              <a:rPr lang="en-US" sz="1400" b="1" baseline="-4000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的『詳細式』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ρ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0.01379、V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d/M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0.90 → V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23.24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016240" y="5303520"/>
            <a:ext cx="3596640" cy="1097280"/>
          </a:xfrm>
          <a:prstGeom prst="roundRect">
            <a:avLst>
              <a:gd name="adj" fmla="val 10000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99120" y="5394960"/>
            <a:ext cx="3276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例③：看吊掛『不能省』＋分區配箍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18、l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7.0 → V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63.00，V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64.44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331720"/>
            <a:ext cx="109728" cy="1737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51560" y="2240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關卡 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2697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臨界斷面取在哪裡？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3611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3D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「距支承面 d 處」不是無條件的優惠——要三個前提同時成立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關卡 1｜物理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為什麼可以取距支承面 d 處？</a:t>
            </a:r>
            <a:endParaRPr lang="en-US" sz="2600" dirty="0"/>
          </a:p>
        </p:txBody>
      </p:sp>
      <p:pic>
        <p:nvPicPr>
          <p:cNvPr id="5" name="Image 0" descr="fig03_crack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3363" y="1280160"/>
            <a:ext cx="11034793" cy="4069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440680"/>
            <a:ext cx="3596640" cy="960120"/>
          </a:xfrm>
          <a:prstGeom prst="roundRect">
            <a:avLst>
              <a:gd name="adj" fmla="val 11429"/>
            </a:avLst>
          </a:prstGeom>
          <a:solidFill>
            <a:srgbClr val="F1EDFA"/>
          </a:solidFill>
          <a:ln w="12700">
            <a:solidFill>
              <a:srgbClr val="C9BCE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532120"/>
            <a:ext cx="3276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裂縫幾何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最早的斜裂縫從支承面底部出發，約 45° 上升，水平走 d 才到頂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282440" y="5440680"/>
            <a:ext cx="3596640" cy="960120"/>
          </a:xfrm>
          <a:prstGeom prst="roundRect">
            <a:avLst>
              <a:gd name="adj" fmla="val 11429"/>
            </a:avLst>
          </a:prstGeom>
          <a:solidFill>
            <a:srgbClr val="F1EDFA"/>
          </a:solidFill>
          <a:ln w="12700">
            <a:solidFill>
              <a:srgbClr val="C9BCE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65320" y="5532120"/>
            <a:ext cx="3276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 以內的載重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沿斜壓桿直接壓進支承，不必跨越任何斜裂縫 → 不需要箍筋去『接』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016240" y="5440680"/>
            <a:ext cx="3596640" cy="960120"/>
          </a:xfrm>
          <a:prstGeom prst="roundRect">
            <a:avLst>
              <a:gd name="adj" fmla="val 11429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99120" y="5532120"/>
            <a:ext cx="3276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所以規範說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 以內的斷面，可以用距支承面 d 處的 V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設計（同一組箍筋延伸到支承面）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關卡 1｜三個前提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三個前提要同時成立才准用 d 偏移</a:t>
            </a:r>
            <a:endParaRPr lang="en-US" sz="2600" dirty="0"/>
          </a:p>
        </p:txBody>
      </p:sp>
      <p:pic>
        <p:nvPicPr>
          <p:cNvPr id="5" name="Image 0" descr="fig04_prereq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9160" y="1234440"/>
            <a:ext cx="10363200" cy="46634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(a) 支承反力提供端區壓縮　(b) 載重施加在頂面（壓力側）　(c) 臨界斷面內（d 以內）無集中載重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44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關卡 1｜例①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例①：頂面均布、支承受壓 → 可以用 d 偏移</a:t>
            </a:r>
            <a:endParaRPr lang="en-US" sz="2600" dirty="0"/>
          </a:p>
        </p:txBody>
      </p:sp>
      <p:pic>
        <p:nvPicPr>
          <p:cNvPr id="5" name="Image 0" descr="fig05_ex1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280160"/>
            <a:ext cx="1097280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257800"/>
            <a:ext cx="5440680" cy="1143000"/>
          </a:xfrm>
          <a:prstGeom prst="roundRect">
            <a:avLst>
              <a:gd name="adj" fmla="val 9600"/>
            </a:avLst>
          </a:prstGeom>
          <a:solidFill>
            <a:srgbClr val="E6F2EA"/>
          </a:solidFill>
          <a:ln w="12700">
            <a:solidFill>
              <a:srgbClr val="A7D1B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34924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844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通式（均布載重）</a:t>
            </a:r>
            <a:endParaRPr lang="en-US" sz="1400" dirty="0"/>
          </a:p>
        </p:txBody>
      </p:sp>
      <p:pic>
        <p:nvPicPr>
          <p:cNvPr id="8" name="Image 1" descr="m_d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" y="5833872"/>
            <a:ext cx="1988820" cy="30175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172200" y="5257800"/>
            <a:ext cx="5440680" cy="1143000"/>
          </a:xfrm>
          <a:prstGeom prst="roundRect">
            <a:avLst>
              <a:gd name="adj" fmla="val 9600"/>
            </a:avLst>
          </a:prstGeom>
          <a:solidFill>
            <a:srgbClr val="E6F2EA"/>
          </a:solidFill>
          <a:ln w="12700">
            <a:solidFill>
              <a:srgbClr val="A7D1B5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355080" y="534924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844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代數字</a:t>
            </a:r>
            <a:endParaRPr lang="en-US" sz="1400" dirty="0"/>
          </a:p>
        </p:txBody>
      </p:sp>
      <p:pic>
        <p:nvPicPr>
          <p:cNvPr id="11" name="Image 2" descr="m_d1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00800" y="5839358"/>
            <a:ext cx="3275381" cy="29077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關卡 1｜例③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例③：吊掛在大梁側面 → 只能取支承面 63.00</a:t>
            </a:r>
            <a:endParaRPr lang="en-US" sz="2600" dirty="0"/>
          </a:p>
        </p:txBody>
      </p:sp>
      <p:pic>
        <p:nvPicPr>
          <p:cNvPr id="5" name="Image 0" descr="fig06_ex3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378458"/>
            <a:ext cx="11064240" cy="38724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440680"/>
            <a:ext cx="3596640" cy="960120"/>
          </a:xfrm>
          <a:prstGeom prst="roundRect">
            <a:avLst>
              <a:gd name="adj" fmla="val 11429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532120"/>
            <a:ext cx="3276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為什麼不能偏移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反力從梁側面把梁『吊』起來，端部沒有壓應力，斜裂縫可以直接從支承面長出來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282440" y="5440680"/>
            <a:ext cx="3596640" cy="960120"/>
          </a:xfrm>
          <a:prstGeom prst="roundRect">
            <a:avLst>
              <a:gd name="adj" fmla="val 11429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65320" y="5532120"/>
            <a:ext cx="3276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誤用的代價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從 63.00 誤降到 51.66，s 從 10.40 放寬成 13.59 cm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016240" y="5440680"/>
            <a:ext cx="3596640" cy="960120"/>
          </a:xfrm>
          <a:prstGeom prst="roundRect">
            <a:avLst>
              <a:gd name="adj" fmla="val 11429"/>
            </a:avLst>
          </a:prstGeom>
          <a:solidFill>
            <a:srgbClr val="FDF1E7"/>
          </a:solidFill>
          <a:ln w="12700">
            <a:solidFill>
              <a:srgbClr val="EFC39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99120" y="5532120"/>
            <a:ext cx="3276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考場判斷順序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看支承怎麼支（壓？吊？）→ 看載重加在哪一面 → 看 d 以內有沒有集中載重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331720"/>
            <a:ext cx="109728" cy="1737360"/>
          </a:xfrm>
          <a:prstGeom prst="rect">
            <a:avLst/>
          </a:prstGeom>
          <a:solidFill>
            <a:srgbClr val="2F54C8"/>
          </a:solidFill>
          <a:ln w="12700">
            <a:solidFill>
              <a:srgbClr val="2F54C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51560" y="2240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關卡 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2697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</a:t>
            </a:r>
            <a:pPr indent="0" marL="0">
              <a:buNone/>
            </a:pPr>
            <a:r>
              <a:rPr lang="en-US" sz="4000" b="1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的五張臉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3611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3D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同一個斷面，選錯公式，答案可以差 4 倍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關卡 2｜物理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是開裂當下，混凝土抵抗主拉應力的能力</a:t>
            </a:r>
            <a:endParaRPr lang="en-US" sz="2600" dirty="0"/>
          </a:p>
        </p:txBody>
      </p:sp>
      <p:pic>
        <p:nvPicPr>
          <p:cNvPr id="5" name="Image 0" descr="fig07_principal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3363" y="1280160"/>
            <a:ext cx="11034793" cy="4069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440680"/>
            <a:ext cx="3596640" cy="960120"/>
          </a:xfrm>
          <a:prstGeom prst="roundRect">
            <a:avLst>
              <a:gd name="adj" fmla="val 11429"/>
            </a:avLst>
          </a:prstGeom>
          <a:solidFill>
            <a:srgbClr val="E6F2EA"/>
          </a:solidFill>
          <a:ln w="12700">
            <a:solidFill>
              <a:srgbClr val="A7D1B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532120"/>
            <a:ext cx="3276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純剪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主拉應力 σ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τ，碰到混凝土抗拉強度就開裂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282440" y="5440680"/>
            <a:ext cx="3596640" cy="960120"/>
          </a:xfrm>
          <a:prstGeom prst="roundRect">
            <a:avLst>
              <a:gd name="adj" fmla="val 11429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65320" y="5532120"/>
            <a:ext cx="3276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軸壓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把莫爾圓往左推，σ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變小 → 要更大的剪力才開裂 → V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↑；裂縫也變平緩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016240" y="5440680"/>
            <a:ext cx="3596640" cy="960120"/>
          </a:xfrm>
          <a:prstGeom prst="roundRect">
            <a:avLst>
              <a:gd name="adj" fmla="val 11429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99120" y="5532120"/>
            <a:ext cx="3276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軸拉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把莫爾圓往右推，σ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變大 → 提早開裂 → V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↓；拉到一定程度 V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歸零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關卡 2｜量級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五張臉的量級：同一個 35×70 斷面</a:t>
            </a:r>
            <a:endParaRPr lang="en-US" sz="2600" dirty="0"/>
          </a:p>
        </p:txBody>
      </p:sp>
      <p:pic>
        <p:nvPicPr>
          <p:cNvPr id="5" name="Image 0" descr="fig08_faces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309878"/>
            <a:ext cx="11064240" cy="38724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303520"/>
            <a:ext cx="2663190" cy="1097280"/>
          </a:xfrm>
          <a:prstGeom prst="roundRect">
            <a:avLst>
              <a:gd name="adj" fmla="val 10000"/>
            </a:avLst>
          </a:prstGeom>
          <a:solidFill>
            <a:srgbClr val="E6F2EA"/>
          </a:solidFill>
          <a:ln w="12700">
            <a:solidFill>
              <a:srgbClr val="A7D1B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394960"/>
            <a:ext cx="23431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簡化式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沒提軸力、沒要求精算時的預設值；偏保守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348990" y="5303520"/>
            <a:ext cx="2663190" cy="1097280"/>
          </a:xfrm>
          <a:prstGeom prst="roundRect">
            <a:avLst>
              <a:gd name="adj" fmla="val 10000"/>
            </a:avLst>
          </a:prstGeom>
          <a:solidFill>
            <a:srgbClr val="E6F2EA"/>
          </a:solidFill>
          <a:ln w="12700">
            <a:solidFill>
              <a:srgbClr val="A7D1B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31870" y="5394960"/>
            <a:ext cx="23431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E844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詳細式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ρ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越大、V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d/M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越大（剪力大彎矩小）→ V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越高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149340" y="5303520"/>
            <a:ext cx="2663190" cy="109728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32220" y="5394960"/>
            <a:ext cx="23431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③④ 軸力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 +17.5%、拉 −70.0%（同為 60 tf）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949690" y="5303520"/>
            <a:ext cx="2663190" cy="1097280"/>
          </a:xfrm>
          <a:prstGeom prst="roundRect">
            <a:avLst>
              <a:gd name="adj" fmla="val 10000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32570" y="5394960"/>
            <a:ext cx="23431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⑤ 耐震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塑鉸區兩條件成立 → 直接令 0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關卡 2｜詳細式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詳細式：題目給了 ρ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、V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、M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才用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E6F2EA"/>
          </a:solidFill>
          <a:ln w="12700">
            <a:solidFill>
              <a:srgbClr val="A7D1B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844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詳細式</a:t>
            </a:r>
            <a:endParaRPr lang="en-US" sz="1400" dirty="0"/>
          </a:p>
        </p:txBody>
      </p:sp>
      <p:pic>
        <p:nvPicPr>
          <p:cNvPr id="7" name="Image 0" descr="m_det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7240" y="1907896"/>
            <a:ext cx="3250692" cy="51846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34640"/>
            <a:ext cx="5486400" cy="1234440"/>
          </a:xfrm>
          <a:prstGeom prst="roundRect">
            <a:avLst>
              <a:gd name="adj" fmla="val 8889"/>
            </a:avLst>
          </a:prstGeom>
          <a:solidFill>
            <a:srgbClr val="FDF1E7"/>
          </a:solidFill>
          <a:ln w="12700">
            <a:solidFill>
              <a:srgbClr val="EFC39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9260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兩個限制（必寫）</a:t>
            </a:r>
            <a:endParaRPr lang="en-US" sz="1400" dirty="0"/>
          </a:p>
        </p:txBody>
      </p:sp>
      <p:pic>
        <p:nvPicPr>
          <p:cNvPr id="10" name="Image 1" descr="m_detlim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" y="3264408"/>
            <a:ext cx="1829671" cy="30175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1520" y="368503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</a:t>
            </a:r>
            <a:pPr indent="0" marL="0">
              <a:buNone/>
            </a:pPr>
            <a:r>
              <a:rPr lang="en-US" sz="1200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d/M</a:t>
            </a:r>
            <a:pPr indent="0" marL="0">
              <a:buNone/>
            </a:pPr>
            <a:r>
              <a:rPr lang="en-US" sz="1200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算出 &gt; 1 時取 1.0；V</a:t>
            </a:r>
            <a:pPr indent="0" marL="0">
              <a:buNone/>
            </a:pPr>
            <a:r>
              <a:rPr lang="en-US" sz="1200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、M</a:t>
            </a:r>
            <a:pPr indent="0" marL="0">
              <a:buNone/>
            </a:pPr>
            <a:r>
              <a:rPr lang="en-US" sz="1200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取同一斷面、同一組合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4206240"/>
            <a:ext cx="5486400" cy="1188720"/>
          </a:xfrm>
          <a:prstGeom prst="roundRect">
            <a:avLst>
              <a:gd name="adj" fmla="val 9231"/>
            </a:avLst>
          </a:prstGeom>
          <a:solidFill>
            <a:srgbClr val="E6F2EA"/>
          </a:solidFill>
          <a:ln w="12700">
            <a:solidFill>
              <a:srgbClr val="A7D1B5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31520" y="42976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844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例②代數字（6-D25、V</a:t>
            </a:r>
            <a:pPr indent="0" marL="0">
              <a:buNone/>
            </a:pPr>
            <a:r>
              <a:rPr lang="en-US" sz="1400" b="1" baseline="-40000" dirty="0">
                <a:solidFill>
                  <a:srgbClr val="1E844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buNone/>
            </a:pPr>
            <a:r>
              <a:rPr lang="en-US" sz="1400" b="1" dirty="0">
                <a:solidFill>
                  <a:srgbClr val="1E844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d/M</a:t>
            </a:r>
            <a:pPr indent="0" marL="0">
              <a:buNone/>
            </a:pPr>
            <a:r>
              <a:rPr lang="en-US" sz="1400" b="1" baseline="-40000" dirty="0">
                <a:solidFill>
                  <a:srgbClr val="1E844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buNone/>
            </a:pPr>
            <a:r>
              <a:rPr lang="en-US" sz="1400" b="1" dirty="0">
                <a:solidFill>
                  <a:srgbClr val="1E844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0.90）</a:t>
            </a:r>
            <a:endParaRPr lang="en-US" sz="1400" dirty="0"/>
          </a:p>
        </p:txBody>
      </p:sp>
      <p:pic>
        <p:nvPicPr>
          <p:cNvPr id="14" name="Image 2" descr="m_det2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7240" y="4792444"/>
            <a:ext cx="5029200" cy="3272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48640" y="55778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844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上限 0.93√f′</a:t>
            </a:r>
            <a:pPr indent="0" marL="0">
              <a:buNone/>
            </a:pPr>
            <a:r>
              <a:rPr lang="en-US" sz="1400" b="1" baseline="-40000" dirty="0">
                <a:solidFill>
                  <a:srgbClr val="1E844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1400" b="1" dirty="0">
                <a:solidFill>
                  <a:srgbClr val="1E844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b</a:t>
            </a:r>
            <a:pPr indent="0" marL="0">
              <a:buNone/>
            </a:pPr>
            <a:r>
              <a:rPr lang="en-US" sz="1400" b="1" baseline="-40000" dirty="0">
                <a:solidFill>
                  <a:srgbClr val="1E844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</a:t>
            </a:r>
            <a:pPr indent="0" marL="0">
              <a:buNone/>
            </a:pPr>
            <a:r>
              <a:rPr lang="en-US" sz="1400" b="1" dirty="0">
                <a:solidFill>
                  <a:srgbClr val="1E844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d = 34.31 tf ⇒ 未超過，取 23.24；比簡化式多 18.8%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217920" y="1325880"/>
            <a:ext cx="5394960" cy="5029200"/>
          </a:xfrm>
          <a:prstGeom prst="roundRect">
            <a:avLst>
              <a:gd name="adj" fmla="val 2182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400800" y="1417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陷阱：有軸壓時的詳細式（M</a:t>
            </a:r>
            <a:pPr indent="0" marL="0">
              <a:buNone/>
            </a:pPr>
            <a:r>
              <a:rPr lang="en-US" sz="150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</a:t>
            </a:r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版）</a:t>
            </a:r>
            <a:endParaRPr lang="en-US" sz="1500" dirty="0"/>
          </a:p>
        </p:txBody>
      </p:sp>
      <p:pic>
        <p:nvPicPr>
          <p:cNvPr id="18" name="Image 3" descr="m_mm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46520" y="1972361"/>
            <a:ext cx="2093062" cy="44439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446520" y="26517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有軸壓時，詳細式裡的 M</a:t>
            </a:r>
            <a:pPr indent="0" marL="0"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要換成 M</a:t>
            </a:r>
            <a:pPr indent="0" marL="0"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</a:t>
            </a:r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（扣掉軸壓造成的有利彎矩），且 V</a:t>
            </a:r>
            <a:pPr indent="0" marL="0"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d/M</a:t>
            </a:r>
            <a:pPr indent="0" marL="0"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</a:t>
            </a:r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不受 ≤ 1 的限制。</a:t>
            </a:r>
            <a:endParaRPr lang="en-US" sz="1500" dirty="0"/>
          </a:p>
        </p:txBody>
      </p:sp>
      <p:pic>
        <p:nvPicPr>
          <p:cNvPr id="20" name="Image 4" descr="m_mmcap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46520" y="3551987"/>
            <a:ext cx="3928262" cy="62270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446520" y="438912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</a:t>
            </a:r>
            <a:pPr indent="0" marL="0">
              <a:spcAft>
                <a:spcPts val="4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≤ 0 表示斷面幾乎全壓、公式失效：直接取上限式——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注意上限本身也帶 √(1 + N</a:t>
            </a:r>
            <a:pPr indent="0" marL="0">
              <a:spcAft>
                <a:spcPts val="400"/>
              </a:spcAft>
              <a:buNone/>
            </a:pPr>
            <a:r>
              <a:rPr lang="en-US" sz="130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/35A</a:t>
            </a:r>
            <a:pPr indent="0" marL="0">
              <a:spcAft>
                <a:spcPts val="400"/>
              </a:spcAft>
              <a:buNone/>
            </a:pPr>
            <a:r>
              <a:rPr lang="en-US" sz="130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) 項，不是單純的 0.93√f′</a:t>
            </a:r>
            <a:pPr indent="0" marL="0">
              <a:spcAft>
                <a:spcPts val="400"/>
              </a:spcAft>
              <a:buNone/>
            </a:pPr>
            <a:r>
              <a:rPr lang="en-US" sz="130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b</a:t>
            </a:r>
            <a:pPr indent="0" marL="0">
              <a:spcAft>
                <a:spcPts val="400"/>
              </a:spcAft>
              <a:buNone/>
            </a:pPr>
            <a:r>
              <a:rPr lang="en-US" sz="130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d。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考試很少考到這一步；看到『M</a:t>
            </a:r>
            <a:pPr indent="0" marL="0">
              <a:spcAft>
                <a:spcPts val="400"/>
              </a:spcAft>
              <a:buNone/>
            </a:pPr>
            <a:r>
              <a:rPr lang="en-US" sz="1200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』、『軸壓＋詳細計算』才需要。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關卡 2｜軸力修正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軸力修正：拉的殺傷力是壓的 4 倍</a:t>
            </a:r>
            <a:endParaRPr lang="en-US" sz="2600" dirty="0"/>
          </a:p>
        </p:txBody>
      </p:sp>
      <p:pic>
        <p:nvPicPr>
          <p:cNvPr id="5" name="Image 0" descr="fig09_axial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6246" y="1280160"/>
            <a:ext cx="10189029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937760"/>
            <a:ext cx="5486400" cy="1463040"/>
          </a:xfrm>
          <a:prstGeom prst="roundRect">
            <a:avLst>
              <a:gd name="adj" fmla="val 7500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0292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軸壓（N</a:t>
            </a:r>
            <a:pPr indent="0" marL="0">
              <a:buNone/>
            </a:pPr>
            <a:r>
              <a:rPr lang="en-US" sz="1400" b="1" baseline="-4000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取正）</a:t>
            </a:r>
            <a:endParaRPr lang="en-US" sz="1400" dirty="0"/>
          </a:p>
        </p:txBody>
      </p:sp>
      <p:pic>
        <p:nvPicPr>
          <p:cNvPr id="8" name="Image 1" descr="m_nc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" y="5367528"/>
            <a:ext cx="2397471" cy="434340"/>
          </a:xfrm>
          <a:prstGeom prst="rect">
            <a:avLst/>
          </a:prstGeom>
        </p:spPr>
      </p:pic>
      <p:pic>
        <p:nvPicPr>
          <p:cNvPr id="9" name="Image 2" descr="m_nc2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7240" y="5847588"/>
            <a:ext cx="3019250" cy="43434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172200" y="4937760"/>
            <a:ext cx="5440680" cy="1463040"/>
          </a:xfrm>
          <a:prstGeom prst="roundRect">
            <a:avLst>
              <a:gd name="adj" fmla="val 7500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6355080" y="502920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軸拉（N</a:t>
            </a:r>
            <a:pPr indent="0" marL="0">
              <a:buNone/>
            </a:pPr>
            <a:r>
              <a:rPr lang="en-US" sz="140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取負；算出負值取 0）</a:t>
            </a:r>
            <a:endParaRPr lang="en-US" sz="1400" dirty="0"/>
          </a:p>
        </p:txBody>
      </p:sp>
      <p:pic>
        <p:nvPicPr>
          <p:cNvPr id="12" name="Image 3" descr="m_nt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00800" y="5367528"/>
            <a:ext cx="2629692" cy="434340"/>
          </a:xfrm>
          <a:prstGeom prst="rect">
            <a:avLst/>
          </a:prstGeom>
        </p:spPr>
      </p:pic>
      <p:pic>
        <p:nvPicPr>
          <p:cNvPr id="13" name="Image 4" descr="m_nt2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00800" y="5847588"/>
            <a:ext cx="2836123" cy="4343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關卡 2｜耐震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耐震特例：塑鉸區直接令 V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0</a:t>
            </a:r>
            <a:endParaRPr lang="en-US" sz="2600" dirty="0"/>
          </a:p>
        </p:txBody>
      </p:sp>
      <p:pic>
        <p:nvPicPr>
          <p:cNvPr id="5" name="Image 0" descr="fig10_seismic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378458"/>
            <a:ext cx="11064240" cy="38724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440680"/>
            <a:ext cx="3596640" cy="960120"/>
          </a:xfrm>
          <a:prstGeom prst="roundRect">
            <a:avLst>
              <a:gd name="adj" fmla="val 11429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532120"/>
            <a:ext cx="3276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反覆載重讓斜裂縫來回張合，骨材咬合與壓力區貢獻都不可靠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282440" y="5440680"/>
            <a:ext cx="3596640" cy="960120"/>
          </a:xfrm>
          <a:prstGeom prst="roundRect">
            <a:avLst>
              <a:gd name="adj" fmla="val 11429"/>
            </a:avLst>
          </a:prstGeom>
          <a:solidFill>
            <a:srgbClr val="FDF1E7"/>
          </a:solidFill>
          <a:ln w="12700">
            <a:solidFill>
              <a:srgbClr val="EFC39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65320" y="5532120"/>
            <a:ext cx="3276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觸發條件（兩者同時）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地震引致剪力 ≥ ½ 最大設計剪力；且 N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&lt; A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f′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/20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016240" y="5440680"/>
            <a:ext cx="3596640" cy="960120"/>
          </a:xfrm>
          <a:prstGeom prst="roundRect">
            <a:avLst>
              <a:gd name="adj" fmla="val 11429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99120" y="5532120"/>
            <a:ext cx="3276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考場提示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題目寫『特殊抗彎構架』『塑鉸區』『容量設計剪力』→ 先想到 V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0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關卡 2｜選臉表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考場上怎麼選這五張臉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4023360"/>
                <a:gridCol w="356616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情況／題目怎麼說</a:t>
                      </a:r>
                      <a:endParaRPr lang="en-US" sz="15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用哪一式</a:t>
                      </a:r>
                      <a:endParaRPr lang="en-US" sz="15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注意</a:t>
                      </a:r>
                      <a:endParaRPr lang="en-US" sz="15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B5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沒提軸力、也沒要求精算</a:t>
                      </a:r>
                      <a:endParaRPr lang="en-US" sz="15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E7D6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V</a:t>
                      </a:r>
                      <a:pPr indent="0" marL="0">
                        <a:buNone/>
                      </a:pPr>
                      <a:r>
                        <a:rPr lang="en-US" sz="1500" b="1" baseline="-40000" dirty="0">
                          <a:solidFill>
                            <a:srgbClr val="2E7D6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E7D6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= 0.53√f′</a:t>
                      </a:r>
                      <a:pPr indent="0" marL="0">
                        <a:buNone/>
                      </a:pPr>
                      <a:r>
                        <a:rPr lang="en-US" sz="1500" b="1" baseline="-40000" dirty="0">
                          <a:solidFill>
                            <a:srgbClr val="2E7D6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E7D6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b</a:t>
                      </a:r>
                      <a:pPr indent="0" marL="0">
                        <a:buNone/>
                      </a:pPr>
                      <a:r>
                        <a:rPr lang="en-US" sz="1500" b="1" baseline="-40000" dirty="0">
                          <a:solidFill>
                            <a:srgbClr val="2E7D6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w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E7D6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d</a:t>
                      </a:r>
                      <a:endParaRPr lang="en-US" sz="15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最常見；答案偏保守</a:t>
                      </a:r>
                      <a:endParaRPr lang="en-US" sz="15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給了 ρ</a:t>
                      </a:r>
                      <a:pPr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w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、V</a:t>
                      </a:r>
                      <a:pPr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u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、M</a:t>
                      </a:r>
                      <a:pPr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u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，或寫『詳細計算』</a:t>
                      </a:r>
                      <a:endParaRPr lang="en-US" sz="15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8449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(0.50√f′</a:t>
                      </a:r>
                      <a:pPr indent="0" marL="0">
                        <a:buNone/>
                      </a:pPr>
                      <a:r>
                        <a:rPr lang="en-US" sz="1500" b="1" baseline="-40000" dirty="0">
                          <a:solidFill>
                            <a:srgbClr val="1E8449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8449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+ 175 ρ</a:t>
                      </a:r>
                      <a:pPr indent="0" marL="0">
                        <a:buNone/>
                      </a:pPr>
                      <a:r>
                        <a:rPr lang="en-US" sz="1500" b="1" baseline="-40000" dirty="0">
                          <a:solidFill>
                            <a:srgbClr val="1E8449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w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8449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V</a:t>
                      </a:r>
                      <a:pPr indent="0" marL="0">
                        <a:buNone/>
                      </a:pPr>
                      <a:r>
                        <a:rPr lang="en-US" sz="1500" b="1" baseline="-40000" dirty="0">
                          <a:solidFill>
                            <a:srgbClr val="1E8449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u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8449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d/M</a:t>
                      </a:r>
                      <a:pPr indent="0" marL="0">
                        <a:buNone/>
                      </a:pPr>
                      <a:r>
                        <a:rPr lang="en-US" sz="1500" b="1" baseline="-40000" dirty="0">
                          <a:solidFill>
                            <a:srgbClr val="1E8449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u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8449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) b</a:t>
                      </a:r>
                      <a:pPr indent="0" marL="0">
                        <a:buNone/>
                      </a:pPr>
                      <a:r>
                        <a:rPr lang="en-US" sz="1500" b="1" baseline="-40000" dirty="0">
                          <a:solidFill>
                            <a:srgbClr val="1E8449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w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8449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d</a:t>
                      </a:r>
                      <a:endParaRPr lang="en-US" sz="15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V</a:t>
                      </a:r>
                      <a:pPr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u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d/M</a:t>
                      </a:r>
                      <a:pPr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u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≤ 1；上限 0.93√f′</a:t>
                      </a:r>
                      <a:pPr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b</a:t>
                      </a:r>
                      <a:pPr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w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d</a:t>
                      </a:r>
                      <a:endParaRPr lang="en-US" sz="15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柱、或梁有明顯軸壓 N</a:t>
                      </a:r>
                      <a:pPr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u</a:t>
                      </a:r>
                      <a:endParaRPr lang="en-US" sz="15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F54C8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× (1 + N</a:t>
                      </a:r>
                      <a:pPr indent="0" marL="0">
                        <a:buNone/>
                      </a:pPr>
                      <a:r>
                        <a:rPr lang="en-US" sz="1500" b="1" baseline="-40000" dirty="0">
                          <a:solidFill>
                            <a:srgbClr val="2F54C8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u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F54C8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/ 140A</a:t>
                      </a:r>
                      <a:pPr indent="0" marL="0">
                        <a:buNone/>
                      </a:pPr>
                      <a:r>
                        <a:rPr lang="en-US" sz="1500" b="1" baseline="-40000" dirty="0">
                          <a:solidFill>
                            <a:srgbClr val="2F54C8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g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F54C8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)</a:t>
                      </a:r>
                      <a:endParaRPr lang="en-US" sz="15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N</a:t>
                      </a:r>
                      <a:pPr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u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取正；A</a:t>
                      </a:r>
                      <a:pPr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g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為全斷面</a:t>
                      </a:r>
                      <a:endParaRPr lang="en-US" sz="15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拉力構材、溫度收縮軸拉</a:t>
                      </a:r>
                      <a:endParaRPr lang="en-US" sz="15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× (1 + N</a:t>
                      </a:r>
                      <a:pPr indent="0" marL="0">
                        <a:buNone/>
                      </a:pPr>
                      <a:r>
                        <a:rPr lang="en-US" sz="1500" b="1" baseline="-40000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u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/ 35A</a:t>
                      </a:r>
                      <a:pPr indent="0" marL="0">
                        <a:buNone/>
                      </a:pPr>
                      <a:r>
                        <a:rPr lang="en-US" sz="1500" b="1" baseline="-40000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g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)</a:t>
                      </a:r>
                      <a:endParaRPr lang="en-US" sz="15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N</a:t>
                      </a:r>
                      <a:pPr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u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取負；算出負值取 V</a:t>
                      </a:r>
                      <a:pPr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= 0</a:t>
                      </a:r>
                      <a:endParaRPr lang="en-US" sz="15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特殊抗彎構架的塑鉸區</a:t>
                      </a:r>
                      <a:endParaRPr lang="en-US" sz="15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V</a:t>
                      </a:r>
                      <a:pPr indent="0" marL="0">
                        <a:buNone/>
                      </a:pPr>
                      <a:r>
                        <a:rPr lang="en-US" sz="1500" b="1" baseline="-40000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= 0</a:t>
                      </a:r>
                      <a:endParaRPr lang="en-US" sz="15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地震剪力 ≥ ½ 且 N</a:t>
                      </a:r>
                      <a:pPr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u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&lt; A</a:t>
                      </a:r>
                      <a:pPr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g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f′</a:t>
                      </a:r>
                      <a:pPr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/20</a:t>
                      </a:r>
                      <a:endParaRPr lang="en-US" sz="15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486400"/>
            <a:ext cx="11064240" cy="822960"/>
          </a:xfrm>
          <a:prstGeom prst="roundRect">
            <a:avLst>
              <a:gd name="adj" fmla="val 13333"/>
            </a:avLst>
          </a:prstGeom>
          <a:solidFill>
            <a:srgbClr val="FDF1E7"/>
          </a:solidFill>
          <a:ln w="12700">
            <a:solidFill>
              <a:srgbClr val="EFC39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56692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軸力修正都乘在『簡化式』上；記憶法：怕拉不怕壓——拉的分母 35 比壓的 140 小四倍，傷害大四倍。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331720"/>
            <a:ext cx="109728" cy="1737360"/>
          </a:xfrm>
          <a:prstGeom prst="rect">
            <a:avLst/>
          </a:prstGeom>
          <a:solidFill>
            <a:srgbClr val="B9540F"/>
          </a:solidFill>
          <a:ln w="12700">
            <a:solidFill>
              <a:srgbClr val="B9540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51560" y="2240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關卡 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2697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 V</a:t>
            </a:r>
            <a:pPr indent="0" marL="0">
              <a:buNone/>
            </a:pPr>
            <a:r>
              <a:rPr lang="en-US" sz="4000" b="1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當尺，量 V</a:t>
            </a:r>
            <a:pPr indent="0" marL="0">
              <a:buNone/>
            </a:pPr>
            <a:r>
              <a:rPr lang="en-US" sz="4000" b="1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落在哪一段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3611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3D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這一步決定 s</a:t>
            </a:r>
            <a:pPr indent="0" marL="0">
              <a:buNone/>
            </a:pPr>
            <a:r>
              <a:rPr lang="en-US" sz="1800" baseline="-40000" dirty="0">
                <a:solidFill>
                  <a:srgbClr val="C9D3D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max</a:t>
            </a:r>
            <a:pPr indent="0" marL="0">
              <a:buNone/>
            </a:pPr>
            <a:r>
              <a:rPr lang="en-US" sz="1800" dirty="0">
                <a:solidFill>
                  <a:srgbClr val="C9D3D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，也決定斷面夠不夠大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關卡 3｜三個區間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先算 V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，再用 2V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／4V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判區間</a:t>
            </a:r>
            <a:endParaRPr lang="en-US" sz="2600" dirty="0"/>
          </a:p>
        </p:txBody>
      </p:sp>
      <p:pic>
        <p:nvPicPr>
          <p:cNvPr id="5" name="Image 0" descr="fig11_zones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093" y="1280160"/>
            <a:ext cx="10837333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02920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DF1E7"/>
          </a:solidFill>
          <a:ln w="12700">
            <a:solidFill>
              <a:srgbClr val="EFC39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1206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所需箍筋強度</a:t>
            </a:r>
            <a:endParaRPr lang="en-US" sz="1400" dirty="0"/>
          </a:p>
        </p:txBody>
      </p:sp>
      <p:pic>
        <p:nvPicPr>
          <p:cNvPr id="8" name="Image 1" descr="m_vs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" y="5608472"/>
            <a:ext cx="2477110" cy="523951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709160" y="5029200"/>
            <a:ext cx="6903720" cy="1371600"/>
          </a:xfrm>
          <a:prstGeom prst="roundRect">
            <a:avLst>
              <a:gd name="adj" fmla="val 8000"/>
            </a:avLst>
          </a:prstGeom>
          <a:solidFill>
            <a:srgbClr val="FDF1E7"/>
          </a:solidFill>
          <a:ln w="12700">
            <a:solidFill>
              <a:srgbClr val="EFC39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892040" y="5120640"/>
            <a:ext cx="653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兩條門檻（規範原文寫的是係數，不是『幾倍 V</a:t>
            </a:r>
            <a:pPr indent="0" marL="0">
              <a:buNone/>
            </a:pPr>
            <a:r>
              <a:rPr lang="en-US" sz="1400" b="1" baseline="-40000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1400" b="1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』）</a:t>
            </a:r>
            <a:endParaRPr lang="en-US" sz="1400" dirty="0"/>
          </a:p>
        </p:txBody>
      </p:sp>
      <p:pic>
        <p:nvPicPr>
          <p:cNvPr id="11" name="Image 2" descr="m_lim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37760" y="5682539"/>
            <a:ext cx="5447995" cy="37581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關卡 3｜天花板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 4V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是天花板？斜壓桿先壓碎</a:t>
            </a:r>
            <a:endParaRPr lang="en-US" sz="2600" dirty="0"/>
          </a:p>
        </p:txBody>
      </p:sp>
      <p:pic>
        <p:nvPicPr>
          <p:cNvPr id="5" name="Image 0" descr="fig12_ceili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3363" y="1280160"/>
            <a:ext cx="11034793" cy="4069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440680"/>
            <a:ext cx="3596640" cy="960120"/>
          </a:xfrm>
          <a:prstGeom prst="roundRect">
            <a:avLst>
              <a:gd name="adj" fmla="val 11429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532120"/>
            <a:ext cx="3276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機制轉換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箍筋越密，桁架斜壓桿分到的壓力越大；超過某個程度，混凝土斜壓桿先於箍筋降伏被壓碎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282440" y="5440680"/>
            <a:ext cx="3596640" cy="960120"/>
          </a:xfrm>
          <a:prstGeom prst="roundRect">
            <a:avLst>
              <a:gd name="adj" fmla="val 11429"/>
            </a:avLst>
          </a:prstGeom>
          <a:solidFill>
            <a:srgbClr val="E6F2EA"/>
          </a:solidFill>
          <a:ln w="12700">
            <a:solidFill>
              <a:srgbClr val="A7D1B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65320" y="5532120"/>
            <a:ext cx="3276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E844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規範的用意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≤ 4V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把破壞鎖在『箍筋先降伏』的延性側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016240" y="5440680"/>
            <a:ext cx="3596640" cy="960120"/>
          </a:xfrm>
          <a:prstGeom prst="roundRect">
            <a:avLst>
              <a:gd name="adj" fmla="val 11429"/>
            </a:avLst>
          </a:prstGeom>
          <a:solidFill>
            <a:srgbClr val="FDF1E7"/>
          </a:solidFill>
          <a:ln w="12700">
            <a:solidFill>
              <a:srgbClr val="EFC39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99120" y="5532120"/>
            <a:ext cx="3276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超過了怎麼辦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只有三條路：加大 b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、加大 d、提高 f′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——加箍筋無效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關卡 3｜設計版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同一句話的設計版：V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≤ 5φV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endParaRPr lang="en-US" sz="2600" dirty="0"/>
          </a:p>
        </p:txBody>
      </p:sp>
      <p:pic>
        <p:nvPicPr>
          <p:cNvPr id="5" name="Image 0" descr="fig13_us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347883"/>
            <a:ext cx="11064240" cy="297351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572000"/>
            <a:ext cx="5486400" cy="1783080"/>
          </a:xfrm>
          <a:prstGeom prst="roundRect">
            <a:avLst>
              <a:gd name="adj" fmla="val 6154"/>
            </a:avLst>
          </a:prstGeom>
          <a:solidFill>
            <a:srgbClr val="FDF1E7"/>
          </a:solidFill>
          <a:ln w="12700">
            <a:solidFill>
              <a:srgbClr val="EFC39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46634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推導</a:t>
            </a:r>
            <a:endParaRPr lang="en-US" sz="1400" dirty="0"/>
          </a:p>
        </p:txBody>
      </p:sp>
      <p:pic>
        <p:nvPicPr>
          <p:cNvPr id="8" name="Image 1" descr="m_vumax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" y="5161788"/>
            <a:ext cx="3297326" cy="274320"/>
          </a:xfrm>
          <a:prstGeom prst="rect">
            <a:avLst/>
          </a:prstGeom>
        </p:spPr>
      </p:pic>
      <p:pic>
        <p:nvPicPr>
          <p:cNvPr id="9" name="Image 2" descr="m_vumax2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7240" y="5793638"/>
            <a:ext cx="3061411" cy="290779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172200" y="4572000"/>
            <a:ext cx="5440680" cy="1783080"/>
          </a:xfrm>
          <a:prstGeom prst="roundRect">
            <a:avLst>
              <a:gd name="adj" fmla="val 6154"/>
            </a:avLst>
          </a:prstGeom>
          <a:solidFill>
            <a:srgbClr val="E6F2EA"/>
          </a:solidFill>
          <a:ln w="12700">
            <a:solidFill>
              <a:srgbClr val="A7D1B5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6355080" y="4681728"/>
            <a:ext cx="5120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E844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先檢核、再算間距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例③ V</a:t>
            </a:r>
            <a:pPr indent="0" marL="0">
              <a:spcAft>
                <a:spcPts val="4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63.00 ≤ 73.33 ⇒ 使用率 85.9%，斷面剛好夠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在算 s 之前先比 V</a:t>
            </a:r>
            <a:pPr indent="0" marL="0">
              <a:spcAft>
                <a:spcPts val="4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與 5φV</a:t>
            </a:r>
            <a:pPr indent="0" marL="0">
              <a:spcAft>
                <a:spcPts val="4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，超過就直接改斷面，不用白算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關卡 3｜陷阱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尺的陷阱：門檻是 1.06√f′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b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d，不是『2 × 修正後的 V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』</a:t>
            </a:r>
            <a:endParaRPr lang="en-US" sz="2600" dirty="0"/>
          </a:p>
        </p:txBody>
      </p:sp>
      <p:pic>
        <p:nvPicPr>
          <p:cNvPr id="5" name="Image 0" descr="fig14_ruler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621060"/>
            <a:ext cx="11064240" cy="325012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303520"/>
            <a:ext cx="3596640" cy="1097280"/>
          </a:xfrm>
          <a:prstGeom prst="roundRect">
            <a:avLst>
              <a:gd name="adj" fmla="val 10000"/>
            </a:avLst>
          </a:prstGeom>
          <a:solidFill>
            <a:srgbClr val="FDF1E7"/>
          </a:solidFill>
          <a:ln w="12700">
            <a:solidFill>
              <a:srgbClr val="EFC39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394960"/>
            <a:ext cx="3276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規範原文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max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減半：V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&gt; 1.06√f′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b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d；天花板：V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≤ 2.12√f′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b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d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282440" y="5303520"/>
            <a:ext cx="3596640" cy="1097280"/>
          </a:xfrm>
          <a:prstGeom prst="roundRect">
            <a:avLst>
              <a:gd name="adj" fmla="val 10000"/>
            </a:avLst>
          </a:prstGeom>
          <a:solidFill>
            <a:srgbClr val="FDF1E7"/>
          </a:solidFill>
          <a:ln w="12700">
            <a:solidFill>
              <a:srgbClr val="EFC39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65320" y="5394960"/>
            <a:ext cx="3276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『2V</a:t>
            </a:r>
            <a:pPr indent="0" marL="0">
              <a:spcAft>
                <a:spcPts val="300"/>
              </a:spcAft>
              <a:buNone/>
            </a:pPr>
            <a:r>
              <a:rPr lang="en-US" sz="1400" b="1" baseline="-40000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、4V</a:t>
            </a:r>
            <a:pPr indent="0" marL="0">
              <a:spcAft>
                <a:spcPts val="300"/>
              </a:spcAft>
              <a:buNone/>
            </a:pPr>
            <a:r>
              <a:rPr lang="en-US" sz="1400" b="1" baseline="-40000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』只是口訣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只有在 V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用簡化式時才剛好等於 2V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、4V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016240" y="5303520"/>
            <a:ext cx="3596640" cy="1097280"/>
          </a:xfrm>
          <a:prstGeom prst="roundRect">
            <a:avLst>
              <a:gd name="adj" fmla="val 10000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99120" y="5394960"/>
            <a:ext cx="3276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什麼時候會出事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軸拉、軸壓、詳細式、耐震 V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0——尺都要回到係數式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331720"/>
            <a:ext cx="109728" cy="173736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51560" y="2240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844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關卡 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2697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間距四取小，沿梁長分區配箍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3611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3D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強度需求、s</a:t>
            </a:r>
            <a:pPr indent="0" marL="0">
              <a:buNone/>
            </a:pPr>
            <a:r>
              <a:rPr lang="en-US" sz="1800" baseline="-40000" dirty="0">
                <a:solidFill>
                  <a:srgbClr val="C9D3D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max</a:t>
            </a:r>
            <a:pPr indent="0" marL="0">
              <a:buNone/>
            </a:pPr>
            <a:r>
              <a:rPr lang="en-US" sz="1800" dirty="0">
                <a:solidFill>
                  <a:srgbClr val="C9D3D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、A</a:t>
            </a:r>
            <a:pPr indent="0" marL="0">
              <a:buNone/>
            </a:pPr>
            <a:r>
              <a:rPr lang="en-US" sz="1800" baseline="-40000" dirty="0">
                <a:solidFill>
                  <a:srgbClr val="C9D3D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v,min</a:t>
            </a:r>
            <a:pPr indent="0" marL="0">
              <a:buNone/>
            </a:pPr>
            <a:r>
              <a:rPr lang="en-US" sz="1800" dirty="0">
                <a:solidFill>
                  <a:srgbClr val="C9D3D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、施工取整——缺一不可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44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關卡 4｜四取小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間距：四個條件同時算，取最小</a:t>
            </a:r>
            <a:endParaRPr lang="en-US" sz="2600" dirty="0"/>
          </a:p>
        </p:txBody>
      </p:sp>
      <p:pic>
        <p:nvPicPr>
          <p:cNvPr id="5" name="Image 0" descr="fig15_min4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6246" y="1280160"/>
            <a:ext cx="10189029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937760"/>
            <a:ext cx="3657600" cy="1463040"/>
          </a:xfrm>
          <a:prstGeom prst="roundRect">
            <a:avLst>
              <a:gd name="adj" fmla="val 7500"/>
            </a:avLst>
          </a:prstGeom>
          <a:solidFill>
            <a:srgbClr val="E6F2EA"/>
          </a:solidFill>
          <a:ln w="12700">
            <a:solidFill>
              <a:srgbClr val="A7D1B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0292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844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強度需求</a:t>
            </a:r>
            <a:endParaRPr lang="en-US" sz="1400" dirty="0"/>
          </a:p>
        </p:txBody>
      </p:sp>
      <p:pic>
        <p:nvPicPr>
          <p:cNvPr id="8" name="Image 1" descr="m_s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" y="5547665"/>
            <a:ext cx="1075334" cy="55412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343400" y="493776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526280" y="50292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例③ A 區</a:t>
            </a:r>
            <a:endParaRPr lang="en-US" sz="1400" dirty="0"/>
          </a:p>
        </p:txBody>
      </p:sp>
      <p:pic>
        <p:nvPicPr>
          <p:cNvPr id="11" name="Image 2" descr="m_s3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0" y="5571800"/>
            <a:ext cx="3108960" cy="50585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046720" y="493776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E6F2EA"/>
          </a:solidFill>
          <a:ln w="12700">
            <a:solidFill>
              <a:srgbClr val="A7D1B5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8229600" y="50292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844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例①（d 處）</a:t>
            </a:r>
            <a:endParaRPr lang="en-US" sz="1400" dirty="0"/>
          </a:p>
        </p:txBody>
      </p:sp>
      <p:pic>
        <p:nvPicPr>
          <p:cNvPr id="14" name="Image 3" descr="m_s1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75320" y="5571800"/>
            <a:ext cx="3108960" cy="50585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44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關卡 4｜最小箍筋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v,min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：V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&gt; 0.5φV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就要配</a:t>
            </a:r>
            <a:endParaRPr lang="en-US" sz="2600" dirty="0"/>
          </a:p>
        </p:txBody>
      </p:sp>
      <p:pic>
        <p:nvPicPr>
          <p:cNvPr id="5" name="Image 0" descr="fig16_avmin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280160"/>
            <a:ext cx="10972800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937760"/>
            <a:ext cx="5760720" cy="1463040"/>
          </a:xfrm>
          <a:prstGeom prst="roundRect">
            <a:avLst>
              <a:gd name="adj" fmla="val 7500"/>
            </a:avLst>
          </a:prstGeom>
          <a:solidFill>
            <a:srgbClr val="E6F2EA"/>
          </a:solidFill>
          <a:ln w="12700">
            <a:solidFill>
              <a:srgbClr val="A7D1B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02920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844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兩式取大</a:t>
            </a:r>
            <a:endParaRPr lang="en-US" sz="1400" dirty="0"/>
          </a:p>
        </p:txBody>
      </p:sp>
      <p:pic>
        <p:nvPicPr>
          <p:cNvPr id="8" name="Image 1" descr="m_avmin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" y="5546293"/>
            <a:ext cx="3516782" cy="55687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46520" y="4937760"/>
            <a:ext cx="5166360" cy="1463040"/>
          </a:xfrm>
          <a:prstGeom prst="roundRect">
            <a:avLst>
              <a:gd name="adj" fmla="val 7500"/>
            </a:avLst>
          </a:prstGeom>
          <a:solidFill>
            <a:srgbClr val="E6F2EA"/>
          </a:solidFill>
          <a:ln w="12700">
            <a:solidFill>
              <a:srgbClr val="A7D1B5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629400" y="502920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844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反算間距（本例 3.5 控制）</a:t>
            </a:r>
            <a:endParaRPr lang="en-US" sz="1400" dirty="0"/>
          </a:p>
        </p:txBody>
      </p:sp>
      <p:pic>
        <p:nvPicPr>
          <p:cNvPr id="11" name="Image 2" descr="m_savmin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75120" y="5532577"/>
            <a:ext cx="3522269" cy="58430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44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關卡 4｜分區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把『四取小』沿梁長走一遍：三條判準水平線</a:t>
            </a:r>
            <a:endParaRPr lang="en-US" sz="2600" dirty="0"/>
          </a:p>
        </p:txBody>
      </p:sp>
      <p:pic>
        <p:nvPicPr>
          <p:cNvPr id="5" name="Image 0" descr="fig17_vudia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280160"/>
            <a:ext cx="1097280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303520"/>
            <a:ext cx="3596640" cy="1097280"/>
          </a:xfrm>
          <a:prstGeom prst="roundRect">
            <a:avLst>
              <a:gd name="adj" fmla="val 10000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394960"/>
            <a:ext cx="3276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3φV</a:t>
            </a:r>
            <a:pPr indent="0" marL="0">
              <a:spcAft>
                <a:spcPts val="300"/>
              </a:spcAft>
              <a:buNone/>
            </a:pPr>
            <a:r>
              <a:rPr lang="en-US" sz="140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2V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的界線：以上用 d/4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282440" y="5303520"/>
            <a:ext cx="3596640" cy="1097280"/>
          </a:xfrm>
          <a:prstGeom prst="roundRect">
            <a:avLst>
              <a:gd name="adj" fmla="val 10000"/>
            </a:avLst>
          </a:prstGeom>
          <a:solidFill>
            <a:srgbClr val="E6F2EA"/>
          </a:solidFill>
          <a:ln w="12700">
            <a:solidFill>
              <a:srgbClr val="A7D1B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65320" y="5394960"/>
            <a:ext cx="3276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E844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φV</a:t>
            </a:r>
            <a:pPr indent="0" marL="0">
              <a:spcAft>
                <a:spcPts val="300"/>
              </a:spcAft>
              <a:buNone/>
            </a:pPr>
            <a:r>
              <a:rPr lang="en-US" sz="1400" b="1" baseline="-40000" dirty="0">
                <a:solidFill>
                  <a:srgbClr val="1E844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以下理論上不需 V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，只剩 A</a:t>
            </a:r>
            <a:pPr indent="0" marL="0">
              <a:spcAft>
                <a:spcPts val="3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v,min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016240" y="5303520"/>
            <a:ext cx="3596640" cy="1097280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99120" y="5394960"/>
            <a:ext cx="3276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0.5φV</a:t>
            </a:r>
            <a:pPr indent="0" marL="0">
              <a:spcAft>
                <a:spcPts val="300"/>
              </a:spcAft>
              <a:buNone/>
            </a:pPr>
            <a:r>
              <a:rPr lang="en-US" sz="1400" b="1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以下規範可免箍筋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44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關卡 4｜配置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例③ 的分區配箍（半跨；另一半對稱）</a:t>
            </a:r>
            <a:endParaRPr lang="en-US" sz="2600" dirty="0"/>
          </a:p>
        </p:txBody>
      </p:sp>
      <p:pic>
        <p:nvPicPr>
          <p:cNvPr id="5" name="Image 0" descr="fig18_layout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213580"/>
            <a:ext cx="11064240" cy="2282000"/>
          </a:xfrm>
          <a:prstGeom prst="rect">
            <a:avLst/>
          </a:prstGeom>
        </p:spPr>
      </p:pic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57600"/>
          <a:ext cx="110642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645920"/>
                <a:gridCol w="1828800"/>
                <a:gridCol w="5120640"/>
                <a:gridCol w="164592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分區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B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範圍 (m)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B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V</a:t>
                      </a:r>
                      <a:pPr algn="ctr" indent="0" marL="0">
                        <a:buNone/>
                      </a:pPr>
                      <a:r>
                        <a:rPr lang="en-US" sz="1400" b="1" baseline="-40000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u</a:t>
                      </a:r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(tf)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B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控制條件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B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採用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B5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A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0 ~ 1.06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63.00 → 44.00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2V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&lt; V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s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≤ 4V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⇒ s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max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= d/4 = 15.75；強度需求 10.40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D13@10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9540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B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1.06 ~ 2.69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44.00 → 14.67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V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s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≤ 2V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⇒ s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max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= d/2 = 31.5；強度需求 17.14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9540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D13@15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8449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2.69 ~ 3.09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14.67 → 7.33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僅需 A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v,min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（s ≤ 86.88）與 s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max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= 31.5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8449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D13@30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D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3.09 ~ 3.50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7.33 → 0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V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u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≤ 0.5φV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，規範可免箍筋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仍配 D13@30</a:t>
                      </a:r>
                      <a:endParaRPr lang="en-US" sz="14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 區的強度需求取區段起點（V</a:t>
            </a:r>
            <a:pPr indent="0" marL="0">
              <a:buNone/>
            </a:pPr>
            <a:r>
              <a:rPr lang="en-US" sz="1250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最大處）；分區不是為了省鋼筋，而是把密箍放在真正需要的端部。題目若問『最少要配到哪裡』，答案是 0.5φV</a:t>
            </a:r>
            <a:pPr indent="0" marL="0">
              <a:buNone/>
            </a:pPr>
            <a:r>
              <a:rPr lang="en-US" sz="1250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的位置。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綜合演練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例①：四道關卡完整走一遍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關卡 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84708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支承受壓、頂面均布、d 內無集中載重 ⇒ 可偏移</a:t>
            </a:r>
            <a:endParaRPr lang="en-US" sz="1350" dirty="0"/>
          </a:p>
        </p:txBody>
      </p:sp>
      <p:pic>
        <p:nvPicPr>
          <p:cNvPr id="8" name="Image 0" descr="m_d1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60720" y="1688257"/>
            <a:ext cx="3166201" cy="28108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246888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606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關卡 2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03580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無軸力、未要求精算 ⇒ 簡化式</a:t>
            </a:r>
            <a:endParaRPr lang="en-US" sz="1350" dirty="0"/>
          </a:p>
        </p:txBody>
      </p:sp>
      <p:pic>
        <p:nvPicPr>
          <p:cNvPr id="12" name="Image 1" descr="m_vc1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60720" y="2849133"/>
            <a:ext cx="3073390" cy="33677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48640" y="365760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DF1E7"/>
          </a:solidFill>
          <a:ln w="12700">
            <a:solidFill>
              <a:srgbClr val="EFC39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31520" y="3794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關卡 3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731520" y="422452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</a:t>
            </a:r>
            <a:pPr indent="0" marL="0">
              <a:buNone/>
            </a:pPr>
            <a:r>
              <a:rPr lang="en-US" sz="135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≤ 2V</a:t>
            </a:r>
            <a:pPr indent="0" marL="0">
              <a:buNone/>
            </a:pPr>
            <a:r>
              <a:rPr lang="en-US" sz="135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39.11 ⇒ s</a:t>
            </a:r>
            <a:pPr indent="0" marL="0">
              <a:buNone/>
            </a:pPr>
            <a:r>
              <a:rPr lang="en-US" sz="135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max</a:t>
            </a:r>
            <a:pPr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d/2；V</a:t>
            </a:r>
            <a:pPr indent="0" marL="0">
              <a:buNone/>
            </a:pPr>
            <a:r>
              <a:rPr lang="en-US" sz="135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≤ 5φV</a:t>
            </a:r>
            <a:pPr indent="0" marL="0">
              <a:buNone/>
            </a:pPr>
            <a:r>
              <a:rPr lang="en-US" sz="135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✓</a:t>
            </a:r>
            <a:endParaRPr lang="en-US" sz="1350" dirty="0"/>
          </a:p>
        </p:txBody>
      </p:sp>
      <p:pic>
        <p:nvPicPr>
          <p:cNvPr id="16" name="Image 2" descr="m_vs1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60720" y="3992773"/>
            <a:ext cx="2617287" cy="426933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548640" y="484632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E6F2EA"/>
          </a:solidFill>
          <a:ln w="12700">
            <a:solidFill>
              <a:srgbClr val="A7D1B5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731520" y="49834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844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關卡 4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731520" y="541324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min(25.43, 31.5, 86.88) = 25.43 → 取 D13@25</a:t>
            </a:r>
            <a:endParaRPr lang="en-US" sz="1350" dirty="0"/>
          </a:p>
        </p:txBody>
      </p:sp>
      <p:pic>
        <p:nvPicPr>
          <p:cNvPr id="20" name="Image 3" descr="m_s1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60720" y="5149672"/>
            <a:ext cx="3015051" cy="49057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對照：若誤判不能偏移（取 42.00），V</a:t>
            </a:r>
            <a:pPr indent="0" marL="0">
              <a:buNone/>
            </a:pPr>
            <a:r>
              <a:rPr lang="en-US" sz="1350" b="1" baseline="-40000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buNone/>
            </a:pPr>
            <a:r>
              <a:rPr lang="en-US" sz="1350" b="1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36.44、s ≤ 18.40 → 只能配 D13@18；多用約 38.9% 箍筋。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解題流程圖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考場上照著走：四道關卡的判斷路徑</a:t>
            </a:r>
            <a:endParaRPr lang="en-US" sz="2600" dirty="0"/>
          </a:p>
        </p:txBody>
      </p:sp>
      <p:pic>
        <p:nvPicPr>
          <p:cNvPr id="5" name="Image 0" descr="fig19_flow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8304" y="1234440"/>
            <a:ext cx="9724913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考場陷阱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最常扣分的六個地方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602736" cy="2331720"/>
          </a:xfrm>
          <a:prstGeom prst="roundRect">
            <a:avLst>
              <a:gd name="adj" fmla="val 4706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55448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1｜d 偏移無條件套用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吊掛、倒 T 梁、d 內有集中載重都不能偏移；例③正確的端部箍筋量比誤用多約 31%。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79392" y="1371600"/>
            <a:ext cx="3602736" cy="2331720"/>
          </a:xfrm>
          <a:prstGeom prst="roundRect">
            <a:avLst>
              <a:gd name="adj" fmla="val 4706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80560" y="155448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2｜V</a:t>
            </a:r>
            <a:pPr indent="0" marL="0">
              <a:spcAft>
                <a:spcPts val="800"/>
              </a:spcAft>
              <a:buNone/>
            </a:pPr>
            <a:r>
              <a:rPr lang="en-US" sz="1600" b="1" baseline="-4000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選錯臉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看到軸拉就要想到 /35A</a:t>
            </a:r>
            <a:pPr indent="0" marL="0">
              <a:spcAft>
                <a:spcPts val="8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；耐震塑鉸區 V</a:t>
            </a:r>
            <a:pPr indent="0" marL="0">
              <a:spcAft>
                <a:spcPts val="8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0。同一斷面可差到 4 倍。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10144" y="1371600"/>
            <a:ext cx="3602736" cy="2331720"/>
          </a:xfrm>
          <a:prstGeom prst="roundRect">
            <a:avLst>
              <a:gd name="adj" fmla="val 4706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11312" y="155448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3｜忘記斷面天花板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先比 V</a:t>
            </a:r>
            <a:pPr indent="0" marL="0">
              <a:spcAft>
                <a:spcPts val="8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與 5φV</a:t>
            </a:r>
            <a:pPr indent="0" marL="0">
              <a:spcAft>
                <a:spcPts val="8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；V</a:t>
            </a:r>
            <a:pPr indent="0" marL="0">
              <a:spcAft>
                <a:spcPts val="8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&gt; 4V</a:t>
            </a:r>
            <a:pPr indent="0" marL="0">
              <a:spcAft>
                <a:spcPts val="8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時加箍筋無效，只能改斷面或 f′</a:t>
            </a:r>
            <a:pPr indent="0" marL="0">
              <a:spcAft>
                <a:spcPts val="8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3602736" cy="2331720"/>
          </a:xfrm>
          <a:prstGeom prst="roundRect">
            <a:avLst>
              <a:gd name="adj" fmla="val 4706"/>
            </a:avLst>
          </a:prstGeom>
          <a:solidFill>
            <a:srgbClr val="FDF1E7"/>
          </a:solidFill>
          <a:ln w="12700">
            <a:solidFill>
              <a:srgbClr val="EFC39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406908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4｜尺用錯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間距門檻與天花板是 1.06、2.12√f′</a:t>
            </a:r>
            <a:pPr indent="0" marL="0">
              <a:spcAft>
                <a:spcPts val="8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b</a:t>
            </a:r>
            <a:pPr indent="0" marL="0">
              <a:spcAft>
                <a:spcPts val="8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d；V</a:t>
            </a:r>
            <a:pPr indent="0" marL="0">
              <a:spcAft>
                <a:spcPts val="8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被修正時不能用『2V</a:t>
            </a:r>
            <a:pPr indent="0" marL="0">
              <a:spcAft>
                <a:spcPts val="8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、4V</a:t>
            </a:r>
            <a:pPr indent="0" marL="0">
              <a:spcAft>
                <a:spcPts val="8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』。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279392" y="3886200"/>
            <a:ext cx="3602736" cy="2331720"/>
          </a:xfrm>
          <a:prstGeom prst="roundRect">
            <a:avLst>
              <a:gd name="adj" fmla="val 4706"/>
            </a:avLst>
          </a:prstGeom>
          <a:solidFill>
            <a:srgbClr val="E6F2EA"/>
          </a:solidFill>
          <a:ln w="12700">
            <a:solidFill>
              <a:srgbClr val="A7D1B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80560" y="406908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E844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5｜間距只算強度就交卷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四取小：強度需求、s</a:t>
            </a:r>
            <a:pPr indent="0" marL="0">
              <a:spcAft>
                <a:spcPts val="8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max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、A</a:t>
            </a:r>
            <a:pPr indent="0" marL="0">
              <a:spcAft>
                <a:spcPts val="8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v,min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、施工取整——缺一個就扣分。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010144" y="3886200"/>
            <a:ext cx="3602736" cy="2331720"/>
          </a:xfrm>
          <a:prstGeom prst="roundRect">
            <a:avLst>
              <a:gd name="adj" fmla="val 4706"/>
            </a:avLst>
          </a:prstGeom>
          <a:solidFill>
            <a:srgbClr val="F1EDFA"/>
          </a:solidFill>
          <a:ln w="12700">
            <a:solidFill>
              <a:srgbClr val="C9BC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11312" y="406908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6｜詳細式漏限制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</a:t>
            </a:r>
            <a:pPr indent="0" marL="0">
              <a:spcAft>
                <a:spcPts val="8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d/M</a:t>
            </a:r>
            <a:pPr indent="0" marL="0">
              <a:spcAft>
                <a:spcPts val="8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≤ 1、上限 0.93√f′</a:t>
            </a:r>
            <a:pPr indent="0" marL="0">
              <a:spcAft>
                <a:spcPts val="8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b</a:t>
            </a:r>
            <a:pPr indent="0" marL="0">
              <a:spcAft>
                <a:spcPts val="8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d；有軸壓用 M</a:t>
            </a:r>
            <a:pPr indent="0" marL="0">
              <a:spcAft>
                <a:spcPts val="8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，M</a:t>
            </a:r>
            <a:pPr indent="0" marL="0">
              <a:spcAft>
                <a:spcPts val="8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≤ 0 取帶軸力項的上限式。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回顧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四道關卡速查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1042416"/>
          </a:xfrm>
          <a:prstGeom prst="roundRect">
            <a:avLst>
              <a:gd name="adj" fmla="val 10526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44475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關卡 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8470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</a:t>
            </a:r>
            <a:pPr indent="0" marL="0">
              <a:buNone/>
            </a:pPr>
            <a:r>
              <a:rPr lang="en-US" sz="1400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取在哪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1444752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三前提同時成立 → 取 d 處；否則取支承面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1865376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例①：42.00 → 34.44（省 18.0%）｜例③：只能 63.00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441448"/>
            <a:ext cx="11064240" cy="1042416"/>
          </a:xfrm>
          <a:prstGeom prst="roundRect">
            <a:avLst>
              <a:gd name="adj" fmla="val 10526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606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關卡 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00837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</a:t>
            </a:r>
            <a:pPr indent="0" marL="0">
              <a:buNone/>
            </a:pPr>
            <a:r>
              <a:rPr lang="en-US" sz="1400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用哪張臉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560320" y="260604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簡化／詳細／軸壓 140／軸拉 35／耐震 0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560320" y="3026664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19.56｜23.24｜22.98｜5.87｜0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602736"/>
            <a:ext cx="11064240" cy="1042416"/>
          </a:xfrm>
          <a:prstGeom prst="roundRect">
            <a:avLst>
              <a:gd name="adj" fmla="val 10526"/>
            </a:avLst>
          </a:prstGeom>
          <a:solidFill>
            <a:srgbClr val="FDF1E7"/>
          </a:solidFill>
          <a:ln w="12700">
            <a:solidFill>
              <a:srgbClr val="EFC39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7673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關卡 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16966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</a:t>
            </a:r>
            <a:pPr indent="0" marL="0">
              <a:buNone/>
            </a:pPr>
            <a:r>
              <a:rPr lang="en-US" sz="1400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在哪段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560320" y="3767328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</a:t>
            </a:r>
            <a:pPr indent="0" marL="0">
              <a:buNone/>
            </a:pPr>
            <a:r>
              <a:rPr lang="en-US" sz="1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V</a:t>
            </a:r>
            <a:pPr indent="0" marL="0">
              <a:buNone/>
            </a:pPr>
            <a:r>
              <a:rPr lang="en-US" sz="1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/φ − V</a:t>
            </a:r>
            <a:pPr indent="0" marL="0">
              <a:buNone/>
            </a:pPr>
            <a:r>
              <a:rPr lang="en-US" sz="1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；門檻 1.06、2.12√f′</a:t>
            </a:r>
            <a:pPr indent="0" marL="0">
              <a:buNone/>
            </a:pPr>
            <a:r>
              <a:rPr lang="en-US" sz="1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b</a:t>
            </a:r>
            <a:pPr indent="0" marL="0">
              <a:buNone/>
            </a:pPr>
            <a:r>
              <a:rPr lang="en-US" sz="1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</a:t>
            </a:r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2560320" y="4187952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例③ V</a:t>
            </a:r>
            <a:pPr indent="0" marL="0">
              <a:buNone/>
            </a:pPr>
            <a:r>
              <a:rPr lang="en-US" sz="1400" baseline="-40000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buNone/>
            </a:pPr>
            <a:r>
              <a:rPr lang="en-US" sz="1400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64.44；V</a:t>
            </a:r>
            <a:pPr indent="0" marL="0">
              <a:buNone/>
            </a:pPr>
            <a:r>
              <a:rPr lang="en-US" sz="1400" baseline="-40000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buNone/>
            </a:pPr>
            <a:r>
              <a:rPr lang="en-US" sz="1400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≤ 5φV</a:t>
            </a:r>
            <a:pPr indent="0" marL="0">
              <a:buNone/>
            </a:pPr>
            <a:r>
              <a:rPr lang="en-US" sz="1400" baseline="-40000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1400" dirty="0">
                <a:solidFill>
                  <a:srgbClr val="B9540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73.33（85.9%）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764024"/>
            <a:ext cx="11064240" cy="1042416"/>
          </a:xfrm>
          <a:prstGeom prst="roundRect">
            <a:avLst>
              <a:gd name="adj" fmla="val 10526"/>
            </a:avLst>
          </a:prstGeom>
          <a:solidFill>
            <a:srgbClr val="E6F2EA"/>
          </a:solidFill>
          <a:ln w="12700">
            <a:solidFill>
              <a:srgbClr val="A7D1B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92861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844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關卡 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53309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 取多少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2560320" y="4928616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四取小；三條線 3φV</a:t>
            </a:r>
            <a:pPr indent="0" marL="0">
              <a:buNone/>
            </a:pPr>
            <a:r>
              <a:rPr lang="en-US" sz="1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、φV</a:t>
            </a:r>
            <a:pPr indent="0" marL="0">
              <a:buNone/>
            </a:pPr>
            <a:r>
              <a:rPr lang="en-US" sz="1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、0.5φV</a:t>
            </a:r>
            <a:pPr indent="0" marL="0">
              <a:buNone/>
            </a:pPr>
            <a:r>
              <a:rPr lang="en-US" sz="1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分區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2560320" y="534924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844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例③ D13@10／@15／@30；例① D13@25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順序千萬不要顛倒：先定 V</a:t>
            </a:r>
            <a:pPr algn="ctr" indent="0" marL="0">
              <a:buNone/>
            </a:pPr>
            <a:r>
              <a:rPr lang="en-US" sz="1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algn="ctr"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→ 再選 V</a:t>
            </a:r>
            <a:pPr algn="ctr" indent="0" marL="0">
              <a:buNone/>
            </a:pPr>
            <a:r>
              <a:rPr lang="en-US" sz="1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algn="ctr"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→ 再判 V</a:t>
            </a:r>
            <a:pPr algn="ctr" indent="0" marL="0">
              <a:buNone/>
            </a:pPr>
            <a:r>
              <a:rPr lang="en-US" sz="1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algn="ctr"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區間 → 最後才算 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RC-U2-1 拼圖三：四道關卡解題SOP</dc:title>
  <dc:subject>PptxGenJS Presentation</dc:subject>
  <dc:creator>PptxGenJS</dc:creator>
  <cp:lastModifiedBy>PptxGenJS</cp:lastModifiedBy>
  <cp:revision>1</cp:revision>
  <dcterms:created xsi:type="dcterms:W3CDTF">2026-09-25T13:15:05Z</dcterms:created>
  <dcterms:modified xsi:type="dcterms:W3CDTF">2026-09-25T13:15:05Z</dcterms:modified>
</cp:coreProperties>
</file>