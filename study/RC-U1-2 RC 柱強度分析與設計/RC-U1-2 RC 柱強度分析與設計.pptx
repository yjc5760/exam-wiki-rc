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RC-U1-2 · 鋼筋混凝土｜觀念講義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柱強度分析與設計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柱不是「加了軸力的梁」—— 它少了一條方程式，所以答案是一條曲線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全篇貫穿同一根示範柱：60×60 cm、8-#9、f'c 280、fy 4200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鋼筋混凝土「柱強度分析與設計」觀念講義｜原理 · 公式 · 向量圖解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一個底層邏輯、一台計算引擎、三個入口、一個 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底層邏輯：為什麼是曲線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柱有 c 與 P 兩個未知數，力平衡只有一條式子。少一條方程式，所以只能掃描 c，得到一整條 (Pn, Mn) 軌跡。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唯一計算引擎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假設一個 c → 用「應變是直線」算每排鋼筋應力 → 做軸力平衡得 Pn、做彎矩平衡得 Mn。全單元只有這一台引擎。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三大入口：c 從哪裡來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條件直讀（εt=0、平衡點）；B 反解二次式（給 Pu 或給 e）；C 掃描四控制點（要畫互制圖）。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 值與破壞預警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由最外層拉力筋的 εt 決定：拉力控制 0.90、壓力控制 0.65、過渡區內插。φ 不是常數，會改變曲線形狀。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底層邏輯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梁與柱的差別，不在「有沒有軸力」，在「少了一條方程式」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1-beam-vs-colu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4339"/>
            <a:ext cx="6501384" cy="35637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梁：軸力 P = 0，未知數只有 c。力平衡 Cc = T 一條式子就把 c 定死，答案是唯一的 Mn。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柱：未知數有 c 與 Pn 兩個，方程式只有 ΣF = 0 一條 —— 系統是不定的。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少的那一條，題目會用別的方式補上：給 εt、給 Pu、給 e，或叫你自己掃描。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所以柱題第一件事永遠是：先找出「c 從哪裡來」，而不是急著代公式。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兩者共用完全相同的斷面假設：平面保持平面、混凝土極限應變 0.003、等值應力塊。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引擎第一步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應變是直線，鋼筋應力被 ±fy 截斷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各排鋼筋應變 —— 幾何相似三角形，壓為正、拉為負</a:t>
            </a:r>
            <a:endParaRPr lang="en-US" sz="1300" dirty="0"/>
          </a:p>
        </p:txBody>
      </p:sp>
      <p:pic>
        <p:nvPicPr>
          <p:cNvPr id="7" name="Image 0" descr="formula_imgs/f_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5833" y="1847088"/>
            <a:ext cx="505305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換算鋼筋應力 —— 先用彈性式，再被 ±fy 截頂</a:t>
            </a:r>
            <a:endParaRPr lang="en-US" sz="1300" dirty="0"/>
          </a:p>
        </p:txBody>
      </p:sp>
      <p:pic>
        <p:nvPicPr>
          <p:cNvPr id="11" name="Image 1" descr="formula_imgs/f_f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705" y="2962656"/>
            <a:ext cx="455931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降伏應變（判斷截不截頂的門檻）</a:t>
            </a:r>
            <a:endParaRPr lang="en-US" sz="1300" dirty="0"/>
          </a:p>
        </p:txBody>
      </p:sp>
      <p:pic>
        <p:nvPicPr>
          <p:cNvPr id="15" name="Image 2" descr="formula_imgs/f_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081269"/>
            <a:ext cx="7772400" cy="5425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最外層拉力筋應變（φ 值的唯一判準）</a:t>
            </a:r>
            <a:endParaRPr lang="en-US" sz="1300" dirty="0"/>
          </a:p>
        </p:txBody>
      </p:sp>
      <p:pic>
        <p:nvPicPr>
          <p:cNvPr id="19" name="Image 3" descr="formula_imgs/f_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855" y="5193792"/>
            <a:ext cx="212101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最常見的錯誤是「假設鋼筋都降伏」就直接代 fy。中排鋼筋在平衡點附近幾乎一定沒降伏（本示範柱只有 386.7 kgf/cm²，不到 fy 的 1/10）。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掃描的意思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「掃描 c」到底在掃什麼？一條應變直線，換一個點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rc12-fig-2-scan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51457"/>
            <a:ext cx="6501384" cy="3726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所有應變直線都繞著同一個支點轉 —— 頂面 εcu = 0.003 那一點，因為那是混凝土壓碎的定義。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愈大 → 中性軸愈深 → 受壓面積愈大 → Pn 愈大，但力偶臂與拉力側的貢獻同時被犧牲。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把每個 c 算出的 (Pn, Mn) 點在圖上連起來，就是 P-M 互制圖 —— 不是背來的，是掃出來的。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互制曲線是斷面的身分證：一旦配筋定了，曲線就定了，與實際作用的軸力大小無關。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引擎第二步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軸力平衡：混凝土合力加上每一排鋼筋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等值應力塊深度（f'c &gt; 280 時 β1 要折減）</a:t>
            </a:r>
            <a:endParaRPr lang="en-US" sz="1300" dirty="0"/>
          </a:p>
        </p:txBody>
      </p:sp>
      <p:pic>
        <p:nvPicPr>
          <p:cNvPr id="7" name="Image 0" descr="formula_imgs/f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2915" y="1847088"/>
            <a:ext cx="529889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混凝土壓力合力</a:t>
            </a:r>
            <a:endParaRPr lang="en-US" sz="1300" dirty="0"/>
          </a:p>
        </p:txBody>
      </p:sp>
      <p:pic>
        <p:nvPicPr>
          <p:cNvPr id="11" name="Image 1" descr="formula_imgs/f_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073" y="2962656"/>
            <a:ext cx="272657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鋼筋力：在應力塊 a 內要扣掉被占位的混凝土，在 a 外不扣</a:t>
            </a:r>
            <a:endParaRPr lang="en-US" sz="1300" dirty="0"/>
          </a:p>
        </p:txBody>
      </p:sp>
      <p:pic>
        <p:nvPicPr>
          <p:cNvPr id="15" name="Image 2" descr="formula_imgs/f_f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112233"/>
            <a:ext cx="7772400" cy="48062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軸力平衡</a:t>
            </a:r>
            <a:endParaRPr lang="en-US" sz="1300" dirty="0"/>
          </a:p>
        </p:txBody>
      </p:sp>
      <p:pic>
        <p:nvPicPr>
          <p:cNvPr id="19" name="Image 3" descr="formula_imgs/f_p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187" y="5193792"/>
            <a:ext cx="2158346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 0.85f'c 是因為那塊混凝土面積已經被 Cc 算過一次；漏扣會讓 Pn 偏高，整條互制曲線往外膨脹。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唯一計算引擎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給一個 c，走完這三格就得到 (Pn, Mn)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3-eng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26698"/>
            <a:ext cx="6501384" cy="35190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斷面：把每排鋼筋的深度 di 與面積 Asi 先列成表，這一步花 30 秒，後面不會亂。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應變：εi = 0.003(c − di)/c，然後 fsi = Es·εi 但被 ±fy 截斷。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力：Cc 加上各排鋼筋力得 Pn；各力對形心取矩得 Mn。兩次平衡，一次都不能少。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本例取平衡點 c = 32.02 cm：上排 +76.9、中排 +5.0、下排 −81.5 tf，Cc = 388.7 tf。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全單元所有題型共用這台引擎，差別只在「c 從哪裡來」。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引擎第三步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彎矩平衡：對斷面形心取矩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對形心（對稱配筋即 h/2）取矩</a:t>
            </a:r>
            <a:endParaRPr lang="en-US" sz="1300" dirty="0"/>
          </a:p>
        </p:txBody>
      </p:sp>
      <p:pic>
        <p:nvPicPr>
          <p:cNvPr id="7" name="Image 0" descr="formula_imgs/f_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65700"/>
            <a:ext cx="7772400" cy="10269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大絕招：位於形心處的中排鋼筋，力臂為零</a:t>
            </a:r>
            <a:endParaRPr lang="en-US" sz="1300" dirty="0"/>
          </a:p>
        </p:txBody>
      </p:sp>
      <p:pic>
        <p:nvPicPr>
          <p:cNvPr id="11" name="Image 1" descr="formula_imgs/f_a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39165"/>
            <a:ext cx="7772400" cy="7423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中排鋼筋會影響 Pn，但完全不貢獻 Mn。把它拿掉，Pn 會變、Mn 一點都不變 —— 這是快速檢查自己有沒有算錯的好方法。取矩點選形心而不是拉力筋，是因為柱有軸力，選形心才能讓 e = Mn/Pn 直接對應偏心距。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掉分細節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兩個最常掉分的細節：扣 0.85f'c、力臂為零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rc12-fig-4-two-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25601"/>
            <a:ext cx="6501384" cy="33783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細節一：只有落在應力塊 a 範圍「內」的壓力筋要扣 0.85f'c，在 a 外的不扣。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本示範柱 a = 27.2 cm，只有上排（d = 6）在 a 內；中排 d = 30 已經在 a 外了。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細節二：對形心取矩時，中排鋼筋的力臂 (h/2 − di) = 0，貢獻的彎矩是 0 不是小數。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考場檢查法：把每排鋼筋的「在不在 a 內」與「力臂」先列成兩欄表格，再開始代數字。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全貌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示範柱的 P-M 互制圖：四個控制點決定整條曲線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5-pm-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66" y="1892808"/>
            <a:ext cx="5787267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純軸壓 Po = 1062 tf 是整個斷面的軸力上限，設計時還要再乘 0.80 保留最小偏心。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平衡點 (389, 101.7) 是曲線最右端 —— 標稱最大彎矩發生在這裡，不是在純彎。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純彎矩 M0 = 54.6 tf·m，相當於把這根柱當梁算；平衡點是它的 1.86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需求點落在曲線內側就安全，落在外側就是斷面不足 —— 這就是柱的「檢核」動作。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四個控制點的數值全部由同一台引擎算出，沒有任何一個是查表得來的。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P-M 圖為什麼會「鼓」出來？因為軸力在平衡點前後換了立場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rc12-fig-6-why-bul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40900"/>
            <a:ext cx="6501384" cy="43478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下半段（c &lt; cb，拉力控制）：軸壓把受拉區壓回去，中性軸下移、力偶臂拉長 —— 軸力是幫手，P 與 M 同時增加。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上半段（c &gt; cb，壓力控制）：混凝土容量被軸力吃掉，能留給彎矩的變少 —— 軸力是兇手，P 增、M 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轉折點就是平衡點：最外層拉力筋恰好降伏（εt = εy）的那一步。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對稱配筋柱的標稱最大彎矩必在平衡點，數值約為純彎矩的 1.8 ～ 2.2 倍（本柱 1.86）。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三大入口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拿到柱題第一件事：判斷屬於哪一個入口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35661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入口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觸發關鍵字／題目條件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 的決定方式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代公式難易度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 條件直讀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拉力筋應變為零／平衡點／求最大標稱彎矩／直接給 c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εt = 0 ⇒ c = dt；εt = εy ⇒ cb = 6120/(6120+fy)·dt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最簡單：免解方程式，直接代引擎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 反解方程式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給定 Pu（如 Pu = 0.9Pb）／給定偏心距 e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把 Pn(c) 寫成代數式，令 Pn = Pu/φ，整理成 c 的二次方程式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費時但機械化：解出 c 後必須驗證降伏狀態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 掃描控制點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要求繪製 P-M 互制圖／步驟說明的觀念題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依序算 ① Po（再乘 0.80）② c = dt ③ cb ④ Pn = 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觀念題：依序代入引擎產生四個點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入口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入口 A：c 直接讀出來，一行就定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7-entry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41373"/>
            <a:ext cx="6501384" cy="36896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「拉力筋應力為零」= 拉力筋應變為零 = 中性軸剛好落在最外排鋼筋上 ⇒ c = dt，不必推導。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「恰好降伏」「求最大標稱彎矩」⇒ 平衡點，cb 由相似三角形直接寫出，代 fy = 4200 得 cb = 0.593dt。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本柱 dt = 54 cm：εt = 0 給 (764.5, 64.67)；平衡點給 (389.1, 101.73)。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這一類是柱題裡最省時間的送分題，先掃一遍考卷把它們挑出來寫。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 制的常數是 600（600/(600+fy)·dt），kgf 制是 6120。用錯單位制會差約 2%，通常還是會被扣分。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入口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兩個可以直接讀出來的 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條件一：拉力筋應變為零</a:t>
            </a:r>
            <a:endParaRPr lang="en-US" sz="1300" dirty="0"/>
          </a:p>
        </p:txBody>
      </p:sp>
      <p:pic>
        <p:nvPicPr>
          <p:cNvPr id="7" name="Image 0" descr="formula_imgs/f_cd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35274"/>
            <a:ext cx="7772400" cy="12878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條件二：平衡點（最外層拉力筋恰好降伏）</a:t>
            </a:r>
            <a:endParaRPr lang="en-US" sz="1300" dirty="0"/>
          </a:p>
        </p:txBody>
      </p:sp>
      <p:pic>
        <p:nvPicPr>
          <p:cNvPr id="11" name="Image 1" descr="formula_imgs/f_c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76765"/>
            <a:ext cx="7772400" cy="1067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cb 的推導就是相似三角形：混凝土 0.003 對應 c，鋼筋 εy 對應 (dt − c)，把 εy = fy/Es 代進去整理即得。記公式不如記這條推導，考場忘了也推得回來。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入口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入口 B：題目鎖住了 P 或 e，c 必須反解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8-entry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4042"/>
            <a:ext cx="6501384" cy="37443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偏心距 e 的物理意義：一個偏心 e 的軸力 Pn，等於「中心軸力 Pn」加上「彎矩 Mn = Pn·e」。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 P-M 圖上，固定 e 就是一條通過原點、斜率 1/e 的射線；它與互制曲線的交點就是斷面的容量。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Pn 對 c 單調上升，所以 Pn(c) = Pu/φ 的根是唯一的，不會有「另一個解」的困擾。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解出 c 之後一定要回頭驗證每排鋼筋到底降伏了沒有 —— 二次式是用某個假設整理出來的。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值一開始是未知的（它取決於 εt，而 εt 又取決於 c）。實務上先假設壓力控制 φ = 0.65 解一次，再用解出的 εt 回頭確認分區是否一致。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示範柱完整走一遍：給 Pu = 350 tf，求 φMn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同一台引擎，從假設 φ 到收尾驗證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 = 350 tf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60×60、8-#9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假設壓力控制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0.65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Pn = Pu/φ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538.5 tf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反解 Pn(c)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⇒ c = 40.05 cm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β1c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34.04 cm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各排 εi、fsi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（上排降伏、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中下排未降伏）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 a 內的壓力筋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 0.85f'c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對形心取矩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= 91.48 tf·m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+0.00104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&lt; εy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確認壓力控制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0.65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90749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φMn = 0.65 × 91.48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= 59.46 tf·m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假設錯了怎麼辦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若算出的 εt 落在過渡區或拉力控制區，代表一開始假設的 φ 錯了：用新的 φ 重算 Pn = Pu/φ，再解一次 c，通常兩輪就收斂。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三個必做的驗證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5" name="Text 43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鋼筋降伏狀態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每排都要回頭驗 εi，不可全部代 fy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應力塊扣除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 ≤ a 的壓力筋要扣 0.85f'c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分區一致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算出的 εt 要與假設的 φ 相符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入口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入口 C：要畫互制圖，就依序算這四個控制點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9-four-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12166"/>
            <a:ext cx="6501384" cy="25480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純軸壓 Po：全斷面均勻受壓，εt = −0.003；設計時再乘 0.80（締箍）或 0.85（螺箍）。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εt = 0（c = dt）：全斷面受壓的分界，最外排鋼筋應力剛好為零。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平衡點（c = cb）：曲線最右端，標稱彎矩的峰值。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純彎矩（Pn = 0）：把柱當梁算，本柱 c 只剩 8.61 cm、εt 高達 0.0158，φ = 0.90。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答觀念題時照這四點的順序寫，每點附上 (Pn, Mn) 與 εt，就是一份完整答案。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控制點與配筋限制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純軸壓上限與配筋率規定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理論純軸壓強度（扣掉鋼筋占位的混凝土）</a:t>
            </a:r>
            <a:endParaRPr lang="en-US" sz="1300" dirty="0"/>
          </a:p>
        </p:txBody>
      </p:sp>
      <p:pic>
        <p:nvPicPr>
          <p:cNvPr id="7" name="Image 0" descr="formula_imgs/f_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73989"/>
            <a:ext cx="7772400" cy="8666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設計用上限 —— 強制保留最小偏心</a:t>
            </a:r>
            <a:endParaRPr lang="en-US" sz="1300" dirty="0"/>
          </a:p>
        </p:txBody>
      </p:sp>
      <p:pic>
        <p:nvPicPr>
          <p:cNvPr id="11" name="Image 1" descr="formula_imgs/f_pnma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93925"/>
            <a:ext cx="7772400" cy="6016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主筋配筋率上下限</a:t>
            </a:r>
            <a:endParaRPr lang="en-US" sz="1300" dirty="0"/>
          </a:p>
        </p:txBody>
      </p:sp>
      <p:pic>
        <p:nvPicPr>
          <p:cNvPr id="15" name="Image 2" descr="formula_imgs/f_rh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71611"/>
            <a:ext cx="7772400" cy="82114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0.80 / 0.85 這個折減不是安全係數，而是規範替你保留了「施工偏差一定會造成的最小偏心」。本示範柱 Po = 1062 tf，0.80Po = 849 tf，再乘 φ = 0.65 後設計上限只剩 552 tf。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φ 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 是「破壞前有沒有預警」的價格標籤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10-phi-z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80905"/>
            <a:ext cx="6501384" cy="36105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拉力控制（εt ≥ 0.005）：鋼筋先降伏、大變形、裂縫明顯 —— 有預警，φ = 0.90。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壓力控制（εt ≤ εy）：混凝土突然壓碎、幾乎沒有前兆 —— 無預警，矩形締箍柱 φ = 0.65（螺箍 0.75）。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過渡區按 εt 線性內插；分母 (0.005 − εy) 是 SD420 專用，高強度鋼筋要改成 0.003。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因為 φ 在上下半段不同，設計曲線不是標稱曲線等比例縮小，形狀會改變。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的判準是「最外層」拉力筋的 εt —— 不是平均應變，也不是中排鋼筋。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φ 與設計要求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先判分區，再決定設計強度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分區判準（兩端點）</a:t>
            </a:r>
            <a:endParaRPr lang="en-US" sz="1300" dirty="0"/>
          </a:p>
        </p:txBody>
      </p:sp>
      <p:pic>
        <p:nvPicPr>
          <p:cNvPr id="7" name="Image 0" descr="formula_imgs/f_ph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3593" y="1847088"/>
            <a:ext cx="691753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過渡區內插（全庫統一用現行式）</a:t>
            </a:r>
            <a:endParaRPr lang="en-US" sz="1300" dirty="0"/>
          </a:p>
        </p:txBody>
      </p:sp>
      <p:pic>
        <p:nvPicPr>
          <p:cNvPr id="11" name="Image 1" descr="formula_imgs/f_p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594" y="2962656"/>
            <a:ext cx="2795532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設計檢核</a:t>
            </a:r>
            <a:endParaRPr lang="en-US" sz="1300" dirty="0"/>
          </a:p>
        </p:txBody>
      </p:sp>
      <p:pic>
        <p:nvPicPr>
          <p:cNvPr id="15" name="Image 2" descr="formula_imgs/f_desig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129" y="4078224"/>
            <a:ext cx="4466461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高頻陷阱：最大值不能先乘再取</a:t>
            </a:r>
            <a:endParaRPr lang="en-US" sz="1300" dirty="0"/>
          </a:p>
        </p:txBody>
      </p:sp>
      <p:pic>
        <p:nvPicPr>
          <p:cNvPr id="19" name="Image 3" descr="formula_imgs/f_pea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982" y="5193792"/>
            <a:ext cx="367075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不要再用舊式 0.65 + (εt − 0.002)/0.003 × 0.25。fy = 4200 時平衡點 εt = εy = 0.00206 恰在壓力控制界限上，現行式得 φ = 0.650（不內插），舊式會得 0.655。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高頻陷阱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問「最大設計彎矩」時，答案不在平衡點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11-phimn-p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027" y="1892808"/>
            <a:ext cx="626494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標稱最大 Mn 在平衡點（本柱 101.7 tf·m），但那裡 φ 只有 0.65，φMn = 66.1。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φMn 的峰值落在拉力控制界限 εt = 0.005（c = 0.375dt），本柱 81.5 tf·m —— 高出 23%。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原因：過渡區裡 φ 必須走完 0.65 → 0.90（相對 +38%），而 Mn 同區間只退約 15%。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這是「折點」極大值，不是導數為零的平滑極值，所以不能微分求，要分段判斷。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只有當軸力「可適當調整」時才有這個陷阱。題目已經給了 Pu、e 或 εt，就沒有峰值位置的問題，只要 φ 分區判對即可。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細長效應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細長效應只放大需求彎矩，不動 P-M 互制圖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12-slender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42036"/>
            <a:ext cx="6501384" cy="3888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柱受壓後會側向撓曲 δ，軸力沿著變形後的位置作用，產生額外的 Pu·δ —— 這就是二階效應。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第一關：算細長比 klu/r，不超過 34 − 12(M1/M2) 就是短柱，直接用 M2。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第二關：超過門檻就算放大係數 δns，把 Mc = δns·M2 送進「原封不動」的 P-M 圖檢核。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最常見的錯誤是把 δns 拿去折減斷面強度 —— 它改的是需求，不是容量。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題目一給 lu、k、βd 這三個字眼，就是在提醒你要先檢查細長比。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細長效應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細長比門檻與彎矩放大係數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無側移構架的細長比門檻（矩形柱 r ≈ 0.3h）</a:t>
            </a:r>
            <a:endParaRPr lang="en-US" sz="1300" dirty="0"/>
          </a:p>
        </p:txBody>
      </p:sp>
      <p:pic>
        <p:nvPicPr>
          <p:cNvPr id="7" name="Image 0" descr="formula_imgs/f_sl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9057" y="1847088"/>
            <a:ext cx="3586606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等值均佈彎矩係數（單曲率 M1/M2 為負）</a:t>
            </a:r>
            <a:endParaRPr lang="en-US" sz="1300" dirty="0"/>
          </a:p>
        </p:txBody>
      </p:sp>
      <p:pic>
        <p:nvPicPr>
          <p:cNvPr id="11" name="Image 1" descr="formula_imgs/f_c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747" y="2962656"/>
            <a:ext cx="2927227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臨界挫屈載重（0.75 為勁度折減）</a:t>
            </a:r>
            <a:endParaRPr lang="en-US" sz="1300" dirty="0"/>
          </a:p>
        </p:txBody>
      </p:sp>
      <p:pic>
        <p:nvPicPr>
          <p:cNvPr id="15" name="Image 2" descr="formula_imgs/f_p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600" y="4078224"/>
            <a:ext cx="280951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彎矩放大係數 —— 放大後送進互制圖的設計彎矩為 Mc = δns·M2</a:t>
            </a:r>
            <a:endParaRPr lang="en-US" sz="1300" dirty="0"/>
          </a:p>
        </p:txBody>
      </p:sp>
      <p:pic>
        <p:nvPicPr>
          <p:cNvPr id="19" name="Image 3" descr="formula_imgs/f_d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579" y="5193792"/>
            <a:ext cx="2549562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βd 是持續載重造成的潛變效應：長期載重比例愈高，EI 折得愈多、Pc 愈小、δns 愈大。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考場作答流程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柱題四步 SOP：先看細長，再鎖入口，最後判 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先檢查細長效應：題目有給 lu、k、βd？有就算 klu/r，超過門檻則求 δns，得 Mc = δns·M2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從哪裡來？（鎖定入口）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9208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569208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條件直讀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εt=0 ⇒ c=dt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εt=εy ⇒ c=cb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0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0144" y="3355848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4328160" y="3355848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反解二次式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Pn(c)=Pu/φ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或用 e=Mn/Pn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0" y="3063240"/>
            <a:ext cx="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6392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46392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77328" y="3355848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7705344" y="3355848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掃描四控制點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 → c=dt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cb → 純彎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83536" y="4745736"/>
            <a:ext cx="3377184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60720" y="4745736"/>
            <a:ext cx="0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37904" y="4745736"/>
            <a:ext cx="-3377184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2960" y="5001768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00176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執行引擎得 (Pn, Mn) → 用 dt 求 εt 判 φ → 設計強度 (φPn, φMn)，再與需求比較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步驟順序不能顛倒：細長效應在最前面（它改的是需求），φ 值在最後面（它要等 c 算完才知道）。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合理性檢核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檢核尺一：算出來的 Pn 一定要落在 Po 之下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rc12-fig-13-check-ax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51211"/>
            <a:ext cx="6501384" cy="33271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 是斷面軸力的絕對上限（混凝土全斷面 + 全部鋼筋降伏），任何 Pn 都不可能超過它。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平衡點的 Pb 通常落在 Po 的三分之一左右 —— 這是很好用的量級感。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 Pn 比 Po 大，最常見的兩個原因：a 超過 h 沒有截斷、或鋼筋力的正負號寫反。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設計上限 0.80Po 是給「需求」比的，不是斷面的真實容量，兩者不要混用。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合理性檢核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檢核尺二：最大彎矩約為純彎矩的 2 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rc12-fig-14-check-mo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22611"/>
            <a:ext cx="6501384" cy="33271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對稱配筋柱，平衡點的 Mb 約為純彎矩 M0 的 1.8 ～ 2.2 倍（本柱 101.7 / 54.6 = 1.86）。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算出來只有 1.1 倍，多半是漏算了某一排鋼筋，或把中排鋼筋算進了彎矩。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算出來高到 3 倍以上，多半是力臂用錯（例如對拉力筋取矩卻沒補軸力的偏移項）。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 時的 Mn 會掉回純彎矩的水準 —— 這時斷面已經幾乎全壓，力偶臂所剩無幾。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這兩把尺花不到十秒，卻能抓出絕大多數的代數錯誤。答案寫完一定要回頭量一次。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柱｜計算引擎與三大入口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應變相容</a:t>
            </a:r>
            <a:endParaRPr lang="en-US" sz="1050" dirty="0"/>
          </a:p>
        </p:txBody>
      </p:sp>
      <p:pic>
        <p:nvPicPr>
          <p:cNvPr id="7" name="Image 0" descr="formula_imgs/f_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49632"/>
            <a:ext cx="3416808" cy="3709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鋼筋應力截斷</a:t>
            </a:r>
            <a:endParaRPr lang="en-US" sz="1050" dirty="0"/>
          </a:p>
        </p:txBody>
      </p:sp>
      <p:pic>
        <p:nvPicPr>
          <p:cNvPr id="11" name="Image 1" descr="formula_imgs/f_f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723" y="1938528"/>
            <a:ext cx="3267506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降伏應變</a:t>
            </a:r>
            <a:endParaRPr lang="en-US" sz="1050" dirty="0"/>
          </a:p>
        </p:txBody>
      </p:sp>
      <p:pic>
        <p:nvPicPr>
          <p:cNvPr id="15" name="Image 2" descr="formula_imgs/f_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015869"/>
            <a:ext cx="3416808" cy="23850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應力塊深度 / β1</a:t>
            </a:r>
            <a:endParaRPr lang="en-US" sz="1050" dirty="0"/>
          </a:p>
        </p:txBody>
      </p:sp>
      <p:pic>
        <p:nvPicPr>
          <p:cNvPr id="19" name="Image 3" descr="formula_imgs/f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91510"/>
            <a:ext cx="3416808" cy="3537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混凝土合力</a:t>
            </a:r>
            <a:endParaRPr lang="en-US" sz="1050" dirty="0"/>
          </a:p>
        </p:txBody>
      </p:sp>
      <p:pic>
        <p:nvPicPr>
          <p:cNvPr id="23" name="Image 4" descr="formula_imgs/f_c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453" y="2971800"/>
            <a:ext cx="1954045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內：扣 0.85f'c</a:t>
            </a:r>
            <a:endParaRPr lang="en-US" sz="1050" dirty="0"/>
          </a:p>
        </p:txBody>
      </p:sp>
      <p:pic>
        <p:nvPicPr>
          <p:cNvPr id="27" name="Image 5" descr="formula_imgs/f_f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2991102"/>
            <a:ext cx="3416808" cy="35458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外：不扣</a:t>
            </a:r>
            <a:endParaRPr lang="en-US" sz="1050" dirty="0"/>
          </a:p>
        </p:txBody>
      </p:sp>
      <p:pic>
        <p:nvPicPr>
          <p:cNvPr id="31" name="Image 6" descr="formula_imgs/f_fou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159" y="4005072"/>
            <a:ext cx="2558346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軸力平衡</a:t>
            </a:r>
            <a:endParaRPr lang="en-US" sz="1050" dirty="0"/>
          </a:p>
        </p:txBody>
      </p:sp>
      <p:pic>
        <p:nvPicPr>
          <p:cNvPr id="35" name="Image 7" descr="formula_imgs/f_p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1069" y="4005072"/>
            <a:ext cx="1546815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彎矩平衡（對形心）</a:t>
            </a:r>
            <a:endParaRPr lang="en-US" sz="1050" dirty="0"/>
          </a:p>
        </p:txBody>
      </p:sp>
      <p:pic>
        <p:nvPicPr>
          <p:cNvPr id="39" name="Image 8" descr="formula_imgs/f_m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5746" y="4005072"/>
            <a:ext cx="2975749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形心處力臂為零</a:t>
            </a:r>
            <a:endParaRPr lang="en-US" sz="1050" dirty="0"/>
          </a:p>
        </p:txBody>
      </p:sp>
      <p:pic>
        <p:nvPicPr>
          <p:cNvPr id="43" name="Image 9" descr="formula_imgs/f_ar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071774"/>
            <a:ext cx="3416808" cy="32633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入口 A：εt = 0</a:t>
            </a:r>
            <a:endParaRPr lang="en-US" sz="1050" dirty="0"/>
          </a:p>
        </p:txBody>
      </p:sp>
      <p:pic>
        <p:nvPicPr>
          <p:cNvPr id="47" name="Image 10" descr="formula_imgs/f_cd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7972" y="5038344"/>
            <a:ext cx="2373009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入口 A：平衡點</a:t>
            </a:r>
            <a:endParaRPr lang="en-US" sz="1050" dirty="0"/>
          </a:p>
        </p:txBody>
      </p:sp>
      <p:pic>
        <p:nvPicPr>
          <p:cNvPr id="51" name="Image 11" descr="formula_imgs/f_c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1715" y="5038344"/>
            <a:ext cx="2863810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入口 B：偏心距</a:t>
            </a:r>
            <a:endParaRPr lang="en-US" sz="1050" dirty="0"/>
          </a:p>
        </p:txBody>
      </p:sp>
      <p:pic>
        <p:nvPicPr>
          <p:cNvPr id="55" name="Image 12" descr="formula_imgs/f_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3379" y="6071616"/>
            <a:ext cx="3043906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入口 B：反解式</a:t>
            </a:r>
            <a:endParaRPr lang="en-US" sz="1050" dirty="0"/>
          </a:p>
        </p:txBody>
      </p:sp>
      <p:pic>
        <p:nvPicPr>
          <p:cNvPr id="59" name="Image 13" descr="formula_imgs/f_qua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6072" y="6100200"/>
            <a:ext cx="3416808" cy="3360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柱｜控制點、φ 值與細長效應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純軸壓 Po</a:t>
            </a:r>
            <a:endParaRPr lang="en-US" sz="1050" dirty="0"/>
          </a:p>
        </p:txBody>
      </p:sp>
      <p:pic>
        <p:nvPicPr>
          <p:cNvPr id="7" name="Image 0" descr="formula_imgs/f_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44621"/>
            <a:ext cx="3416808" cy="381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設計軸力上限</a:t>
            </a:r>
            <a:endParaRPr lang="en-US" sz="1050" dirty="0"/>
          </a:p>
        </p:txBody>
      </p:sp>
      <p:pic>
        <p:nvPicPr>
          <p:cNvPr id="11" name="Image 1" descr="formula_imgs/f_pnma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002874"/>
            <a:ext cx="3416808" cy="26449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配筋率限制</a:t>
            </a:r>
            <a:endParaRPr lang="en-US" sz="1050" dirty="0"/>
          </a:p>
        </p:txBody>
      </p:sp>
      <p:pic>
        <p:nvPicPr>
          <p:cNvPr id="15" name="Image 2" descr="formula_imgs/f_rh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1954633"/>
            <a:ext cx="3416808" cy="36098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最外層拉應變</a:t>
            </a:r>
            <a:endParaRPr lang="en-US" sz="1050" dirty="0"/>
          </a:p>
        </p:txBody>
      </p:sp>
      <p:pic>
        <p:nvPicPr>
          <p:cNvPr id="19" name="Image 3" descr="formula_imgs/f_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303" y="2971800"/>
            <a:ext cx="1520057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分區</a:t>
            </a:r>
            <a:endParaRPr lang="en-US" sz="1050" dirty="0"/>
          </a:p>
        </p:txBody>
      </p:sp>
      <p:pic>
        <p:nvPicPr>
          <p:cNvPr id="23" name="Image 4" descr="formula_imgs/f_phiz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032900"/>
            <a:ext cx="3416808" cy="2709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過渡區內插</a:t>
            </a:r>
            <a:endParaRPr lang="en-US" sz="1050" dirty="0"/>
          </a:p>
        </p:txBody>
      </p:sp>
      <p:pic>
        <p:nvPicPr>
          <p:cNvPr id="27" name="Image 5" descr="formula_imgs/f_ph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1888" y="2971800"/>
            <a:ext cx="2003464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設計檢核</a:t>
            </a:r>
            <a:endParaRPr lang="en-US" sz="1050" dirty="0"/>
          </a:p>
        </p:txBody>
      </p:sp>
      <p:pic>
        <p:nvPicPr>
          <p:cNvPr id="31" name="Image 6" descr="formula_imgs/f_desig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850" y="4005072"/>
            <a:ext cx="3200964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峰值陷阱</a:t>
            </a:r>
            <a:endParaRPr lang="en-US" sz="1050" dirty="0"/>
          </a:p>
        </p:txBody>
      </p:sp>
      <p:pic>
        <p:nvPicPr>
          <p:cNvPr id="35" name="Image 7" descr="formula_imgs/f_pea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9121" y="4005072"/>
            <a:ext cx="2630709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細長比門檻</a:t>
            </a:r>
            <a:endParaRPr lang="en-US" sz="1050" dirty="0"/>
          </a:p>
        </p:txBody>
      </p:sp>
      <p:pic>
        <p:nvPicPr>
          <p:cNvPr id="39" name="Image 8" descr="formula_imgs/f_sle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8419" y="4005072"/>
            <a:ext cx="2570401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Cm 係數</a:t>
            </a:r>
            <a:endParaRPr lang="en-US" sz="1050" dirty="0"/>
          </a:p>
        </p:txBody>
      </p:sp>
      <p:pic>
        <p:nvPicPr>
          <p:cNvPr id="43" name="Image 9" descr="formula_imgs/f_c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6409" y="5038344"/>
            <a:ext cx="2097846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臨界挫屈載重</a:t>
            </a:r>
            <a:endParaRPr lang="en-US" sz="1050" dirty="0"/>
          </a:p>
        </p:txBody>
      </p:sp>
      <p:pic>
        <p:nvPicPr>
          <p:cNvPr id="47" name="Image 10" descr="formula_imgs/f_p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7732" y="5038344"/>
            <a:ext cx="2013489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彎矩放大係數</a:t>
            </a:r>
            <a:endParaRPr lang="en-US" sz="1050" dirty="0"/>
          </a:p>
        </p:txBody>
      </p:sp>
      <p:pic>
        <p:nvPicPr>
          <p:cNvPr id="51" name="Image 11" descr="formula_imgs/f_dn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0027" y="5038344"/>
            <a:ext cx="1827186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設計彎矩</a:t>
            </a:r>
            <a:endParaRPr lang="en-US" sz="1050" dirty="0"/>
          </a:p>
        </p:txBody>
      </p:sp>
      <p:pic>
        <p:nvPicPr>
          <p:cNvPr id="55" name="Image 12" descr="formula_imgs/f_mc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5876" y="6071616"/>
            <a:ext cx="1558911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高頻陷阱精選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假設所有鋼筋都降伏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中排鋼筋在平衡點附近幾乎一定沒降伏（本柱只有 386.7 kgf/cm²）。每排都要用 fsi = Es·εi 算，再看要不要截到 fy。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應力塊內的壓力筋漏扣 0.85f'c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落在 a 範圍內的壓力筋，那塊混凝土已經被 Cc 算過一次。漏扣會讓 Pn 偏高，整條互制曲線向外膨脹。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把中排鋼筋算進彎矩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對稱配筋柱的中排鋼筋位於形心，力臂 (h/2 − di) = 0。它影響 Pn，但對 Mn 的貢獻是 0，不是小數。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問「最大設計彎矩」卻答平衡點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標稱最大 Mn 在平衡點，但 φMn 的峰值在 εt = 0.005（c = 0.375dt）。max(φMn) ≠ φ·max(Mn)，本柱差了 23%。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 值用中排或平均應變判斷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的判準只有一個：最外層拉力筋的 εt。而且要用現行式 φ = 0.65 + 0.25(εt − εy)/(0.005 − εy)，不是舊式。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δns 拿去折減斷面強度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細長效應改的是「需求」：Mc = δns·M2。P-M 互制圖本身完全不動 —— 那是斷面的容量，與柱多長無關。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柱強度分析與設計｜重點回顧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0792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7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柱比梁少一條方程式，所以答案是一條 (Pn, Mn) 軌跡，不是一個數字。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05328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2724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005328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全單元只有一台引擎：假設 c → 算各排 εi、fsi → 軸力平衡得 Pn、對形心取矩得 Mn。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24656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84657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46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724656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拿到題目先鎖入口：A 直讀、B 反解二次式、C 掃描四控制點。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56590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65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443984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由最外層 εt 決定；問「標稱 Mn」找平衡點，問「設計彎矩」找 εt = 0.005。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163312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28523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163312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細長效應放大的是需求彎矩 Mc = δns·M2，互制圖原封不動。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882640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600456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600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5882640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收尾兩把尺：Pn 必須小於 Po；最大彎矩約為純彎矩的 2 倍。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2026-09-15T12:40:32Z</dcterms:created>
  <dcterms:modified xsi:type="dcterms:W3CDTF">2026-09-15T12:40:32Z</dcterms:modified>
</cp:coreProperties>
</file>