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　鋼筋混凝土設計｜觀念講義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梁彎矩強度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分析與設計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不必死背公式 —— 抓住「兩條線、同一個未知數」，單筋、雙筋、T 形梁與設計題全部一次通關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 結構設計「RC-U1-1 梁彎矩強度分析與設計」觀念講義｜原理與公式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本單元的四塊拼圖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力的平衡線（物理）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受壓區合力 C 必須等於受拉區合力 T。令 C = T 解出等效應力塊深度 a —— 這條線回答「強度多大」。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應變幾何線（幾何）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斷面平面保持平面、混凝土壓碎應變固定 0.003，相似三角形給出最外層鋼筋應變 εt —— 這條線回答「安全與延性」。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共用的未知數 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兩條線靠 a = β1c 綁在一起。只要解出 a 或 c，整道題就開了；後面全是代數。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梁型變化與設計題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雙筋梁與 T 形梁只動「力的平衡線」；設計題則是把流程倒過來跑，用先射箭後驗靶迭代一次就收斂。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為什麼整個單元只在算「兩條線」？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png/d1 兩條線與未知數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斷面、應變、應力、合力四張圖畫在同一條水平線上：中性軸是它們唯一的共同座標。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左邊兩張（斷面＋應變）是幾何，右邊兩張（應力塊＋合力）是物理，中間靠 a = β1c 換算。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任何梁彎矩題目，都是在這四張圖裡改動其中一張 —— 其餘三張的邏輯原封不動。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把這張圖記在腦中，看到題目先在草稿紙畫出來，缺什麼補什麼，比背公式可靠得多。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力的平衡線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第一條線：C = T，解出應力塊深度 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混凝土壓力（等效應力塊）</a:t>
            </a:r>
            <a:endParaRPr lang="en-US" sz="1300" dirty="0"/>
          </a:p>
        </p:txBody>
      </p:sp>
      <p:pic>
        <p:nvPicPr>
          <p:cNvPr id="7" name="Image 0" descr="formula_imgs/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1824" y="1847088"/>
            <a:ext cx="2641072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拉力筋拉力（假設已降伏）</a:t>
            </a:r>
            <a:endParaRPr lang="en-US" sz="1300" dirty="0"/>
          </a:p>
        </p:txBody>
      </p:sp>
      <p:pic>
        <p:nvPicPr>
          <p:cNvPr id="11" name="Image 1" descr="formula_imgs/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868" y="2962656"/>
            <a:ext cx="156098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C = T 直接解 a</a:t>
            </a:r>
            <a:endParaRPr lang="en-US" sz="1300" dirty="0"/>
          </a:p>
        </p:txBody>
      </p:sp>
      <p:pic>
        <p:nvPicPr>
          <p:cNvPr id="15" name="Image 2" descr="formula_imgs/f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237" y="4078224"/>
            <a:ext cx="342624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換算中性軸深度</a:t>
            </a:r>
            <a:endParaRPr lang="en-US" sz="1300" dirty="0"/>
          </a:p>
        </p:txBody>
      </p:sp>
      <p:pic>
        <p:nvPicPr>
          <p:cNvPr id="19" name="Image 3" descr="formula_imgs/f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360" y="5193792"/>
            <a:ext cx="388000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 0.85 與 β1 是兩個不同的係數：0.85 修正「應力大小」，β1 修正「應力塊深度」，兩者不可混用。f'c ≤ 280 時 β1 = 0.85 只是巧合，數值相同但意義完全不同。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0.85f'c 這個係數是從哪裡冒出來的？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png/d2 等效應力塊與bet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真實受壓區應力是拋物線，合力位置與大小都不好算；Whitney 用一個矩形取代它。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換算只綁兩個條件：面積相等（合力 C 不變）、形心相同（力臂不變）—— 其餘都可以變。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β1 隨 f'c 遞減，是因為高強度混凝土的應力曲線更尖瘦，等效矩形必須變淺才能對齊形心。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考試常考的是 β1 的取值規則，但理解「為什麼遞減」可以避免把 0.85 也跟著改。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第二條線：相似三角形，與 dt 的陷阱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png/d3 應變幾何線與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應變線只有一個錨點（εcu = 0.003）與一個未知數（c），其餘全由相似三角形決定。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一律代「最外層」拉力筋深度 dt；Mn 的力臂則用全部拉力筋的合力位置 d。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單排配筋時 dt = d，兩者混用不會出錯 —— 這正是雙排題最容易失分的原因。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應變幾何線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第二條線的全部家當（就這四條）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β1 取值規則</a:t>
            </a:r>
            <a:endParaRPr lang="en-US" sz="1300" dirty="0"/>
          </a:p>
        </p:txBody>
      </p:sp>
      <p:pic>
        <p:nvPicPr>
          <p:cNvPr id="7" name="Image 0" descr="formula_imgs/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64833"/>
            <a:ext cx="7772400" cy="5131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唯一的錨點</a:t>
            </a:r>
            <a:endParaRPr lang="en-US" sz="1300" dirty="0"/>
          </a:p>
        </p:txBody>
      </p:sp>
      <p:pic>
        <p:nvPicPr>
          <p:cNvPr id="11" name="Image 1" descr="formula_imgs/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038" y="2962656"/>
            <a:ext cx="325464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最外層拉力筋應變</a:t>
            </a:r>
            <a:endParaRPr lang="en-US" sz="1300" dirty="0"/>
          </a:p>
        </p:txBody>
      </p:sp>
      <p:pic>
        <p:nvPicPr>
          <p:cNvPr id="15" name="Image 2" descr="formula_imgs/f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553" y="4078224"/>
            <a:ext cx="3533614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壓力筋應變（雙筋梁用）</a:t>
            </a:r>
            <a:endParaRPr lang="en-US" sz="1300" dirty="0"/>
          </a:p>
        </p:txBody>
      </p:sp>
      <p:pic>
        <p:nvPicPr>
          <p:cNvPr id="19" name="Image 3" descr="formula_imgs/f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465" y="5193792"/>
            <a:ext cx="367979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β1 快速取值：f'c ≤ 280 取 0.85，之後每增加 70 kgf/cm² 減 0.05，下限 0.65。SD420 的降伏應變 εty ≈ 0.002，是後面判 φ 的分界點。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 · 通用流水線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五步通用流水線：任何分析題都照這個順序代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單筋、雙筋、T 形梁只有「第一步的 C 怎麼寫」不同，其餘四步完全一樣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彎矩分析題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（已知 As 求 Mn）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力平衡求 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換算中性軸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a / β1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應變幾何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0.003(dt−c)/c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落在哪一區？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≥ 0.005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拉力控制 φ = 0.90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0.002 ≤ εt &lt; 0.005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過渡區，需內插 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定出 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取矩求 Mn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Asfy(d − a/2)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94476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78578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6" name="Text 34"/>
          <p:cNvSpPr/>
          <p:nvPr/>
        </p:nvSpPr>
        <p:spPr>
          <a:xfrm>
            <a:off x="5206594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設計強度 φMn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84694" y="4032504"/>
            <a:ext cx="43013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67574" y="403250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第一步的分岔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雙筋梁：C = Cc + Cs；T 形梁：先設 a ≤ hf 以 be 試算。無論哪一種，第二步以後完全相同。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三個一定要回頭驗的假設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2" name="Text 40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拉力筋降伏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≥ εty，否則 fs 要改用 Es·εt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4" name="Text 42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延性下限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≥ 0.004 才可作為梁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配筋量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ρmin ≤ ρ ≤ ρmax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不是查表查來的，是 εt 換算來的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png/d4 phi三分區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與 εt 的關係是一條「兩段平台 + 中間斜線」的折線，斜線就是線性內插。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0.004 是「能不能當梁」的及格線；0.005 是「能不能拿滿 φ = 0.90」的獎勵線 —— 兩者常被混為一談。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εty 隨鋼種改變：SD280 的 εty ≈ 0.00137，過渡區起點會往左移，內插斜率也跟著變。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強度折減與公稱強度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 εt 到 φMn：最後兩步的公式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過渡區線性內插（SD420 締箍梁）</a:t>
            </a:r>
            <a:endParaRPr lang="en-US" sz="1300" dirty="0"/>
          </a:p>
        </p:txBody>
      </p:sp>
      <p:pic>
        <p:nvPicPr>
          <p:cNvPr id="7" name="Image 0" descr="formula_imgs/f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541" y="1847088"/>
            <a:ext cx="605363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兩端的判定</a:t>
            </a:r>
            <a:endParaRPr lang="en-US" sz="1300" dirty="0"/>
          </a:p>
        </p:txBody>
      </p:sp>
      <p:pic>
        <p:nvPicPr>
          <p:cNvPr id="11" name="Image 1" descr="formula_imgs/f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63521"/>
            <a:ext cx="7772400" cy="54691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公稱彎矩強度（力臂 d − a/2）</a:t>
            </a:r>
            <a:endParaRPr lang="en-US" sz="1300" dirty="0"/>
          </a:p>
        </p:txBody>
      </p:sp>
      <p:pic>
        <p:nvPicPr>
          <p:cNvPr id="15" name="Image 2" descr="formula_imgs/f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610" y="4078224"/>
            <a:ext cx="336349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設計條件</a:t>
            </a:r>
            <a:endParaRPr lang="en-US" sz="1300" dirty="0"/>
          </a:p>
        </p:txBody>
      </p:sp>
      <p:pic>
        <p:nvPicPr>
          <p:cNvPr id="19" name="Image 3" descr="formula_imgs/f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424" y="5193792"/>
            <a:ext cx="198187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內插式的分母 0.003 = 0.005 − 0.002，換成 SD280 時要改成 0.005 − 0.00137。螺箍構材的下限是 0.75 而非 0.65，梁通常是締箍。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①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　單筋梁分析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= 30 cm、d = dt = 55 cm、As = 5-D25 = 25.34 cm²、f'c = 280、fy = 4200（kgf/cm²）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 φMn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25.34×4200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÷(0.85×280×30) = 14.90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β1 = 0.85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14.90/0.85 = 17.53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0.003×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(55−17.53)/17.53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0.00641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0.005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拉力控制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0.90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25.34×4200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×(55−7.45) = 50.59 t-m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4583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62706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3490722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φMn = 45.54 t-m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40780" y="4032504"/>
            <a:ext cx="5445252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3660" y="4032504"/>
            <a:ext cx="50794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順手檢核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 = 25.34/(30×55) = 0.0154，介於 ρmin = 0.0033 與 ρmax = 0.0206 之間 → 配筋量合格，εt 也遠大於 0.004。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鋼筋放多放少，決定它怎麼壞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png/d5 配筋量三門檻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 太小 → 混凝土一裂就把全部拉力丟給少量鋼筋，瞬間拉斷，開裂彎矩反而大於極限彎矩。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 太大 → 鋼筋還沒降伏混凝土就壓碎，脆性、無預警，規範直接禁止當梁使用。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ρb 是理論分界；規範不等到 ρb，提前在 ρmax（εt = 0.004）就把梁擋下來，留一段安全餘裕。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配筋量限制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三個門檻的公式與由來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鋼筋比定義</a:t>
            </a:r>
            <a:endParaRPr lang="en-US" sz="1300" dirty="0"/>
          </a:p>
        </p:txBody>
      </p:sp>
      <p:pic>
        <p:nvPicPr>
          <p:cNvPr id="7" name="Image 0" descr="formula_imgs/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763" y="1847088"/>
            <a:ext cx="211319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平衡鋼筋比（理論分界）</a:t>
            </a:r>
            <a:endParaRPr lang="en-US" sz="1300" dirty="0"/>
          </a:p>
        </p:txBody>
      </p:sp>
      <p:pic>
        <p:nvPicPr>
          <p:cNvPr id="11" name="Image 1" descr="formula_imgs/f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962656"/>
            <a:ext cx="603504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最大鋼筋比（εt = 0.004）</a:t>
            </a:r>
            <a:endParaRPr lang="en-US" sz="1300" dirty="0"/>
          </a:p>
        </p:txBody>
      </p:sp>
      <p:pic>
        <p:nvPicPr>
          <p:cNvPr id="15" name="Image 2" descr="formula_imgs/f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605" y="4078224"/>
            <a:ext cx="673350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最小鋼筋比（兩者取大）</a:t>
            </a:r>
            <a:endParaRPr lang="en-US" sz="1300" dirty="0"/>
          </a:p>
        </p:txBody>
      </p:sp>
      <p:pic>
        <p:nvPicPr>
          <p:cNvPr id="19" name="Image 3" descr="formula_imgs/f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410" y="5193792"/>
            <a:ext cx="433390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ρmax 的 3/7 來自 c/dt = 0.003/(0.003+0.004)；ρb 的 6120/(6120+fy) 來自 c/d = 0.003/(0.003+εty)，兩者是同一個相似三角形代不同應變的結果。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雙筋梁：壓力區多了一個力，其餘完全不變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png/d6 雙筋梁三個力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合力式從 C = T 變成 Cc + Cs = T —— 動的只有「力的平衡線」，應變幾何線一個字都沒改。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 一定要扣 0.85f'c：壓力筋佔掉的那塊混凝土，已經被算進 0.85f'c·a·b 裡了。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取矩時對拉力筋取矩最省事，Cc 與 Cs 的力臂分別是 d − a/2 與 d − d'。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雙筋梁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雙筋梁的四條式子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力平衡（Cs 已扣重複）</a:t>
            </a:r>
            <a:endParaRPr lang="en-US" sz="1300" dirty="0"/>
          </a:p>
        </p:txBody>
      </p:sp>
      <p:pic>
        <p:nvPicPr>
          <p:cNvPr id="7" name="Image 0" descr="formula_imgs/f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0433" y="1847088"/>
            <a:ext cx="604385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壓力筋的淨貢獻</a:t>
            </a:r>
            <a:endParaRPr lang="en-US" sz="1300" dirty="0"/>
          </a:p>
        </p:txBody>
      </p:sp>
      <p:pic>
        <p:nvPicPr>
          <p:cNvPr id="11" name="Image 1" descr="formula_imgs/f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35" y="2962656"/>
            <a:ext cx="395984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取矩求公稱強度</a:t>
            </a:r>
            <a:endParaRPr lang="en-US" sz="1300" dirty="0"/>
          </a:p>
        </p:txBody>
      </p:sp>
      <p:pic>
        <p:nvPicPr>
          <p:cNvPr id="15" name="Image 2" descr="formula_imgs/f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112915"/>
            <a:ext cx="7772400" cy="47925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壓力筋應力上限</a:t>
            </a:r>
            <a:endParaRPr lang="en-US" sz="1300" dirty="0"/>
          </a:p>
        </p:txBody>
      </p:sp>
      <p:pic>
        <p:nvPicPr>
          <p:cNvPr id="19" name="Image 3" descr="formula_imgs/f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341" y="5193792"/>
            <a:ext cx="407403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若壓力筋已降伏（f's = fy），第一式可直接化簡成 a = (As − A's)fy /(0.85f'c b)（此時忽略 0.85f'c 扣除量的近似做法也常見，作答時說明採用哪一種即可）。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壓力筋到底降不降伏？口訣 c ≥ 3.2d' 的真身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png/d7 壓力筋降伏判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壓力筋離頂端很近，應變被「相似三角形」壓得很小，常常還沒到 εy 就被判未降伏。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門檻只是把 0.003(c−d')/c ≥ fy/Es 移項的結果，不同鋼種門檻不同（SD280 只要 1.84d'）。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未降伏時把 f's = 6120(c−d')/c 代回力平衡，會得到 c 的二次方程式，取正根即可。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考場上先用「假設兩者都降伏」試算一次 c，再跟 3.19d' 比 —— 比一開始就解二次式快得多。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②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　雙筋梁（壓力筋未降伏）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= 30、d = dt = 55、d' = 6.5、As = 7-D25 = 35.47、A's = 2-D25 = 10.13、f'c = 280、fy = 4200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 φMn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先假設兩者都降伏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25.34×4200/7140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14.90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17.53 cm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門檻 3.19d' = 20.7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&lt; 20.7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壓力筋未降伏！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 f's = 6120(c−d')/c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 c 的二次式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18.35、a = 15.59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f's = 3952 &lt; 4200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0.00599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≥ 0.005 → φ = 0.90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111336×47.2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+ 37633×48.5 = 70.81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φMn = 63.73 t-m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二次式長這樣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6069c² − 89362c − 403131 = 0 → c = 18.35 cm。係數依序是 0.85f'cβ1b、A's(6120−0.85f'c)−Asfy、−6120A'sd'。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本題的三個關卡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壓力筋降伏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≥ 3.19d' 不成立 → 解二次式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力平衡回驗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Cc + Cs = 148970 = T 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延性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0.00599 ≥ 0.005 → φ = 0.90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形梁的第一件事：有多寬的樓版在幫忙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png/d8 T形梁有效翼板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 是三個幾何限制取小者：L/4、bw + 16hf、梁心距 S —— 與鋼筋量、f'c 都無關。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它的物理意義是樓版的剪力遲滯：離腹板越遠的樓版分擔越少，規範用一個等效寬度代替。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邊梁（L 形）另有一組較小的限制，題目若說「邊梁」要特別留意。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形梁的唯一決策：a 掉不掉進腹板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png/d9 T形梁中性軸位置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先假設中性軸在翼板內，用 b = be 當普通矩形梁算 a —— 這一步幾乎不花時間。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 a ≤ hf，恭喜，它就是一根寬度 be 的矩形梁，直接收工，不需要任何 T 形公式。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 a &gt; hf，才把斷面拆成「翼板伸出部」與「腹板部」，分別算面積與力臂再相加。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常見錯誤：看到題目寫 T 形梁就直接拆兩塊 —— 其實大多數考題的中性軸都落在翼板內。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T 形梁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形梁：一條幾何 + 三條力學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有效翼板寬（三者取小）</a:t>
            </a:r>
            <a:endParaRPr lang="en-US" sz="1300" dirty="0"/>
          </a:p>
        </p:txBody>
      </p:sp>
      <p:pic>
        <p:nvPicPr>
          <p:cNvPr id="7" name="Image 0" descr="formula_imgs/f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2974" y="1847088"/>
            <a:ext cx="3818771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翼板伸出部的等效鋼筋量</a:t>
            </a:r>
            <a:endParaRPr lang="en-US" sz="1300" dirty="0"/>
          </a:p>
        </p:txBody>
      </p:sp>
      <p:pic>
        <p:nvPicPr>
          <p:cNvPr id="11" name="Image 1" descr="formula_imgs/f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598" y="2962656"/>
            <a:ext cx="465352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腹板部的應力塊深度</a:t>
            </a:r>
            <a:endParaRPr lang="en-US" sz="1300" dirty="0"/>
          </a:p>
        </p:txBody>
      </p:sp>
      <p:pic>
        <p:nvPicPr>
          <p:cNvPr id="15" name="Image 2" descr="formula_imgs/f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785" y="4078224"/>
            <a:ext cx="493115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兩塊相加得公稱強度</a:t>
            </a:r>
            <a:endParaRPr lang="en-US" sz="1300" dirty="0"/>
          </a:p>
        </p:txBody>
      </p:sp>
      <p:pic>
        <p:nvPicPr>
          <p:cNvPr id="19" name="Image 3" descr="formula_imgs/f2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00" y="5193792"/>
            <a:ext cx="644931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Asw = As − Asf。εt 與 φ 一律用腹板算出的 c = a/β1，不可用試算階段那個假的 a。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③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　T 形梁（中性軸落入腹板）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 = 100、bw = 30、hf = 10、d = dt = 55、As = 14-D25 = 70.94 cm²、f'c = 280、fy = 4200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 φMn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先設 a ≤ hf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70.94×4200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÷(0.85×280×100) = 12.52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12.52 &gt; hf = 10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中性軸落入腹板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Asf = 0.85×280×70×10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÷4200 = 39.67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Asw = 70.94 − 39.67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31.27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31.27×4200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÷(0.85×280×30) = 18.39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21.64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0.00462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 = 83.30 + 60.16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143.46 t-m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φMn = 124.5 t-m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本題的陷阱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0.00462 落在過渡區，φ = 0.65 + (0.00462−0.002)×85 = 0.868，不是 0.90 —— 直接套 0.9 會多算 4%。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設計題：先射箭、後驗靶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png/d10 設計題迭代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 Mu 求 As 沒有閉合解（a 裡面也有 As），所以一定是「假設 → 驗證 → 修正」。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力臂 d − a/2 對 As 很不敏感，第一次假設 jd ≈ 0.9d 幾乎一定落在 3% 以內。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另一條路是 Rn 法：先算 Rn = Mu/(φbd²)，再用二次式求根直接得 ρ —— 一次到位不必迭代。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兩種做法都可以，考場上先射箭後驗靶比較不容易在開根號時算錯。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④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　設計題（已知 Mu 求 As）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Mu = 45 t-m、b = 30 cm、d = dt = 55 cm、f'c = 280、fy = 4200（kgf/cm²）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 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 jd = 0.9d、φ = 0.9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 ≈ 45×10⁵/(0.9×4200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×49.5) = 24.05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驗算：a = 14.15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16.64、εt = 0.00691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φMn = 43.57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&lt; 45　不足！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 As = Mu/(φfy(d−a/2))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24.96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 5-D25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 = 25.34 ≥ 24.96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回驗：a = 14.90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= 0.00641、φ = 0.90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4583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62706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3490722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φMn = 45.54 ≥ 45 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40780" y="4032504"/>
            <a:ext cx="5445252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3660" y="4032504"/>
            <a:ext cx="50794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別忘了最後一步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算出的 As 是需求值，還要選實際鋼筋根數（取 ≥ 需求的最小組合），並用選定的 As 再驗一次。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驗靶必做三件事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φMn ≥ Mu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延性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εt ≥ 0.004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0" name="Text 3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配筋量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ρmin ≤ ρ ≤ ρmax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三種梁型，其實只是壓力塊長得不一樣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png/d11 三種梁型統一對照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單筋：C 只有混凝土；雙筋：C = Cc + Cs；T 形：C = 翼板部 + 腹板部。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無論哪一種，T = As·fy 與 εt = 0.003(dt−c)/c 兩條式子完全沒變。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看到新題型只要問一句：「這次壓力區長什麼樣？」把 C 重寫，其餘五步原封不動照走。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梁彎矩｜基本式、應變幾何、φ 與配筋量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混凝土壓力</a:t>
            </a:r>
            <a:endParaRPr lang="en-US" sz="1050" dirty="0"/>
          </a:p>
        </p:txBody>
      </p:sp>
      <p:pic>
        <p:nvPicPr>
          <p:cNvPr id="7" name="Image 0" descr="formula_imgs/f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948" y="1938528"/>
            <a:ext cx="1892768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鋼筋拉力</a:t>
            </a:r>
            <a:endParaRPr lang="en-US" sz="1050" dirty="0"/>
          </a:p>
        </p:txBody>
      </p:sp>
      <p:pic>
        <p:nvPicPr>
          <p:cNvPr id="11" name="Image 1" descr="formula_imgs/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123" y="1938528"/>
            <a:ext cx="1118705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應力塊深度</a:t>
            </a:r>
            <a:endParaRPr lang="en-US" sz="1050" dirty="0"/>
          </a:p>
        </p:txBody>
      </p:sp>
      <p:pic>
        <p:nvPicPr>
          <p:cNvPr id="15" name="Image 2" descr="formula_imgs/f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882" y="1938528"/>
            <a:ext cx="2455476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與 c 換算</a:t>
            </a:r>
            <a:endParaRPr lang="en-US" sz="1050" dirty="0"/>
          </a:p>
        </p:txBody>
      </p:sp>
      <p:pic>
        <p:nvPicPr>
          <p:cNvPr id="19" name="Image 3" descr="formula_imgs/f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98" y="2971800"/>
            <a:ext cx="2780667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β1 取值</a:t>
            </a:r>
            <a:endParaRPr lang="en-US" sz="1050" dirty="0"/>
          </a:p>
        </p:txBody>
      </p:sp>
      <p:pic>
        <p:nvPicPr>
          <p:cNvPr id="23" name="Image 4" descr="formula_imgs/f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055604"/>
            <a:ext cx="3416808" cy="22558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壓碎應變</a:t>
            </a:r>
            <a:endParaRPr lang="en-US" sz="1050" dirty="0"/>
          </a:p>
        </p:txBody>
      </p:sp>
      <p:pic>
        <p:nvPicPr>
          <p:cNvPr id="27" name="Image 5" descr="formula_imgs/f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7373" y="2971800"/>
            <a:ext cx="2332495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最外層應變</a:t>
            </a:r>
            <a:endParaRPr lang="en-US" sz="1050" dirty="0"/>
          </a:p>
        </p:txBody>
      </p:sp>
      <p:pic>
        <p:nvPicPr>
          <p:cNvPr id="31" name="Image 6" descr="formula_imgs/f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120" y="4005072"/>
            <a:ext cx="2532423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鋼筋降伏應變</a:t>
            </a:r>
            <a:endParaRPr lang="en-US" sz="1050" dirty="0"/>
          </a:p>
        </p:txBody>
      </p:sp>
      <p:pic>
        <p:nvPicPr>
          <p:cNvPr id="35" name="Image 7" descr="formula_imgs/f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46951"/>
            <a:ext cx="3416808" cy="30943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壓力筋應變</a:t>
            </a:r>
            <a:endParaRPr lang="en-US" sz="1050" dirty="0"/>
          </a:p>
        </p:txBody>
      </p:sp>
      <p:pic>
        <p:nvPicPr>
          <p:cNvPr id="39" name="Image 8" descr="formula_imgs/f0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028" y="4005072"/>
            <a:ext cx="2637183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公稱彎矩強度</a:t>
            </a:r>
            <a:endParaRPr lang="en-US" sz="1050" dirty="0"/>
          </a:p>
        </p:txBody>
      </p:sp>
      <p:pic>
        <p:nvPicPr>
          <p:cNvPr id="43" name="Image 9" descr="formula_imgs/f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078" y="5038344"/>
            <a:ext cx="2410508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設計條件</a:t>
            </a:r>
            <a:endParaRPr lang="en-US" sz="1050" dirty="0"/>
          </a:p>
        </p:txBody>
      </p:sp>
      <p:pic>
        <p:nvPicPr>
          <p:cNvPr id="47" name="Image 10" descr="formula_imgs/f1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4305" y="5038344"/>
            <a:ext cx="1420341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過渡區內插</a:t>
            </a:r>
            <a:endParaRPr lang="en-US" sz="1050" dirty="0"/>
          </a:p>
        </p:txBody>
      </p:sp>
      <p:pic>
        <p:nvPicPr>
          <p:cNvPr id="51" name="Image 11" descr="formula_imgs/f1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080108"/>
            <a:ext cx="3416808" cy="30966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兩端判定</a:t>
            </a:r>
            <a:endParaRPr lang="en-US" sz="1050" dirty="0"/>
          </a:p>
        </p:txBody>
      </p:sp>
      <p:pic>
        <p:nvPicPr>
          <p:cNvPr id="55" name="Image 12" descr="formula_imgs/f1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6147999"/>
            <a:ext cx="3416808" cy="240426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鋼筋比</a:t>
            </a:r>
            <a:endParaRPr lang="en-US" sz="1050" dirty="0"/>
          </a:p>
        </p:txBody>
      </p:sp>
      <p:pic>
        <p:nvPicPr>
          <p:cNvPr id="59" name="Image 13" descr="formula_imgs/f1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7248" y="6071616"/>
            <a:ext cx="1514456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平衡鋼筋比</a:t>
            </a:r>
            <a:endParaRPr lang="en-US" sz="1050" dirty="0"/>
          </a:p>
        </p:txBody>
      </p:sp>
      <p:pic>
        <p:nvPicPr>
          <p:cNvPr id="63" name="Image 14" descr="formula_imgs/f1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5216" y="6112903"/>
            <a:ext cx="3416808" cy="31061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梁彎矩｜限制值、雙筋梁、T 形梁與設計題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最大鋼筋比</a:t>
            </a:r>
            <a:endParaRPr lang="en-US" sz="1050" dirty="0"/>
          </a:p>
        </p:txBody>
      </p:sp>
      <p:pic>
        <p:nvPicPr>
          <p:cNvPr id="7" name="Image 0" descr="formula_imgs/f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5925"/>
            <a:ext cx="3416808" cy="2783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最小鋼筋比</a:t>
            </a:r>
            <a:endParaRPr lang="en-US" sz="1050" dirty="0"/>
          </a:p>
        </p:txBody>
      </p:sp>
      <p:pic>
        <p:nvPicPr>
          <p:cNvPr id="11" name="Image 1" descr="formula_imgs/f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495" y="1938528"/>
            <a:ext cx="3105961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平衡中性軸深度</a:t>
            </a:r>
            <a:endParaRPr lang="en-US" sz="1050" dirty="0"/>
          </a:p>
        </p:txBody>
      </p:sp>
      <p:pic>
        <p:nvPicPr>
          <p:cNvPr id="15" name="Image 2" descr="formula_imgs/f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089" y="1938528"/>
            <a:ext cx="2725061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雙筋力平衡</a:t>
            </a:r>
            <a:endParaRPr lang="en-US" sz="1050" dirty="0"/>
          </a:p>
        </p:txBody>
      </p:sp>
      <p:pic>
        <p:nvPicPr>
          <p:cNvPr id="19" name="Image 3" descr="formula_imgs/f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13313"/>
            <a:ext cx="3416808" cy="31016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壓力筋淨貢獻</a:t>
            </a:r>
            <a:endParaRPr lang="en-US" sz="1050" dirty="0"/>
          </a:p>
        </p:txBody>
      </p:sp>
      <p:pic>
        <p:nvPicPr>
          <p:cNvPr id="23" name="Image 4" descr="formula_imgs/f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530" y="2971800"/>
            <a:ext cx="2837892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雙筋公稱強度</a:t>
            </a:r>
            <a:endParaRPr lang="en-US" sz="1050" dirty="0"/>
          </a:p>
        </p:txBody>
      </p:sp>
      <p:pic>
        <p:nvPicPr>
          <p:cNvPr id="27" name="Image 5" descr="formula_imgs/f2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063053"/>
            <a:ext cx="3416808" cy="21068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壓力筋應力</a:t>
            </a:r>
            <a:endParaRPr lang="en-US" sz="1050" dirty="0"/>
          </a:p>
        </p:txBody>
      </p:sp>
      <p:pic>
        <p:nvPicPr>
          <p:cNvPr id="31" name="Image 6" descr="formula_imgs/f2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469" y="4005072"/>
            <a:ext cx="2919727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壓力筋降伏門檻</a:t>
            </a:r>
            <a:endParaRPr lang="en-US" sz="1050" dirty="0"/>
          </a:p>
        </p:txBody>
      </p:sp>
      <p:pic>
        <p:nvPicPr>
          <p:cNvPr id="35" name="Image 7" descr="formula_imgs/f2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73807"/>
            <a:ext cx="3416808" cy="25572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未降伏時的二次式</a:t>
            </a:r>
            <a:endParaRPr lang="en-US" sz="1050" dirty="0"/>
          </a:p>
        </p:txBody>
      </p:sp>
      <p:pic>
        <p:nvPicPr>
          <p:cNvPr id="39" name="Image 8" descr="formula_imgs/f2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101935"/>
            <a:ext cx="3416808" cy="199466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有效翼板寬</a:t>
            </a:r>
            <a:endParaRPr lang="en-US" sz="1050" dirty="0"/>
          </a:p>
        </p:txBody>
      </p:sp>
      <p:pic>
        <p:nvPicPr>
          <p:cNvPr id="43" name="Image 9" descr="formula_imgs/f2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939" y="5038344"/>
            <a:ext cx="2736786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翼板等效鋼筋量</a:t>
            </a:r>
            <a:endParaRPr lang="en-US" sz="1050" dirty="0"/>
          </a:p>
        </p:txBody>
      </p:sp>
      <p:pic>
        <p:nvPicPr>
          <p:cNvPr id="47" name="Image 10" descr="formula_imgs/f2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6963" y="5038344"/>
            <a:ext cx="3335026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腹板應力塊深度</a:t>
            </a:r>
            <a:endParaRPr lang="en-US" sz="1050" dirty="0"/>
          </a:p>
        </p:txBody>
      </p:sp>
      <p:pic>
        <p:nvPicPr>
          <p:cNvPr id="51" name="Image 11" descr="formula_imgs/f2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044863"/>
            <a:ext cx="3416808" cy="380154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形梁公稱強度</a:t>
            </a:r>
            <a:endParaRPr lang="en-US" sz="1050" dirty="0"/>
          </a:p>
        </p:txBody>
      </p:sp>
      <p:pic>
        <p:nvPicPr>
          <p:cNvPr id="55" name="Image 12" descr="formula_imgs/f2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6122879"/>
            <a:ext cx="3416808" cy="290666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設計題起手式</a:t>
            </a:r>
            <a:endParaRPr lang="en-US" sz="1050" dirty="0"/>
          </a:p>
        </p:txBody>
      </p:sp>
      <p:pic>
        <p:nvPicPr>
          <p:cNvPr id="59" name="Image 13" descr="formula_imgs/f29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9350" y="6071616"/>
            <a:ext cx="2590253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Rn 直接解法</a:t>
            </a:r>
            <a:endParaRPr lang="en-US" sz="1050" dirty="0"/>
          </a:p>
        </p:txBody>
      </p:sp>
      <p:pic>
        <p:nvPicPr>
          <p:cNvPr id="63" name="Image 14" descr="formula_imgs/f3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5216" y="6152242"/>
            <a:ext cx="3416808" cy="2319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dt 與 d 混用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雙排配筋時 dt &gt; d。εt 一定要代最外層的 dt；力臂 d − a/2 則要用合力位置 d。單排題兩者相同，一遇雙排就失分。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雙筋梁忘了扣 0.85f'c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 = A's(f's − 0.85f'c)，不是 A's·f's。壓力筋佔掉的混凝土已被算進 0.85f'c·a·b 裡，不扣就重複計算一次。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壓力筋直接當作已降伏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壓力筋離頂端近，SD420 要 c ≥ 3.19d' 才會降伏。沒檢查就用 f's = fy，算出的 Mn 會偏高。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 形梁沒驗 a ≤ hf 就拆兩塊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 b = be 當矩形梁試算 a。若 a ≤ hf 就直接收工，硬拆兩塊反而算錯；若 a &gt; hf 才拆。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一律套 0.90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εt ≥ 0.005 才是 0.90。過渡區要內插（例題③就是 0.868），εt &lt; 0.004 更是連梁都不能當。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β1 忘了隨 f'c 遞減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&gt; 280 之後每增加 70 kgf/cm² 減 0.05，下限 0.65。β1 錯會讓 c、εt、φ 全盤皆錯，是最貴的一個小數點。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 梁彎矩強度分析與設計｜重點回顧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整個單元只有兩條線：力的平衡線（C = T，解 a）與應變幾何線（εt = 0.003(dt−c)/c，判 φ），靠 a = β1c 綁在一起。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分析題永遠照五步流水線：a → c → εt → φ → Mn；先假設鋼筋已降伏，算完回頭驗證假設成立。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雙筋梁與 T 形梁只動「力的平衡線」：前者多一個 Cs（記得扣 0.85f'c），後者換壓力區形狀（先驗 a ≤ hf）。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由 εt 決定：≥ 0.005 得 0.90，過渡區內插，&lt; 0.004 不得作為梁；ρ 則要落在 ρmin 與 ρmax 之間。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設計題把流程倒著跑：假設 jd ≈ 0.9d 起手，順向驗證 φMn ≥ Mu 與延性，選好鋼筋根數後再驗一次。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2026-09-15T08:51:48Z</dcterms:created>
  <dcterms:modified xsi:type="dcterms:W3CDTF">2026-09-15T08:51:48Z</dcterms:modified>
</cp:coreProperties>
</file>