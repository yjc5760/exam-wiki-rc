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RC-U2-1　RC 剪力強度分析與設計｜觀念講義・拼圖一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剪力破壞的底層邏輯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混凝土沒有「抗剪強度」這回事——剪應力在 45° 方向變成主拉應力，把混凝土拉裂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A58B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8BE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剪應力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F08A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8A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σ₁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45° 主拉 = 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2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超過就裂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7FC8B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C8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200" b="1" baseline="-40000" dirty="0">
                <a:solidFill>
                  <a:srgbClr val="7FC8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∝ √f′c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示範梁：b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30、h = 60、d = 50 cm，f′c = 280、f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4200 kgf/cm²；圖上數字全部由同一支程式算出，可逐一對帳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 · 一句話貫通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記住一句話，本單元四大公式一口氣推出來</a:t>
            </a:r>
            <a:endParaRPr lang="en-US" sz="2600" dirty="0"/>
          </a:p>
        </p:txBody>
      </p:sp>
      <p:pic>
        <p:nvPicPr>
          <p:cNvPr id="4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47800"/>
            <a:ext cx="11064240" cy="3688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10744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讀題時先問自己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這題的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是在講「開裂那一刻的抗拉」，還是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「裂後數箍筋」，還是上限「斜壓桿別壓碎」？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底層物理 ① · 從梁到微元素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中性軸處是純剪；轉 45°，它就是一拉一壓</a:t>
            </a:r>
            <a:endParaRPr lang="en-US" sz="2600" dirty="0"/>
          </a:p>
        </p:txBody>
      </p:sp>
      <p:pic>
        <p:nvPicPr>
          <p:cNvPr id="4" name="Image 0" descr="fig02_elemen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為什麼挑中性軸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τ = VQ/Ib 在中性軸最大，而該處彎曲應力 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0：最乾淨的純剪狀態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剪力不會壓碎混凝土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它換個方向就是等量的拉應力；壓的那一側（抗壓 280）根本不是問題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底層物理 ② · 純剪莫爾圓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圓心在原點，半徑 = τ：主拉與主壓等值，方向差 45°</a:t>
            </a:r>
            <a:endParaRPr lang="en-US" sz="2600" dirty="0"/>
          </a:p>
        </p:txBody>
      </p:sp>
      <p:pic>
        <p:nvPicPr>
          <p:cNvPr id="4" name="Image 0" descr="fig03_moh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603504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主應力通式</a:t>
            </a:r>
            <a:endParaRPr lang="en-US" sz="1400" dirty="0"/>
          </a:p>
        </p:txBody>
      </p:sp>
      <p:pic>
        <p:nvPicPr>
          <p:cNvPr id="8" name="Image 1" descr="m_mohr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94553"/>
            <a:ext cx="3308299" cy="52669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20840" y="5349240"/>
            <a:ext cx="489204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03720" y="54406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代入純剪</a:t>
            </a:r>
            <a:endParaRPr lang="en-US" sz="1400" dirty="0"/>
          </a:p>
        </p:txBody>
      </p:sp>
      <p:pic>
        <p:nvPicPr>
          <p:cNvPr id="11" name="Image 2" descr="m_p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3720" y="5909767"/>
            <a:ext cx="4018788" cy="2962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底層物理 ③ · 裂縫長什麼樣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裂縫垂直主拉方向：支承附近斜 45°，跨中垂直</a:t>
            </a:r>
            <a:endParaRPr lang="en-US" sz="2600" dirty="0"/>
          </a:p>
        </p:txBody>
      </p:sp>
      <p:pic>
        <p:nvPicPr>
          <p:cNvPr id="4" name="Image 0" descr="fig04_crack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腹剪裂縫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腹板中段先裂，典型出現在短剪跨、薄腹板（如 I 形、預力梁）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撓剪裂縫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先有撓曲垂直裂縫，再往上彎成斜裂縫：一般 RC 梁最常見的形式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6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底層物理 ④ · 怕拉不怕壓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抗拉只有抗壓的 6.3%，規範開裂剪應力只用 3.2%</a:t>
            </a:r>
            <a:endParaRPr lang="en-US" sz="2600" dirty="0"/>
          </a:p>
        </p:txBody>
      </p:sp>
      <p:pic>
        <p:nvPicPr>
          <p:cNvPr id="4" name="Image 0" descr="fig05_strength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所以題目說「剪力破壞」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請在心裡翻譯成「斜向拉力破壞」：比的是 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，不是 f′c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0.53 為什麼是 1.06 的一半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V/(b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d) 是名目平均值，撓剪交互作用讓裂縫更早出現；規範取試驗資料的下限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 ① ·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基本式從哪來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∝ √f′c →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∝ √f′c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抗拉強度的經驗式（直接抗拉）</a:t>
            </a:r>
            <a:endParaRPr lang="en-US" sz="1400" dirty="0"/>
          </a:p>
        </p:txBody>
      </p:sp>
      <p:pic>
        <p:nvPicPr>
          <p:cNvPr id="6" name="Image 0" descr="m_f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823771"/>
            <a:ext cx="4112057" cy="3758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134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材料試驗：f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正比於 √f′c，不是 f′c 一次方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463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規範開裂剪力（kgf、cm 制）</a:t>
            </a:r>
            <a:endParaRPr lang="en-US" sz="1400" dirty="0"/>
          </a:p>
        </p:txBody>
      </p:sp>
      <p:pic>
        <p:nvPicPr>
          <p:cNvPr id="10" name="Image 1" descr="m_vc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5080" y="1829257"/>
            <a:ext cx="1829714" cy="3648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55080" y="231343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d：腹板寬 × 有效深度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88036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2971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名目剪應力 ≈ 抗拉的一半</a:t>
            </a:r>
            <a:endParaRPr lang="en-US" sz="1400" dirty="0"/>
          </a:p>
        </p:txBody>
      </p:sp>
      <p:pic>
        <p:nvPicPr>
          <p:cNvPr id="14" name="Image 2" descr="m_half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291840"/>
            <a:ext cx="2255363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1520" y="38221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試驗下限 → 偏保守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28803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9718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示範梁</a:t>
            </a:r>
            <a:endParaRPr lang="en-US" sz="1400" dirty="0"/>
          </a:p>
        </p:txBody>
      </p:sp>
      <p:pic>
        <p:nvPicPr>
          <p:cNvPr id="18" name="Image 3" descr="m_vcd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5080" y="3346247"/>
            <a:ext cx="4358945" cy="3483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55080" y="382219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後面每一頁的 V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都從這個 13.30 出發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38912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22960" y="45262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物理連結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剪應力在 45° 方向製造 σ</a:t>
            </a:r>
            <a:pPr indent="0" marL="0">
              <a:spcAft>
                <a:spcPts val="800"/>
              </a:spcAft>
              <a:buNone/>
            </a:pPr>
            <a:r>
              <a:rPr lang="en-US" sz="16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τ → 要擋住的是「拉」 → 抗拉強度跟 √f′c 走 → 所以 V</a:t>
            </a:r>
            <a:pPr indent="0" marL="0">
              <a:spcAft>
                <a:spcPts val="800"/>
              </a:spcAft>
              <a:buNone/>
            </a:pPr>
            <a:r>
              <a:rPr lang="en-US" sz="16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公式裡是 √f′c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考場提醒：√f′c 的單位是 kgf/cm²，代 f′c = 280 得 16.733；SI 制係數不同（0.17√f′c，MPa），別混用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推論 ① · 開根號的代價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f′c 翻倍，V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只多 41%；斷面翻倍，V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直接翻倍</a:t>
            </a:r>
            <a:endParaRPr lang="en-US" sz="2600" dirty="0"/>
          </a:p>
        </p:txBody>
      </p:sp>
      <p:pic>
        <p:nvPicPr>
          <p:cNvPr id="4" name="Image 0" descr="fig06_sqr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解題啟示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題目問「如何提高剪力強度」：加大 b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或 d 最有效，其次加箍筋；提高 f′c 效益最低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附帶效應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加大 d 同時提高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（= 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d/s）與上限 2.12√f′c b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d，一石三鳥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推論 ② · 軸力讓莫爾圓平移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拉為正時：軸壓把圓往左推、軸拉把圓往右推</a:t>
            </a:r>
            <a:endParaRPr lang="en-US" sz="2600" dirty="0"/>
          </a:p>
        </p:txBody>
      </p:sp>
      <p:pic>
        <p:nvPicPr>
          <p:cNvPr id="4" name="Image 0" descr="fig07_axial_moh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中性軸處（σ = N/A</a:t>
            </a:r>
            <a:pPr indent="0" marL="0">
              <a:buNone/>
            </a:pPr>
            <a:r>
              <a:rPr lang="en-US" sz="14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，τ 不變）</a:t>
            </a:r>
            <a:endParaRPr lang="en-US" sz="1400" dirty="0"/>
          </a:p>
        </p:txBody>
      </p:sp>
      <p:pic>
        <p:nvPicPr>
          <p:cNvPr id="8" name="Image 1" descr="m_axia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24728"/>
            <a:ext cx="2054657" cy="4663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40680" y="5349240"/>
            <a:ext cx="6172200" cy="10972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23560" y="5422392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方向別記反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以「拉為正」畫圖時，軸壓讓圓心移到負側（左）；若你的教材以壓為正，左右會對調——看的是 σ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變大還是變小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推論 ② · 規範的軸力修正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同樣大小的軸力，拉力的殺傷力是壓力幫助的 4 倍</a:t>
            </a:r>
            <a:endParaRPr lang="en-US" sz="2600" dirty="0"/>
          </a:p>
        </p:txBody>
      </p:sp>
      <p:pic>
        <p:nvPicPr>
          <p:cNvPr id="4" name="Image 0" descr="fig08_axial_facto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軸壓（N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代正值）</a:t>
            </a:r>
            <a:endParaRPr lang="en-US" sz="1400" dirty="0"/>
          </a:p>
        </p:txBody>
      </p:sp>
      <p:pic>
        <p:nvPicPr>
          <p:cNvPr id="8" name="Image 1" descr="m_comp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80837"/>
            <a:ext cx="3058668" cy="55412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534924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54406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軸拉（N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代負值，算出負值取 0）</a:t>
            </a:r>
            <a:endParaRPr lang="en-US" sz="1400" dirty="0"/>
          </a:p>
        </p:txBody>
      </p:sp>
      <p:pic>
        <p:nvPicPr>
          <p:cNvPr id="11" name="Image 2" descr="m_te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5080" y="5780837"/>
            <a:ext cx="3291840" cy="5541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推論 ③ 前置 ·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到底是誰在撐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斜裂縫出現後，混凝土還有四條傳剪路徑</a:t>
            </a:r>
            <a:endParaRPr lang="en-US" sz="2600" dirty="0"/>
          </a:p>
        </p:txBody>
      </p:sp>
      <p:pic>
        <p:nvPicPr>
          <p:cNvPr id="4" name="Image 0" descr="fig09_sourc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6913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87959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規範不分項計算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四項難以分開量測，試驗把它們打包成 0.53√f′c b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 一條式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推論 ③ · 耐震塑鉸區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反覆載重把四個來源一起磨掉：保守地整個不算</a:t>
            </a:r>
            <a:endParaRPr lang="en-US" sz="2600" dirty="0"/>
          </a:p>
        </p:txBody>
      </p:sp>
      <p:pic>
        <p:nvPicPr>
          <p:cNvPr id="4" name="Image 0" descr="fig10_hin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85216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兩條件同時成立才令 V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</a:t>
            </a:r>
            <a:endParaRPr lang="en-US" sz="1400" dirty="0"/>
          </a:p>
        </p:txBody>
      </p:sp>
      <p:pic>
        <p:nvPicPr>
          <p:cNvPr id="8" name="Image 1" descr="m_hin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95924"/>
            <a:ext cx="3206801" cy="52395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37960" y="5349240"/>
            <a:ext cx="507492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20840" y="542239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：地震引致之剪力；P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：含地震的設計軸壓力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範圍：梁自柱面起 2h（柱為 l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範圍）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題目只說「塑鉸區」時，先檢查這兩個條件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推論 ④ ·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是數箍筋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一條 45° 裂縫水平跨 d，間距 s → 穿過 d/s 支箍筋</a:t>
            </a:r>
            <a:endParaRPr lang="en-US" sz="2600" dirty="0"/>
          </a:p>
        </p:txBody>
      </p:sp>
      <p:pic>
        <p:nvPicPr>
          <p:cNvPr id="4" name="Image 0" descr="fig11_v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4572000" cy="109728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箍筋貢獻</a:t>
            </a:r>
            <a:endParaRPr lang="en-US" sz="1400" dirty="0"/>
          </a:p>
        </p:txBody>
      </p:sp>
      <p:pic>
        <p:nvPicPr>
          <p:cNvPr id="8" name="Image 1" descr="m_v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24728"/>
            <a:ext cx="2043684" cy="4663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57800" y="5349240"/>
            <a:ext cx="635508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40680" y="542239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兩個假設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裂縫角 45°（水平投影 = d）；穿越裂縫的箍筋全部降伏（f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yt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示範：D13 雙肢、s = 15 → V</a:t>
            </a:r>
            <a:pPr indent="0" marL="0">
              <a:spcAft>
                <a:spcPts val="300"/>
              </a:spcAft>
              <a:buNone/>
            </a:pPr>
            <a:r>
              <a:rPr lang="en-US" sz="13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35.48 tf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推論 ④ · 上限天花板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箍筋加太多，斜壓桿會先壓碎：這是「抗壓的故事」</a:t>
            </a:r>
            <a:endParaRPr lang="en-US" sz="2600" dirty="0"/>
          </a:p>
        </p:txBody>
      </p:sp>
      <p:pic>
        <p:nvPicPr>
          <p:cNvPr id="4" name="Image 0" descr="fig12_limi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85216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上限</a:t>
            </a:r>
            <a:endParaRPr lang="en-US" sz="1400" dirty="0"/>
          </a:p>
        </p:txBody>
      </p:sp>
      <p:pic>
        <p:nvPicPr>
          <p:cNvPr id="8" name="Image 1" descr="m_vsmax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69991"/>
            <a:ext cx="3615538" cy="37581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37960" y="5349240"/>
            <a:ext cx="507492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20840" y="54406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等價的設計剪力上限</a:t>
            </a:r>
            <a:endParaRPr lang="en-US" sz="1400" dirty="0"/>
          </a:p>
        </p:txBody>
      </p:sp>
      <p:pic>
        <p:nvPicPr>
          <p:cNvPr id="11" name="Image 2" descr="m_vumax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0840" y="5869991"/>
            <a:ext cx="3162910" cy="3758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 ② · 把分工寫成設計式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抗拉、V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縫裂、上限防壓碎、s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保證穿到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強度需求</a:t>
            </a:r>
            <a:endParaRPr lang="en-US" sz="1400" dirty="0"/>
          </a:p>
        </p:txBody>
      </p:sp>
      <p:pic>
        <p:nvPicPr>
          <p:cNvPr id="6" name="Image 0" descr="m_vu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866290"/>
            <a:ext cx="2084832" cy="29077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134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0.75（剪力）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463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箍筋貢獻</a:t>
            </a:r>
            <a:endParaRPr lang="en-US" sz="1400" dirty="0"/>
          </a:p>
        </p:txBody>
      </p:sp>
      <p:pic>
        <p:nvPicPr>
          <p:cNvPr id="10" name="Image 1" descr="m_v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5080" y="1783080"/>
            <a:ext cx="2003612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55080" y="231343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數出來的：n = d/s 支 × A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88036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2971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斜壓桿上限</a:t>
            </a:r>
            <a:endParaRPr lang="en-US" sz="1400" dirty="0"/>
          </a:p>
        </p:txBody>
      </p:sp>
      <p:pic>
        <p:nvPicPr>
          <p:cNvPr id="14" name="Image 2" descr="m_vsmax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332531"/>
            <a:ext cx="3615538" cy="3758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1520" y="38221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 → 加大斷面，不是加箍筋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28803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9718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間距上限</a:t>
            </a:r>
            <a:endParaRPr lang="en-US" sz="1400" dirty="0"/>
          </a:p>
        </p:txBody>
      </p:sp>
      <p:pic>
        <p:nvPicPr>
          <p:cNvPr id="18" name="Image 3" descr="m_smax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5080" y="3294126"/>
            <a:ext cx="3431743" cy="4526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55080" y="382219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另有 60 cm／30 cm 絕對上限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38912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7724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2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開裂瞬間混凝土抗拉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看的參數：√f′c、軸力、塑鉸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270248" y="438912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6D4BC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498848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2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4498848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開裂後箍筋縫住裂縫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4498848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看的參數：A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、f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yt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、d/s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991856" y="438912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220456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</a:t>
            </a:r>
            <a:endParaRPr lang="en-US" sz="2200" dirty="0"/>
          </a:p>
        </p:txBody>
      </p:sp>
      <p:sp>
        <p:nvSpPr>
          <p:cNvPr id="30" name="Text 24"/>
          <p:cNvSpPr txBox="1"/>
          <p:nvPr/>
        </p:nvSpPr>
        <p:spPr>
          <a:xfrm>
            <a:off x="8220456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斜壓桿不可先壓碎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8220456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看的參數：2.12√f′c b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的第二張臉 · 精算式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縱筋多、剪力相對彎矩大 → 可以多算一點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2600" dirty="0"/>
          </a:p>
        </p:txBody>
      </p:sp>
      <p:pic>
        <p:nvPicPr>
          <p:cNvPr id="4" name="Image 0" descr="fig15_detai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9878"/>
            <a:ext cx="11064240" cy="3872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6949440" cy="10972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精算式（V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d/M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1.0）</a:t>
            </a:r>
            <a:endParaRPr lang="en-US" sz="1400" dirty="0"/>
          </a:p>
        </p:txBody>
      </p:sp>
      <p:pic>
        <p:nvPicPr>
          <p:cNvPr id="8" name="Image 1" descr="m_det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98668"/>
            <a:ext cx="4745736" cy="51846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35240" y="534924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4406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示範梁（kgf ÷ 1000 → tf）</a:t>
            </a:r>
            <a:endParaRPr lang="en-US" sz="1400" dirty="0"/>
          </a:p>
        </p:txBody>
      </p:sp>
      <p:pic>
        <p:nvPicPr>
          <p:cNvPr id="11" name="Image 2" descr="m_detd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8120" y="5912510"/>
            <a:ext cx="2427732" cy="2907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考場選式 ·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的四張臉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由上而下三個問題，決定用哪一條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2600" dirty="0"/>
          </a:p>
        </p:txBody>
      </p:sp>
      <p:pic>
        <p:nvPicPr>
          <p:cNvPr id="4" name="Image 0" descr="fig13_fl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6913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87959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判斷順序有道理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塑鉸（直接歸零）最優先；軸力改變主拉應力其次；最後才看要不要精算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 · 同一根梁的五個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條件一變，V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可以差到 0 ～ 18.58 tf</a:t>
            </a:r>
            <a:endParaRPr lang="en-US" sz="2600" dirty="0"/>
          </a:p>
        </p:txBody>
      </p:sp>
      <p:pic>
        <p:nvPicPr>
          <p:cNvPr id="4" name="Image 0" descr="fig14_fac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56360"/>
            <a:ext cx="11064240" cy="3688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212080"/>
            <a:ext cx="3596640" cy="1234440"/>
          </a:xfrm>
          <a:prstGeom prst="roundRect">
            <a:avLst>
              <a:gd name="adj" fmla="val 888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285232"/>
            <a:ext cx="32766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軸拉 30 tf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從 13.30 砍到 6.97：少掉 47.6%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212080"/>
            <a:ext cx="3596640" cy="123444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285232"/>
            <a:ext cx="32766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 100 tf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增為 18.58：+39.7%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212080"/>
            <a:ext cx="3596640" cy="1234440"/>
          </a:xfrm>
          <a:prstGeom prst="roundRect">
            <a:avLst>
              <a:gd name="adj" fmla="val 888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285232"/>
            <a:ext cx="32766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精算式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15.19（+14.2%），上限 23.34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串起來 ·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落在哪一區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 φV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在數線上的位置就決定了箍筋怎麼配</a:t>
            </a:r>
            <a:endParaRPr lang="en-US" sz="2600" dirty="0"/>
          </a:p>
        </p:txBody>
      </p:sp>
      <p:pic>
        <p:nvPicPr>
          <p:cNvPr id="4" name="Image 0" descr="fig16_zon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47038"/>
            <a:ext cx="11064240" cy="38724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50992"/>
            <a:ext cx="10744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 V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40 tf 的四步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φV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9.98 ②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s,req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40.03 ≤ 53.21 ✓ ③ &gt; 26.61 → s ≤ d/4 ④ s = 12.5，φV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41.91 ≥ 40 ✓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考場速查 · 讀題 → 選式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看到關鍵字，直接鎖定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的那一張臉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661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題目情境／關鍵字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採用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計算注意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一般梁，無軸力、未要求精算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0.53√f′c b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最常用；偏保守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給了 ρ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、V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、M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或要求精算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(0.50√f′c + 176 ρ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V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d/M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 b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d/M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1；≤ 0.93√f′c b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柱或梁受軸壓 N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0.53(1 + N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/140A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)√f′c b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代正值；A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用全斷面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構材受軸拉 N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0.53(1 + N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/35A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)√f′c b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代負值；負值取 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B1E14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特殊抗彎矩構架塑鉸區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兩條件同時成立：V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≥ 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/2、P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&lt; 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f′c/20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任何情況的上限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2.12√f′c b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用基本式的 4 倍，不是修正後 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的 4 倍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表中 kgf、cm 制；φ = 0.75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六個最常掉分的地方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「V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4V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」的 V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是基本式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上限寫死 2.12√f′c b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d。軸拉 30 tf 時若拿 4 × 6.97 = 27.87，會把上限低估一半（正解 53.21）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70248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1416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軸拉 N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要代負號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拉力代負值、壓力代正值；算出倍率小於 0 時取 0，不是負的 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91856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93024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塑鉸區 V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 有條件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地震剪力 ≥ 一半 且 軸壓 &lt; A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f′c/20，兩條件同時成立才歸零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精算式的兩個上限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d/M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超過 1 取 1；結果不得大於 0.93√f′c b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0248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、d 不是 b、h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都用腹板寬 b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與有效深度 d；軸力修正才用全斷面 A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1856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3024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超過上限別加箍筋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&gt; φ(2.65√f′c b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d) 時，箍筋再多也沒用：斜壓桿先碎 → 加大斷面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重點回顧：一句話推出四件事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30352" cy="530352"/>
          </a:xfrm>
          <a:prstGeom prst="ellipse">
            <a:avLst/>
          </a:prstGeom>
          <a:solidFill>
            <a:srgbClr val="A58BE6"/>
          </a:solidFill>
          <a:ln w="12700">
            <a:solidFill>
              <a:srgbClr val="A58B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底層：剪應力 τ 在 45° 方向就是主拉 σ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τ；超過 f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就斜向拉裂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30352" cy="530352"/>
          </a:xfrm>
          <a:prstGeom prst="ellipse">
            <a:avLst/>
          </a:prstGeom>
          <a:solidFill>
            <a:srgbClr val="7FC8B4"/>
          </a:solidFill>
          <a:ln w="12700">
            <a:solidFill>
              <a:srgbClr val="7FC8B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∝ √f′c → V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0.53√f′c b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d；剪力不足先加大斷面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30352" cy="530352"/>
          </a:xfrm>
          <a:prstGeom prst="ellipse">
            <a:avLst/>
          </a:prstGeom>
          <a:solidFill>
            <a:srgbClr val="8FA8F0"/>
          </a:solidFill>
          <a:ln w="12700">
            <a:solidFill>
              <a:srgbClr val="8FA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0040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軸力平移莫爾圓：壓幫忙（÷140）、拉殺傷（÷35），同樣大小差 4 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30352" cy="530352"/>
          </a:xfrm>
          <a:prstGeom prst="ellipse">
            <a:avLst/>
          </a:prstGeom>
          <a:solidFill>
            <a:srgbClr val="F08A7E"/>
          </a:solidFill>
          <a:ln w="12700">
            <a:solidFill>
              <a:srgbClr val="F08A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塑鉸區反覆載重磨掉 V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的四個來源 → 兩條件成立時 V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530352" cy="53035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463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抗拉、V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數箍筋（d/s 支）、上限 2.12√f′c b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 防斜壓桿壓碎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下一步：拼圖二——拿含軸力修正或精算式的歷屆考題，按「選式 → V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上限 → s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」四關代數字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RC-U2-1 拼圖一：剪力破壞的底層邏輯</dc:title>
  <dc:subject>PptxGenJS Presentation</dc:subject>
  <dc:creator>PptxGenJS</dc:creator>
  <cp:lastModifiedBy>PptxGenJS</cp:lastModifiedBy>
  <cp:revision>1</cp:revision>
  <dcterms:created xsi:type="dcterms:W3CDTF">2026-09-25T12:11:12Z</dcterms:created>
  <dcterms:modified xsi:type="dcterms:W3CDTF">2026-09-25T12:11:12Z</dcterms:modified>
</cp:coreProperties>
</file>